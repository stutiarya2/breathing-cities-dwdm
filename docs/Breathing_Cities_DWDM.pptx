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65" r:id="rId16"/>
    <p:sldId id="258" r:id="rId4"/>
    <p:sldId id="259" r:id="rId5"/>
    <p:sldId id="260" r:id="rId6"/>
    <p:sldId id="261" r:id="rId7"/>
    <p:sldId id="266" r:id="rId17"/>
    <p:sldId id="262" r:id="rId8"/>
    <p:sldId id="263" r:id="rId9"/>
    <p:sldId id="264" r:id="rId10"/>
    <p:sldId id="267" r:id="rId18"/>
    <p:sldId id="268" r:id="rId19"/>
    <p:sldId id="269" r:id="rId20"/>
    <p:sldId id="270" r:id="rId21"/>
    <p:sldId id="271" r:id="rId22"/>
    <p:sldId id="272" r:id="rId23"/>
    <p:sldId id="273" r:id="rId24"/>
    <p:sldId id="274" r:id="rId25"/>
    <p:sldId id="275"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F48784BA-7B9E-06E5-4CCF-344A2382D4BF}">
          <p14:sldIdLst>
            <p14:sldId id="256"/>
          </p14:sldIdLst>
        </p14:section>
        <p14:section name="Dataset" id="{D79C840E-7269-8AC5-760E-9549C956F552}">
          <p14:sldIdLst>
            <p14:sldId id="257"/>
            <p14:sldId id="258"/>
          </p14:sldIdLst>
        </p14:section>
        <p14:section name="Warehouse" id="{75777074-7AA5-E516-5AE2-16BB8DF60707}">
          <p14:sldIdLst>
            <p14:sldId id="259"/>
            <p14:sldId id="260"/>
          </p14:sldIdLst>
        </p14:section>
        <p14:section name="OLAP" id="{667E24A1-C8BB-2EE4-BD18-DA14152A87F5}">
          <p14:sldIdLst>
            <p14:sldId id="261"/>
          </p14:sldIdLst>
        </p14:section>
        <p14:section name="Code" id="{01E6FDEA-CB28-48CA-68DF-EDB7E400CD34}">
          <p14:sldIdLst>
            <p14:sldId id="262"/>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4" d="100"/>
          <a:sy n="74" d="100"/>
        </p:scale>
        <p:origin x="352"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0.xml"/><Relationship Id="rId10" Type="http://schemas.openxmlformats.org/officeDocument/2006/relationships/slide" Target="slides/slide11.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3.xml"/><Relationship Id="rId17" Type="http://schemas.openxmlformats.org/officeDocument/2006/relationships/slide" Target="slides/slide8.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t>Test 2019–20: F1 and accuracy on change days</a:t>
            </a:r>
          </a:p>
        </c:rich>
      </c:tx>
      <c:layout/>
      <c:overlay val="0"/>
    </c:title>
    <c:autoTitleDeleted val="0"/>
    <c:plotArea>
      <c:barChart>
        <c:barDir val="col"/>
        <c:grouping val="clustered"/>
        <c:ser>
          <c:idx val="0"/>
          <c:order val="0"/>
          <c:tx>
            <c:strRef>
              <c:f>Sheet1!$B$1</c:f>
              <c:strCache>
                <c:ptCount val="1"/>
                <c:pt idx="0">
                  <c:v>F1 score</c:v>
                </c:pt>
              </c:strCache>
            </c:strRef>
          </c:tx>
          <c:spPr>
            <a:solidFill>
              <a:srgbClr val="111111"/>
            </a:solidFill>
            <a:ln>
              <a:solidFill>
                <a:srgbClr val="111111"/>
              </a:solidFill>
            </a:ln>
          </c:spPr>
          <c:invertIfNegative val="0"/>
          <c:cat>
            <c:strRef>
              <c:f>Sheet1!$A$2:$A$5</c:f>
              <c:strCache>
                <c:ptCount val="4"/>
                <c:pt idx="0">
                  <c:v>Persistence</c:v>
                </c:pt>
                <c:pt idx="1">
                  <c:v>Decision Tree</c:v>
                </c:pt>
                <c:pt idx="2">
                  <c:v>Random Forest</c:v>
                </c:pt>
                <c:pt idx="3">
                  <c:v>RF + weather</c:v>
                </c:pt>
              </c:strCache>
            </c:strRef>
          </c:cat>
          <c:val>
            <c:numRef>
              <c:f>Sheet1!$B$2:$B$5</c:f>
              <c:numCache>
                <c:formatCode>General</c:formatCode>
                <c:ptCount val="4"/>
                <c:pt idx="0">
                  <c:v>0.783</c:v>
                </c:pt>
                <c:pt idx="1">
                  <c:v>0.807</c:v>
                </c:pt>
                <c:pt idx="2">
                  <c:v>0.834</c:v>
                </c:pt>
                <c:pt idx="3">
                  <c:v>0.834</c:v>
                </c:pt>
              </c:numCache>
            </c:numRef>
          </c:val>
        </c:ser>
        <c:ser>
          <c:idx val="1"/>
          <c:order val="1"/>
          <c:tx>
            <c:strRef>
              <c:f>Sheet1!$C$1</c:f>
              <c:strCache>
                <c:ptCount val="1"/>
                <c:pt idx="0">
                  <c:v>Accuracy on days the status changes</c:v>
                </c:pt>
              </c:strCache>
            </c:strRef>
          </c:tx>
          <c:spPr>
            <a:solidFill>
              <a:srgbClr val="BFBFBF"/>
            </a:solidFill>
            <a:ln>
              <a:solidFill>
                <a:srgbClr val="BFBFBF"/>
              </a:solidFill>
            </a:ln>
          </c:spPr>
          <c:invertIfNegative val="0"/>
          <c:cat>
            <c:strRef>
              <c:f>Sheet1!$A$2:$A$5</c:f>
              <c:strCache>
                <c:ptCount val="4"/>
                <c:pt idx="0">
                  <c:v>Persistence</c:v>
                </c:pt>
                <c:pt idx="1">
                  <c:v>Decision Tree</c:v>
                </c:pt>
                <c:pt idx="2">
                  <c:v>Random Forest</c:v>
                </c:pt>
                <c:pt idx="3">
                  <c:v>RF + weather</c:v>
                </c:pt>
              </c:strCache>
            </c:strRef>
          </c:cat>
          <c:val>
            <c:numRef>
              <c:f>Sheet1!$C$2:$C$5</c:f>
              <c:numCache>
                <c:formatCode>General</c:formatCode>
                <c:ptCount val="4"/>
                <c:pt idx="0">
                  <c:v>0.0</c:v>
                </c:pt>
                <c:pt idx="1">
                  <c:v>0.278</c:v>
                </c:pt>
                <c:pt idx="2">
                  <c:v>0.353</c:v>
                </c:pt>
                <c:pt idx="3">
                  <c:v>0.35</c:v>
                </c:pt>
              </c:numCache>
            </c:numRef>
          </c:val>
        </c:ser>
        <c:dLbls>
          <c:numFmt formatCode="0.00" sourceLinked="0"/>
          <c:txPr>
            <a:bodyPr/>
            <a:lstStyle/>
            <a:p>
              <a:pPr>
                <a:defRPr sz="1000"/>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low"/>
        <c:spPr>
          <a:ln>
            <a:solidFill>
              <a:srgbClr val="BFBFBF"/>
            </a:solidFill>
          </a:ln>
        </c:spPr>
        <c:crossAx val="-2113994440"/>
        <c:crosses val="autoZero"/>
        <c:auto val="1"/>
        <c:lblAlgn val="ctr"/>
        <c:lblOffset val="100"/>
        <c:noMultiLvlLbl val="0"/>
      </c:catAx>
      <c:valAx>
        <c:axId val="-2113994440"/>
        <c:scaling/>
        <c:delete val="0"/>
        <c:axPos val="l"/>
        <c:majorGridlines>
          <c:spPr>
            <a:ln>
              <a:solidFill>
                <a:srgbClr val="E0E0E0"/>
              </a:solidFill>
            </a:ln>
          </c:spPr>
        </c:majorGridlines>
        <c:numFmt formatCode="0.0" sourceLinked="0"/>
        <c:majorTickMark val="out"/>
        <c:minorTickMark val="none"/>
        <c:tickLblPos val="nextTo"/>
        <c:spPr>
          <a:ln>
            <a:noFill/>
          </a:ln>
        </c:spPr>
        <c:crossAx val="-2068027336"/>
        <c:crosses val="autoZero"/>
      </c:valAx>
    </c:plotArea>
    <c:legend>
      <c:legendPos val="b"/>
      <c:overlay val="0"/>
      <c:txPr>
        <a:bodyPr/>
        <a:lstStyle/>
        <a:p>
          <a:pPr>
            <a:defRPr sz="1100"/>
          </a:pPr>
        </a:p>
      </c:txPr>
    </c:legend>
    <c:dispBlanksAs val="gap"/>
  </c:chart>
  <c:txPr>
    <a:bodyPr/>
    <a:lstStyle/>
    <a:p>
      <a:pPr>
        <a:defRPr sz="1100">
          <a:solidFill>
            <a:srgbClr val="333333"/>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t>SHAP: what drives the prediction</a:t>
            </a:r>
          </a:p>
        </c:rich>
      </c:tx>
      <c:layout/>
      <c:overlay val="0"/>
    </c:title>
    <c:autoTitleDeleted val="0"/>
    <c:plotArea>
      <c:barChart>
        <c:barDir val="bar"/>
        <c:grouping val="clustered"/>
        <c:ser>
          <c:idx val="0"/>
          <c:order val="0"/>
          <c:tx>
            <c:strRef>
              <c:f>Sheet1!$B$1</c:f>
              <c:strCache>
                <c:ptCount val="1"/>
                <c:pt idx="0">
                  <c:v>Mean |SHAP|</c:v>
                </c:pt>
              </c:strCache>
            </c:strRef>
          </c:tx>
          <c:spPr>
            <a:solidFill>
              <a:srgbClr val="333333"/>
            </a:solidFill>
            <a:ln>
              <a:solidFill>
                <a:srgbClr val="333333"/>
              </a:solidFill>
            </a:ln>
          </c:spPr>
          <c:invertIfNegative val="0"/>
          <c:cat>
            <c:strRef>
              <c:f>Sheet1!$A$2:$A$9</c:f>
              <c:strCache>
                <c:ptCount val="8"/>
                <c:pt idx="0">
                  <c:v>Rain today</c:v>
                </c:pt>
                <c:pt idx="1">
                  <c:v>NOx</c:v>
                </c:pt>
                <c:pt idx="2">
                  <c:v>North region</c:v>
                </c:pt>
                <c:pt idx="3">
                  <c:v>CO</c:v>
                </c:pt>
                <c:pt idx="4">
                  <c:v>PM10</c:v>
                </c:pt>
                <c:pt idx="5">
                  <c:v>3-day mean AQI</c:v>
                </c:pt>
                <c:pt idx="6">
                  <c:v>Today's PM2.5</c:v>
                </c:pt>
                <c:pt idx="7">
                  <c:v>Today's AQI</c:v>
                </c:pt>
              </c:strCache>
            </c:strRef>
          </c:cat>
          <c:val>
            <c:numRef>
              <c:f>Sheet1!$B$2:$B$9</c:f>
              <c:numCache>
                <c:formatCode>General</c:formatCode>
                <c:ptCount val="8"/>
                <c:pt idx="0">
                  <c:v>0.011</c:v>
                </c:pt>
                <c:pt idx="1">
                  <c:v>0.013</c:v>
                </c:pt>
                <c:pt idx="2">
                  <c:v>0.015</c:v>
                </c:pt>
                <c:pt idx="3">
                  <c:v>0.017</c:v>
                </c:pt>
                <c:pt idx="4">
                  <c:v>0.036</c:v>
                </c:pt>
                <c:pt idx="5">
                  <c:v>0.101</c:v>
                </c:pt>
                <c:pt idx="6">
                  <c:v>0.114</c:v>
                </c:pt>
                <c:pt idx="7">
                  <c:v>0.142</c:v>
                </c:pt>
              </c:numCache>
            </c:numRef>
          </c:val>
        </c:ser>
        <c:dLbls>
          <c:numFmt formatCode="0.000" sourceLinked="0"/>
          <c:txPr>
            <a:bodyPr/>
            <a:lstStyle/>
            <a:p>
              <a:pPr>
                <a:defRPr sz="1000"/>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l"/>
        <c:majorTickMark val="out"/>
        <c:minorTickMark val="none"/>
        <c:tickLblPos val="low"/>
        <c:spPr>
          <a:ln>
            <a:solidFill>
              <a:srgbClr val="BFBFBF"/>
            </a:solidFill>
          </a:ln>
        </c:spPr>
        <c:crossAx val="-2113994440"/>
        <c:crosses val="autoZero"/>
        <c:auto val="1"/>
        <c:lblAlgn val="ctr"/>
        <c:lblOffset val="100"/>
        <c:noMultiLvlLbl val="0"/>
      </c:catAx>
      <c:valAx>
        <c:axId val="-2113994440"/>
        <c:scaling/>
        <c:delete val="0"/>
        <c:axPos val="b"/>
        <c:majorGridlines>
          <c:spPr>
            <a:ln>
              <a:solidFill>
                <a:srgbClr val="E0E0E0"/>
              </a:solidFill>
            </a:ln>
          </c:spPr>
        </c:majorGridlines>
        <c:numFmt formatCode="0.00" sourceLinked="0"/>
        <c:majorTickMark val="out"/>
        <c:minorTickMark val="none"/>
        <c:tickLblPos val="nextTo"/>
        <c:spPr>
          <a:ln>
            <a:noFill/>
          </a:ln>
        </c:spPr>
        <c:crossAx val="-2068027336"/>
        <c:crosses val="autoZero"/>
      </c:valAx>
    </c:plotArea>
    <c:dispBlanksAs val="gap"/>
  </c:chart>
  <c:txPr>
    <a:bodyPr/>
    <a:lstStyle/>
    <a:p>
      <a:pPr>
        <a:defRPr sz="1100">
          <a:solidFill>
            <a:srgbClr val="333333"/>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title>
      <c:tx>
        <c:rich>
          <a:bodyPr/>
          <a:lstStyle/>
          <a:p>
            <a:r>
              <a:rPr sz="1300" b="1"/>
              <a:t>K-Means (k = 3) on 26 cities, shown in PCA space</a:t>
            </a:r>
          </a:p>
        </c:rich>
      </c:tx>
      <c:layout/>
      <c:overlay val="0"/>
    </c:title>
    <c:plotArea>
      <c:scatterChart>
        <c:scatterStyle val="lineMarker"/>
        <c:varyColors val="0"/>
        <c:ser>
          <c:idx val="0"/>
          <c:order val="0"/>
          <c:tx>
            <c:strRef>
              <c:f>Sheet1!$B$1</c:f>
              <c:strCache>
                <c:ptCount val="1"/>
                <c:pt idx="0">
                  <c:v>Smog belt</c:v>
                </c:pt>
              </c:strCache>
            </c:strRef>
          </c:tx>
          <c:spPr>
            <a:ln w="47625">
              <a:noFill/>
            </a:ln>
          </c:spPr>
          <c:marker>
            <c:symbol val="circle"/>
            <c:size val="9"/>
            <c:spPr>
              <a:solidFill>
                <a:srgbClr val="111111"/>
              </a:solidFill>
              <a:ln>
                <a:solidFill>
                  <a:srgbClr val="333333"/>
                </a:solidFill>
              </a:ln>
            </c:spPr>
          </c:marker>
          <c:dLbls>
            <c:dLbl>
              <c:idx val="0"/>
              <c:tx>
                <c:rich>
                  <a:bodyPr/>
                  <a:lstStyle/>
                  <a:p>
                    <a:r>
                      <a:rPr sz="800"/>
                      <a:t>Delhi</a:t>
                    </a:r>
                  </a:p>
                </c:rich>
              </c:tx>
              <c:dLblPos val="r"/>
              <c:showLegendKey val="0"/>
              <c:showVal val="1"/>
              <c:showCatName val="0"/>
              <c:showSerName val="0"/>
              <c:showPercent val="0"/>
              <c:showBubbleSize val="0"/>
            </c:dLbl>
            <c:dLbl>
              <c:idx val="1"/>
              <c:tx>
                <c:rich>
                  <a:bodyPr/>
                  <a:lstStyle/>
                  <a:p>
                    <a:r>
                      <a:rPr sz="800"/>
                      <a:t>Gurugram</a:t>
                    </a:r>
                  </a:p>
                </c:rich>
              </c:tx>
              <c:dLblPos val="r"/>
              <c:showLegendKey val="0"/>
              <c:showVal val="1"/>
              <c:showCatName val="0"/>
              <c:showSerName val="0"/>
              <c:showPercent val="0"/>
              <c:showBubbleSize val="0"/>
            </c:dLbl>
            <c:dLbl>
              <c:idx val="2"/>
              <c:tx>
                <c:rich>
                  <a:bodyPr/>
                  <a:lstStyle/>
                  <a:p>
                    <a:r>
                      <a:rPr sz="800"/>
                      <a:t>Lucknow</a:t>
                    </a:r>
                  </a:p>
                </c:rich>
              </c:tx>
              <c:dLblPos val="r"/>
              <c:showLegendKey val="0"/>
              <c:showVal val="1"/>
              <c:showCatName val="0"/>
              <c:showSerName val="0"/>
              <c:showPercent val="0"/>
              <c:showBubbleSize val="0"/>
            </c:dLbl>
            <c:dLbl>
              <c:idx val="3"/>
              <c:tx>
                <c:rich>
                  <a:bodyPr/>
                  <a:lstStyle/>
                  <a:p>
                    <a:r>
                      <a:rPr sz="800"/>
                      <a:t>Patna</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Sheet1!$A$2:$A$5</c:f>
              <c:numCache>
                <c:formatCode>General</c:formatCode>
                <c:ptCount val="4"/>
                <c:pt idx="0">
                  <c:v>5.669</c:v>
                </c:pt>
                <c:pt idx="1">
                  <c:v>2.652</c:v>
                </c:pt>
                <c:pt idx="2">
                  <c:v>2.447</c:v>
                </c:pt>
                <c:pt idx="3">
                  <c:v>2.512</c:v>
                </c:pt>
              </c:numCache>
            </c:numRef>
          </c:xVal>
          <c:yVal>
            <c:numRef>
              <c:f>Sheet1!$B$2:$B$5</c:f>
              <c:numCache>
                <c:formatCode>General</c:formatCode>
                <c:ptCount val="4"/>
                <c:pt idx="0">
                  <c:v>-0.106</c:v>
                </c:pt>
                <c:pt idx="1">
                  <c:v>-0.624</c:v>
                </c:pt>
                <c:pt idx="2">
                  <c:v>-0.541</c:v>
                </c:pt>
                <c:pt idx="3">
                  <c:v>1.013</c:v>
                </c:pt>
              </c:numCache>
            </c:numRef>
          </c:yVal>
          <c:smooth val="0"/>
        </c:ser>
        <c:ser>
          <c:idx val="1"/>
          <c:order val="1"/>
          <c:tx>
            <c:strRef>
              <c:f>Sheet1!$B$7</c:f>
              <c:strCache>
                <c:ptCount val="1"/>
                <c:pt idx="0">
                  <c:v>Moderate urban</c:v>
                </c:pt>
              </c:strCache>
            </c:strRef>
          </c:tx>
          <c:spPr>
            <a:ln w="47625">
              <a:noFill/>
            </a:ln>
          </c:spPr>
          <c:marker>
            <c:symbol val="circle"/>
            <c:size val="9"/>
            <c:spPr>
              <a:solidFill>
                <a:srgbClr val="737373"/>
              </a:solidFill>
              <a:ln>
                <a:solidFill>
                  <a:srgbClr val="333333"/>
                </a:solidFill>
              </a:ln>
            </c:spPr>
          </c:marker>
          <c:dLbls>
            <c:dLbl>
              <c:idx val="0"/>
              <c:tx>
                <c:rich>
                  <a:bodyPr/>
                  <a:lstStyle/>
                  <a:p>
                    <a:r>
                      <a:rPr sz="800"/>
                      <a:t>Ahmedabad</a:t>
                    </a:r>
                  </a:p>
                </c:rich>
              </c:tx>
              <c:dLblPos val="r"/>
              <c:showLegendKey val="0"/>
              <c:showVal val="1"/>
              <c:showCatName val="0"/>
              <c:showSerName val="0"/>
              <c:showPercent val="0"/>
              <c:showBubbleSize val="0"/>
            </c:dLbl>
            <c:dLbl>
              <c:idx val="3"/>
              <c:tx>
                <c:rich>
                  <a:bodyPr/>
                  <a:lstStyle/>
                  <a:p>
                    <a:r>
                      <a:rPr sz="800"/>
                      <a:t>Bengaluru</a:t>
                    </a:r>
                  </a:p>
                </c:rich>
              </c:tx>
              <c:dLblPos val="r"/>
              <c:showLegendKey val="0"/>
              <c:showVal val="1"/>
              <c:showCatName val="0"/>
              <c:showSerName val="0"/>
              <c:showPercent val="0"/>
              <c:showBubbleSize val="0"/>
            </c:dLbl>
            <c:dLbl>
              <c:idx val="7"/>
              <c:tx>
                <c:rich>
                  <a:bodyPr/>
                  <a:lstStyle/>
                  <a:p>
                    <a:r>
                      <a:rPr sz="800"/>
                      <a:t>Chennai</a:t>
                    </a:r>
                  </a:p>
                </c:rich>
              </c:tx>
              <c:dLblPos val="r"/>
              <c:showLegendKey val="0"/>
              <c:showVal val="1"/>
              <c:showCatName val="0"/>
              <c:showSerName val="0"/>
              <c:showPercent val="0"/>
              <c:showBubbleSize val="0"/>
            </c:dLbl>
            <c:dLbl>
              <c:idx val="9"/>
              <c:tx>
                <c:rich>
                  <a:bodyPr/>
                  <a:lstStyle/>
                  <a:p>
                    <a:r>
                      <a:rPr sz="800"/>
                      <a:t>Hyderabad</a:t>
                    </a:r>
                  </a:p>
                </c:rich>
              </c:tx>
              <c:dLblPos val="r"/>
              <c:showLegendKey val="0"/>
              <c:showVal val="1"/>
              <c:showCatName val="0"/>
              <c:showSerName val="0"/>
              <c:showPercent val="0"/>
              <c:showBubbleSize val="0"/>
            </c:dLbl>
            <c:dLbl>
              <c:idx val="10"/>
              <c:tx>
                <c:rich>
                  <a:bodyPr/>
                  <a:lstStyle/>
                  <a:p>
                    <a:r>
                      <a:rPr sz="800"/>
                      <a:t>Jaipur</a:t>
                    </a:r>
                  </a:p>
                </c:rich>
              </c:tx>
              <c:dLblPos val="r"/>
              <c:showLegendKey val="0"/>
              <c:showVal val="1"/>
              <c:showCatName val="0"/>
              <c:showSerName val="0"/>
              <c:showPercent val="0"/>
              <c:showBubbleSize val="0"/>
            </c:dLbl>
            <c:dLbl>
              <c:idx val="11"/>
              <c:tx>
                <c:rich>
                  <a:bodyPr/>
                  <a:lstStyle/>
                  <a:p>
                    <a:r>
                      <a:rPr sz="800"/>
                      <a:t>Kolkata</a:t>
                    </a:r>
                  </a:p>
                </c:rich>
              </c:tx>
              <c:dLblPos val="r"/>
              <c:showLegendKey val="0"/>
              <c:showVal val="1"/>
              <c:showCatName val="0"/>
              <c:showSerName val="0"/>
              <c:showPercent val="0"/>
              <c:showBubbleSize val="0"/>
            </c:dLbl>
            <c:dLbl>
              <c:idx val="12"/>
              <c:tx>
                <c:rich>
                  <a:bodyPr/>
                  <a:lstStyle/>
                  <a:p>
                    <a:r>
                      <a:rPr sz="800"/>
                      <a:t>Mumbai</a:t>
                    </a:r>
                  </a:p>
                </c:rich>
              </c:tx>
              <c:dLblPos val="r"/>
              <c:showLegendKey val="0"/>
              <c:showVal val="1"/>
              <c:showCatName val="0"/>
              <c:showSerName val="0"/>
              <c:showPercent val="0"/>
              <c:showBubbleSize val="0"/>
            </c:dLbl>
            <c:dLbl>
              <c:idx val="13"/>
              <c:tx>
                <c:rich>
                  <a:bodyPr/>
                  <a:lstStyle/>
                  <a:p>
                    <a:r>
                      <a:rPr sz="800"/>
                      <a:t>Shillong</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Sheet1!$A$8:$A$23</c:f>
              <c:numCache>
                <c:formatCode>General</c:formatCode>
                <c:ptCount val="16"/>
                <c:pt idx="0">
                  <c:v>0.461</c:v>
                </c:pt>
                <c:pt idx="1">
                  <c:v>-0.733</c:v>
                </c:pt>
                <c:pt idx="2">
                  <c:v>-0.743</c:v>
                </c:pt>
                <c:pt idx="3">
                  <c:v>-0.524</c:v>
                </c:pt>
                <c:pt idx="4">
                  <c:v>1.829</c:v>
                </c:pt>
                <c:pt idx="5">
                  <c:v>0.314</c:v>
                </c:pt>
                <c:pt idx="6">
                  <c:v>-0.439</c:v>
                </c:pt>
                <c:pt idx="7">
                  <c:v>-0.337</c:v>
                </c:pt>
                <c:pt idx="8">
                  <c:v>-1.476</c:v>
                </c:pt>
                <c:pt idx="9">
                  <c:v>-0.128</c:v>
                </c:pt>
                <c:pt idx="10">
                  <c:v>1.062</c:v>
                </c:pt>
                <c:pt idx="11">
                  <c:v>0.902</c:v>
                </c:pt>
                <c:pt idx="12">
                  <c:v>-0.283</c:v>
                </c:pt>
                <c:pt idx="13">
                  <c:v>-2.725</c:v>
                </c:pt>
                <c:pt idx="14">
                  <c:v>-1.67</c:v>
                </c:pt>
                <c:pt idx="15">
                  <c:v>0.514</c:v>
                </c:pt>
              </c:numCache>
            </c:numRef>
          </c:xVal>
          <c:yVal>
            <c:numRef>
              <c:f>Sheet1!$B$8:$B$23</c:f>
              <c:numCache>
                <c:formatCode>General</c:formatCode>
                <c:ptCount val="16"/>
                <c:pt idx="0">
                  <c:v>0.716</c:v>
                </c:pt>
                <c:pt idx="1">
                  <c:v>0.36</c:v>
                </c:pt>
                <c:pt idx="2">
                  <c:v>-0.808</c:v>
                </c:pt>
                <c:pt idx="3">
                  <c:v>-1.485</c:v>
                </c:pt>
                <c:pt idx="4">
                  <c:v>-0.267</c:v>
                </c:pt>
                <c:pt idx="5">
                  <c:v>-0.371</c:v>
                </c:pt>
                <c:pt idx="6">
                  <c:v>-0.913</c:v>
                </c:pt>
                <c:pt idx="7">
                  <c:v>-2.397</c:v>
                </c:pt>
                <c:pt idx="8">
                  <c:v>-0.723</c:v>
                </c:pt>
                <c:pt idx="9">
                  <c:v>-0.947</c:v>
                </c:pt>
                <c:pt idx="10">
                  <c:v>-1.378</c:v>
                </c:pt>
                <c:pt idx="11">
                  <c:v>0.595</c:v>
                </c:pt>
                <c:pt idx="12">
                  <c:v>0.449</c:v>
                </c:pt>
                <c:pt idx="13">
                  <c:v>-1.074</c:v>
                </c:pt>
                <c:pt idx="14">
                  <c:v>-0.217</c:v>
                </c:pt>
                <c:pt idx="15">
                  <c:v>-0.487</c:v>
                </c:pt>
              </c:numCache>
            </c:numRef>
          </c:yVal>
          <c:smooth val="0"/>
        </c:ser>
        <c:ser>
          <c:idx val="2"/>
          <c:order val="2"/>
          <c:tx>
            <c:strRef>
              <c:f>Sheet1!$B$25</c:f>
              <c:strCache>
                <c:ptCount val="1"/>
                <c:pt idx="0">
                  <c:v>Low-traffic, SO2-heavy</c:v>
                </c:pt>
              </c:strCache>
            </c:strRef>
          </c:tx>
          <c:spPr>
            <a:ln w="47625">
              <a:noFill/>
            </a:ln>
          </c:spPr>
          <c:marker>
            <c:symbol val="circle"/>
            <c:size val="9"/>
            <c:spPr>
              <a:solidFill>
                <a:srgbClr val="BFBFBF"/>
              </a:solidFill>
              <a:ln>
                <a:solidFill>
                  <a:srgbClr val="333333"/>
                </a:solidFill>
              </a:ln>
            </c:spPr>
          </c:marker>
          <c:dLbls>
            <c:dLbl>
              <c:idx val="0"/>
              <c:tx>
                <c:rich>
                  <a:bodyPr/>
                  <a:lstStyle/>
                  <a:p>
                    <a:r>
                      <a:rPr sz="800"/>
                      <a:t>Aizawl</a:t>
                    </a:r>
                  </a:p>
                </c:rich>
              </c:tx>
              <c:dLblPos val="r"/>
              <c:showLegendKey val="0"/>
              <c:showVal val="1"/>
              <c:showCatName val="0"/>
              <c:showSerName val="0"/>
              <c:showPercent val="0"/>
              <c:showBubbleSize val="0"/>
            </c:dLbl>
            <c:dLbl>
              <c:idx val="1"/>
              <c:tx>
                <c:rich>
                  <a:bodyPr/>
                  <a:lstStyle/>
                  <a:p>
                    <a:r>
                      <a:rPr sz="800"/>
                      <a:t>Ernakulam</a:t>
                    </a:r>
                  </a:p>
                </c:rich>
              </c:tx>
              <c:dLblPos val="r"/>
              <c:showLegendKey val="0"/>
              <c:showVal val="1"/>
              <c:showCatName val="0"/>
              <c:showSerName val="0"/>
              <c:showPercent val="0"/>
              <c:showBubbleSize val="0"/>
            </c:dLbl>
            <c:dLbl>
              <c:idx val="2"/>
              <c:tx>
                <c:rich>
                  <a:bodyPr/>
                  <a:lstStyle/>
                  <a:p>
                    <a:r>
                      <a:rPr sz="800"/>
                      <a:t>Guwahati</a:t>
                    </a:r>
                  </a:p>
                </c:rich>
              </c:tx>
              <c:dLblPos val="r"/>
              <c:showLegendKey val="0"/>
              <c:showVal val="1"/>
              <c:showCatName val="0"/>
              <c:showSerName val="0"/>
              <c:showPercent val="0"/>
              <c:showBubbleSize val="0"/>
            </c:dLbl>
            <c:dLbl>
              <c:idx val="3"/>
              <c:tx>
                <c:rich>
                  <a:bodyPr/>
                  <a:lstStyle/>
                  <a:p>
                    <a:r>
                      <a:rPr sz="800"/>
                      <a:t>Jorapokhar</a:t>
                    </a:r>
                  </a:p>
                </c:rich>
              </c:tx>
              <c:dLblPos val="r"/>
              <c:showLegendKey val="0"/>
              <c:showVal val="1"/>
              <c:showCatName val="0"/>
              <c:showSerName val="0"/>
              <c:showPercent val="0"/>
              <c:showBubbleSize val="0"/>
            </c:dLbl>
            <c:dLbl>
              <c:idx val="4"/>
              <c:tx>
                <c:rich>
                  <a:bodyPr/>
                  <a:lstStyle/>
                  <a:p>
                    <a:r>
                      <a:rPr sz="800"/>
                      <a:t>Kochi</a:t>
                    </a:r>
                  </a:p>
                </c:rich>
              </c:tx>
              <c:dLblPos val="r"/>
              <c:showLegendKey val="0"/>
              <c:showVal val="1"/>
              <c:showCatName val="0"/>
              <c:showSerName val="0"/>
              <c:showPercent val="0"/>
              <c:showBubbleSize val="0"/>
            </c:dLbl>
            <c:dLbl>
              <c:idx val="5"/>
              <c:tx>
                <c:rich>
                  <a:bodyPr/>
                  <a:lstStyle/>
                  <a:p>
                    <a:r>
                      <a:rPr sz="800"/>
                      <a:t>Talcher</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Sheet1!$A$26:$A$31</c:f>
              <c:numCache>
                <c:formatCode>General</c:formatCode>
                <c:ptCount val="6"/>
                <c:pt idx="0">
                  <c:v>-3.653</c:v>
                </c:pt>
                <c:pt idx="1">
                  <c:v>-2.69</c:v>
                </c:pt>
                <c:pt idx="2">
                  <c:v>-0.366</c:v>
                </c:pt>
                <c:pt idx="3">
                  <c:v>0.341</c:v>
                </c:pt>
                <c:pt idx="4">
                  <c:v>-2.917</c:v>
                </c:pt>
                <c:pt idx="5">
                  <c:v>-0.019</c:v>
                </c:pt>
              </c:numCache>
            </c:numRef>
          </c:xVal>
          <c:yVal>
            <c:numRef>
              <c:f>Sheet1!$B$26:$B$31</c:f>
              <c:numCache>
                <c:formatCode>General</c:formatCode>
                <c:ptCount val="6"/>
                <c:pt idx="0">
                  <c:v>-0.018</c:v>
                </c:pt>
                <c:pt idx="1">
                  <c:v>-0.202</c:v>
                </c:pt>
                <c:pt idx="2">
                  <c:v>1.735</c:v>
                </c:pt>
                <c:pt idx="3">
                  <c:v>2.509</c:v>
                </c:pt>
                <c:pt idx="4">
                  <c:v>1.696</c:v>
                </c:pt>
                <c:pt idx="5">
                  <c:v>3.487</c:v>
                </c:pt>
              </c:numCache>
            </c:numRef>
          </c:yVal>
          <c:smooth val="0"/>
        </c:ser>
        <c:axId val="-2128940872"/>
        <c:axId val="-2129643912"/>
      </c:scatterChart>
      <c:valAx>
        <c:axId val="-2128940872"/>
        <c:scaling>
          <c:orientation val="minMax"/>
        </c:scaling>
        <c:delete/>
        <c:axPos val="b"/>
        <c:numFmt formatCode="General" sourceLinked="1"/>
        <c:majorTickMark val="out"/>
        <c:minorTickMark val="none"/>
        <c:tickLblPos val="nextTo"/>
        <c:spPr>
          <a:ln>
            <a:solidFill>
              <a:srgbClr val="BFBFBF"/>
            </a:solidFill>
          </a:ln>
        </c:spPr>
        <c:crossAx val="-2129643912"/>
        <c:crosses val="autoZero"/>
        <c:crossBetween val="midCat"/>
      </c:valAx>
      <c:valAx>
        <c:axId val="-2129643912"/>
        <c:scaling>
          <c:orientation val="minMax"/>
        </c:scaling>
        <c:delete/>
        <c:axPos val="l"/>
        <c:numFmt formatCode="0" sourceLinked="0"/>
        <c:majorTickMark val="out"/>
        <c:minorTickMark val="none"/>
        <c:tickLblPos val="nextTo"/>
        <c:spPr>
          <a:ln>
            <a:noFill/>
          </a:ln>
        </c:spPr>
        <c:crossAx val="-2128940872"/>
        <c:crosses val="autoZero"/>
        <c:crossBetween val="midCat"/>
      </c:valAx>
    </c:plotArea>
    <c:legend>
      <c:legendPos val="b"/>
      <c:layout/>
      <c:overlay val="0"/>
      <c:txPr>
        <a:bodyPr/>
        <a:lstStyle/>
        <a:p>
          <a:pPr>
            <a:defRPr sz="1000"/>
          </a:pPr>
        </a:p>
      </c:txPr>
    </c:legend>
    <c:plotVisOnly val="1"/>
    <c:dispBlanksAs val="gap"/>
    <c:showDLblsOverMax val="0"/>
  </c:chart>
  <c:txPr>
    <a:bodyPr/>
    <a:lstStyle/>
    <a:p>
      <a:pPr>
        <a:defRPr sz="1000">
          <a:solidFill>
            <a:srgbClr val="333333"/>
          </a:solidFil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t>2019 MAPE % (7 cities, ≥ 3 years history)</a:t>
            </a:r>
          </a:p>
        </c:rich>
      </c:tx>
      <c:layout/>
      <c:overlay val="0"/>
    </c:title>
    <c:autoTitleDeleted val="0"/>
    <c:plotArea>
      <c:barChart>
        <c:barDir val="col"/>
        <c:grouping val="clustered"/>
        <c:ser>
          <c:idx val="0"/>
          <c:order val="0"/>
          <c:tx>
            <c:strRef>
              <c:f>Sheet1!$B$1</c:f>
              <c:strCache>
                <c:ptCount val="1"/>
                <c:pt idx="0">
                  <c:v>MAPE %</c:v>
                </c:pt>
              </c:strCache>
            </c:strRef>
          </c:tx>
          <c:spPr>
            <a:solidFill>
              <a:srgbClr val="BFBFBF"/>
            </a:solidFill>
            <a:ln>
              <a:solidFill>
                <a:srgbClr val="BFBFBF"/>
              </a:solidFill>
            </a:ln>
          </c:spPr>
          <c:invertIfNegative val="0"/>
          <c:dPt>
            <c:idx val="3"/>
            <c:spPr>
              <a:solidFill>
                <a:srgbClr val="111111"/>
              </a:solidFill>
            </c:spPr>
          </c:dPt>
          <c:cat>
            <c:strRef>
              <c:f>Sheet1!$A$2:$A$5</c:f>
              <c:strCache>
                <c:ptCount val="4"/>
                <c:pt idx="0">
                  <c:v>Seasonal naive</c:v>
                </c:pt>
                <c:pt idx="1">
                  <c:v>Holt-Winters</c:v>
                </c:pt>
                <c:pt idx="2">
                  <c:v>SARIMA</c:v>
                </c:pt>
                <c:pt idx="3">
                  <c:v>Weather-adjusted</c:v>
                </c:pt>
              </c:strCache>
            </c:strRef>
          </c:cat>
          <c:val>
            <c:numRef>
              <c:f>Sheet1!$B$2:$B$5</c:f>
              <c:numCache>
                <c:formatCode>General</c:formatCode>
                <c:ptCount val="4"/>
                <c:pt idx="0">
                  <c:v>16.8</c:v>
                </c:pt>
                <c:pt idx="1">
                  <c:v>23.9</c:v>
                </c:pt>
                <c:pt idx="2">
                  <c:v>24.2</c:v>
                </c:pt>
                <c:pt idx="3">
                  <c:v>14.2</c:v>
                </c:pt>
              </c:numCache>
            </c:numRef>
          </c:val>
        </c:ser>
        <c:dLbls>
          <c:numFmt formatCode="0.0" sourceLinked="0"/>
          <c:txPr>
            <a:bodyPr/>
            <a:lstStyle/>
            <a:p>
              <a:pPr>
                <a:defRPr sz="10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FBFBF"/>
            </a:solidFill>
          </a:ln>
        </c:spPr>
        <c:crossAx val="-2113994440"/>
        <c:crosses val="autoZero"/>
        <c:auto val="1"/>
        <c:lblAlgn val="ctr"/>
        <c:lblOffset val="100"/>
        <c:noMultiLvlLbl val="0"/>
      </c:catAx>
      <c:valAx>
        <c:axId val="-2113994440"/>
        <c:scaling/>
        <c:delete val="0"/>
        <c:axPos val="l"/>
        <c:majorGridlines>
          <c:spPr>
            <a:ln>
              <a:solidFill>
                <a:srgbClr val="E0E0E0"/>
              </a:solidFill>
            </a:ln>
          </c:spPr>
        </c:majorGridlines>
        <c:numFmt formatCode="0" sourceLinked="0"/>
        <c:majorTickMark val="out"/>
        <c:minorTickMark val="none"/>
        <c:tickLblPos val="nextTo"/>
        <c:spPr>
          <a:ln>
            <a:noFill/>
          </a:ln>
        </c:spPr>
        <c:crossAx val="-2068027336"/>
        <c:crosses val="autoZero"/>
      </c:valAx>
    </c:plotArea>
    <c:dispBlanksAs val="gap"/>
  </c:chart>
  <c:txPr>
    <a:bodyPr/>
    <a:lstStyle/>
    <a:p>
      <a:pPr>
        <a:defRPr sz="1100">
          <a:solidFill>
            <a:srgbClr val="333333"/>
          </a:solidFil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t>Delhi 2019: monthly AQI</a:t>
            </a:r>
          </a:p>
        </c:rich>
      </c:tx>
      <c:layout/>
      <c:overlay val="0"/>
    </c:title>
    <c:autoTitleDeleted val="0"/>
    <c:plotArea>
      <c:lineChart>
        <c:grouping val="standard"/>
        <c:varyColors val="0"/>
        <c:ser>
          <c:idx val="0"/>
          <c:order val="0"/>
          <c:tx>
            <c:strRef>
              <c:f>Sheet1!$B$1</c:f>
              <c:strCache>
                <c:ptCount val="1"/>
                <c:pt idx="0">
                  <c:v>Actual</c:v>
                </c:pt>
              </c:strCache>
            </c:strRef>
          </c:tx>
          <c:spPr>
            <a:ln w="31750">
              <a:solidFill>
                <a:srgbClr val="111111"/>
              </a:solidFill>
            </a:ln>
          </c:spPr>
          <c:marker>
            <c:symbol val="circle"/>
            <c:size val="5"/>
            <c:spPr>
              <a:solidFill>
                <a:srgbClr val="111111"/>
              </a:solidFill>
              <a:ln>
                <a:solidFill>
                  <a:srgbClr val="111111"/>
                </a:solidFill>
              </a:ln>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Sheet1!$B$2:$B$13</c:f>
              <c:numCache>
                <c:formatCode>General</c:formatCode>
                <c:ptCount val="12"/>
                <c:pt idx="0">
                  <c:v>364.0</c:v>
                </c:pt>
                <c:pt idx="1">
                  <c:v>258.0</c:v>
                </c:pt>
                <c:pt idx="2">
                  <c:v>197.0</c:v>
                </c:pt>
                <c:pt idx="3">
                  <c:v>219.0</c:v>
                </c:pt>
                <c:pt idx="4">
                  <c:v>236.0</c:v>
                </c:pt>
                <c:pt idx="5">
                  <c:v>198.0</c:v>
                </c:pt>
                <c:pt idx="6">
                  <c:v>145.0</c:v>
                </c:pt>
                <c:pt idx="7">
                  <c:v>99.0</c:v>
                </c:pt>
                <c:pt idx="8">
                  <c:v>106.0</c:v>
                </c:pt>
                <c:pt idx="9">
                  <c:v>251.0</c:v>
                </c:pt>
                <c:pt idx="10">
                  <c:v>341.0</c:v>
                </c:pt>
                <c:pt idx="11">
                  <c:v>354.0</c:v>
                </c:pt>
              </c:numCache>
            </c:numRef>
          </c:val>
          <c:smooth val="0"/>
        </c:ser>
        <c:ser>
          <c:idx val="1"/>
          <c:order val="1"/>
          <c:tx>
            <c:strRef>
              <c:f>Sheet1!$C$1</c:f>
              <c:strCache>
                <c:ptCount val="1"/>
                <c:pt idx="0">
                  <c:v>Seasonal naive</c:v>
                </c:pt>
              </c:strCache>
            </c:strRef>
          </c:tx>
          <c:spPr>
            <a:ln w="19050">
              <a:solidFill>
                <a:srgbClr val="BFBFBF"/>
              </a:solidFill>
            </a:ln>
          </c:spPr>
          <c:marker>
            <c:symbol val="circle"/>
            <c:size val="5"/>
            <c:spPr>
              <a:solidFill>
                <a:srgbClr val="BFBFBF"/>
              </a:solidFill>
              <a:ln>
                <a:solidFill>
                  <a:srgbClr val="BFBFBF"/>
                </a:solidFill>
              </a:ln>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Sheet1!$C$2:$C$13</c:f>
              <c:numCache>
                <c:formatCode>General</c:formatCode>
                <c:ptCount val="12"/>
                <c:pt idx="0">
                  <c:v>350.0</c:v>
                </c:pt>
                <c:pt idx="1">
                  <c:v>289.0</c:v>
                </c:pt>
                <c:pt idx="2">
                  <c:v>234.0</c:v>
                </c:pt>
                <c:pt idx="3">
                  <c:v>246.0</c:v>
                </c:pt>
                <c:pt idx="4">
                  <c:v>235.0</c:v>
                </c:pt>
                <c:pt idx="5">
                  <c:v>220.0</c:v>
                </c:pt>
                <c:pt idx="6">
                  <c:v>112.0</c:v>
                </c:pt>
                <c:pt idx="7">
                  <c:v>122.0</c:v>
                </c:pt>
                <c:pt idx="8">
                  <c:v>122.0</c:v>
                </c:pt>
                <c:pt idx="9">
                  <c:v>290.0</c:v>
                </c:pt>
                <c:pt idx="10">
                  <c:v>367.0</c:v>
                </c:pt>
                <c:pt idx="11">
                  <c:v>396.0</c:v>
                </c:pt>
              </c:numCache>
            </c:numRef>
          </c:val>
          <c:smooth val="0"/>
        </c:ser>
        <c:ser>
          <c:idx val="2"/>
          <c:order val="2"/>
          <c:tx>
            <c:strRef>
              <c:f>Sheet1!$D$1</c:f>
              <c:strCache>
                <c:ptCount val="1"/>
                <c:pt idx="0">
                  <c:v>Weather-adjusted</c:v>
                </c:pt>
              </c:strCache>
            </c:strRef>
          </c:tx>
          <c:spPr>
            <a:ln w="25400">
              <a:solidFill>
                <a:srgbClr val="737373"/>
              </a:solidFill>
            </a:ln>
          </c:spPr>
          <c:marker>
            <c:symbol val="circle"/>
            <c:size val="5"/>
            <c:spPr>
              <a:solidFill>
                <a:srgbClr val="737373"/>
              </a:solidFill>
              <a:ln>
                <a:solidFill>
                  <a:srgbClr val="737373"/>
                </a:solidFill>
              </a:ln>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Sheet1!$D$2:$D$13</c:f>
              <c:numCache>
                <c:formatCode>General</c:formatCode>
                <c:ptCount val="12"/>
                <c:pt idx="0">
                  <c:v>352.0</c:v>
                </c:pt>
                <c:pt idx="1">
                  <c:v>256.0</c:v>
                </c:pt>
                <c:pt idx="2">
                  <c:v>209.0</c:v>
                </c:pt>
                <c:pt idx="3">
                  <c:v>262.0</c:v>
                </c:pt>
                <c:pt idx="4">
                  <c:v>247.0</c:v>
                </c:pt>
                <c:pt idx="5">
                  <c:v>243.0</c:v>
                </c:pt>
                <c:pt idx="6">
                  <c:v>121.0</c:v>
                </c:pt>
                <c:pt idx="7">
                  <c:v>112.0</c:v>
                </c:pt>
                <c:pt idx="8">
                  <c:v>112.0</c:v>
                </c:pt>
                <c:pt idx="9">
                  <c:v>280.0</c:v>
                </c:pt>
                <c:pt idx="10">
                  <c:v>348.0</c:v>
                </c:pt>
                <c:pt idx="11">
                  <c:v>373.0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FBFBF"/>
            </a:solidFill>
          </a:ln>
        </c:spPr>
        <c:crossAx val="2140495176"/>
        <c:crosses val="autoZero"/>
        <c:auto val="1"/>
        <c:lblAlgn val="ctr"/>
        <c:lblOffset val="100"/>
        <c:noMultiLvlLbl val="0"/>
      </c:catAx>
      <c:valAx>
        <c:axId val="2140495176"/>
        <c:scaling/>
        <c:delete val="0"/>
        <c:axPos val="l"/>
        <c:majorGridlines>
          <c:spPr>
            <a:ln>
              <a:solidFill>
                <a:srgbClr val="E0E0E0"/>
              </a:solidFill>
            </a:ln>
          </c:spPr>
        </c:majorGridlines>
        <c:numFmt formatCode="0" sourceLinked="0"/>
        <c:majorTickMark val="out"/>
        <c:minorTickMark val="none"/>
        <c:tickLblPos val="nextTo"/>
        <c:spPr>
          <a:ln>
            <a:noFill/>
          </a:ln>
        </c:spPr>
        <c:crossAx val="2118791784"/>
        <c:crosses val="autoZero"/>
      </c:valAx>
    </c:plotArea>
    <c:legend>
      <c:legendPos val="b"/>
      <c:layout/>
      <c:overlay val="0"/>
      <c:txPr>
        <a:bodyPr/>
        <a:lstStyle/>
        <a:p>
          <a:pPr>
            <a:defRPr sz="1100"/>
          </a:pPr>
        </a:p>
      </c:txPr>
    </c:legend>
    <c:plotVisOnly val="1"/>
    <c:dispBlanksAs val="gap"/>
    <c:showDLblsOverMax val="0"/>
  </c:chart>
  <c:txPr>
    <a:bodyPr/>
    <a:lstStyle/>
    <a:p>
      <a:pPr>
        <a:defRPr sz="1100">
          <a:solidFill>
            <a:srgbClr val="333333"/>
          </a:solidFil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t>Median % change vs expected</a:t>
            </a:r>
          </a:p>
        </c:rich>
      </c:tx>
      <c:layout/>
      <c:overlay val="0"/>
    </c:title>
    <c:autoTitleDeleted val="0"/>
    <c:plotArea>
      <c:barChart>
        <c:barDir val="col"/>
        <c:grouping val="clustered"/>
        <c:ser>
          <c:idx val="0"/>
          <c:order val="0"/>
          <c:tx>
            <c:strRef>
              <c:f>Sheet1!$B$1</c:f>
              <c:strCache>
                <c:ptCount val="1"/>
                <c:pt idx="0">
                  <c:v>Lockdown 2020</c:v>
                </c:pt>
              </c:strCache>
            </c:strRef>
          </c:tx>
          <c:spPr>
            <a:solidFill>
              <a:srgbClr val="111111"/>
            </a:solidFill>
            <a:ln>
              <a:solidFill>
                <a:srgbClr val="111111"/>
              </a:solidFill>
            </a:ln>
          </c:spPr>
          <c:invertIfNegative val="0"/>
          <c:cat>
            <c:strRef>
              <c:f>Sheet1!$A$2:$A$4</c:f>
              <c:strCache>
                <c:ptCount val="3"/>
                <c:pt idx="0">
                  <c:v>NO2</c:v>
                </c:pt>
                <c:pt idx="1">
                  <c:v>PM2.5</c:v>
                </c:pt>
                <c:pt idx="2">
                  <c:v>AQI</c:v>
                </c:pt>
              </c:strCache>
            </c:strRef>
          </c:cat>
          <c:val>
            <c:numRef>
              <c:f>Sheet1!$B$2:$B$4</c:f>
              <c:numCache>
                <c:formatCode>General</c:formatCode>
                <c:ptCount val="3"/>
                <c:pt idx="0">
                  <c:v>-28.7</c:v>
                </c:pt>
                <c:pt idx="1">
                  <c:v>-27.9</c:v>
                </c:pt>
                <c:pt idx="2">
                  <c:v>-18.7</c:v>
                </c:pt>
              </c:numCache>
            </c:numRef>
          </c:val>
        </c:ser>
        <c:ser>
          <c:idx val="1"/>
          <c:order val="1"/>
          <c:tx>
            <c:strRef>
              <c:f>Sheet1!$C$1</c:f>
              <c:strCache>
                <c:ptCount val="1"/>
                <c:pt idx="0">
                  <c:v>Placebo 2019 (no lockdown)</c:v>
                </c:pt>
              </c:strCache>
            </c:strRef>
          </c:tx>
          <c:spPr>
            <a:solidFill>
              <a:srgbClr val="BFBFBF"/>
            </a:solidFill>
            <a:ln>
              <a:solidFill>
                <a:srgbClr val="BFBFBF"/>
              </a:solidFill>
            </a:ln>
          </c:spPr>
          <c:invertIfNegative val="0"/>
          <c:cat>
            <c:strRef>
              <c:f>Sheet1!$A$2:$A$4</c:f>
              <c:strCache>
                <c:ptCount val="3"/>
                <c:pt idx="0">
                  <c:v>NO2</c:v>
                </c:pt>
                <c:pt idx="1">
                  <c:v>PM2.5</c:v>
                </c:pt>
                <c:pt idx="2">
                  <c:v>AQI</c:v>
                </c:pt>
              </c:strCache>
            </c:strRef>
          </c:cat>
          <c:val>
            <c:numRef>
              <c:f>Sheet1!$C$2:$C$4</c:f>
              <c:numCache>
                <c:formatCode>General</c:formatCode>
                <c:ptCount val="3"/>
                <c:pt idx="0">
                  <c:v>-0.7</c:v>
                </c:pt>
                <c:pt idx="1">
                  <c:v>-4.3</c:v>
                </c:pt>
                <c:pt idx="2">
                  <c:v>-4.5</c:v>
                </c:pt>
              </c:numCache>
            </c:numRef>
          </c:val>
        </c:ser>
        <c:dLbls>
          <c:numFmt formatCode="0" sourceLinked="0"/>
          <c:txPr>
            <a:bodyPr/>
            <a:lstStyle/>
            <a:p>
              <a:pPr>
                <a:defRPr sz="1000"/>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low"/>
        <c:spPr>
          <a:ln>
            <a:solidFill>
              <a:srgbClr val="BFBFBF"/>
            </a:solidFill>
          </a:ln>
        </c:spPr>
        <c:crossAx val="-2113994440"/>
        <c:crosses val="autoZero"/>
        <c:auto val="1"/>
        <c:lblAlgn val="ctr"/>
        <c:lblOffset val="100"/>
        <c:noMultiLvlLbl val="0"/>
      </c:catAx>
      <c:valAx>
        <c:axId val="-2113994440"/>
        <c:scaling/>
        <c:delete val="0"/>
        <c:axPos val="l"/>
        <c:majorGridlines>
          <c:spPr>
            <a:ln>
              <a:solidFill>
                <a:srgbClr val="E0E0E0"/>
              </a:solidFill>
            </a:ln>
          </c:spPr>
        </c:majorGridlines>
        <c:numFmt formatCode="0" sourceLinked="0"/>
        <c:majorTickMark val="out"/>
        <c:minorTickMark val="none"/>
        <c:tickLblPos val="nextTo"/>
        <c:spPr>
          <a:ln>
            <a:noFill/>
          </a:ln>
        </c:spPr>
        <c:crossAx val="-2068027336"/>
        <c:crosses val="autoZero"/>
      </c:valAx>
    </c:plotArea>
    <c:legend>
      <c:legendPos val="b"/>
      <c:overlay val="0"/>
      <c:txPr>
        <a:bodyPr/>
        <a:lstStyle/>
        <a:p>
          <a:pPr>
            <a:defRPr sz="1100"/>
          </a:pPr>
        </a:p>
      </c:txPr>
    </c:legend>
    <c:dispBlanksAs val="gap"/>
  </c:chart>
  <c:txPr>
    <a:bodyPr/>
    <a:lstStyle/>
    <a:p>
      <a:pPr>
        <a:defRPr sz="1100">
          <a:solidFill>
            <a:srgbClr val="333333"/>
          </a:solidFill>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t>PM2.5 % change by city, 25 Mar – 31 May 2020</a:t>
            </a:r>
          </a:p>
        </c:rich>
      </c:tx>
      <c:layout/>
      <c:overlay val="0"/>
    </c:title>
    <c:autoTitleDeleted val="0"/>
    <c:plotArea>
      <c:barChart>
        <c:barDir val="bar"/>
        <c:grouping val="clustered"/>
        <c:ser>
          <c:idx val="0"/>
          <c:order val="0"/>
          <c:tx>
            <c:strRef>
              <c:f>Sheet1!$B$1</c:f>
              <c:strCache>
                <c:ptCount val="1"/>
                <c:pt idx="0">
                  <c:v>PM2.5 change %</c:v>
                </c:pt>
              </c:strCache>
            </c:strRef>
          </c:tx>
          <c:spPr>
            <a:solidFill>
              <a:srgbClr val="737373"/>
            </a:solidFill>
            <a:ln>
              <a:solidFill>
                <a:srgbClr val="737373"/>
              </a:solidFill>
            </a:ln>
          </c:spPr>
          <c:invertIfNegative val="0"/>
          <c:dPt>
            <c:idx val="0"/>
            <c:spPr>
              <a:solidFill>
                <a:srgbClr val="111111"/>
              </a:solidFill>
            </c:spPr>
          </c:dPt>
          <c:dPt>
            <c:idx val="1"/>
            <c:spPr>
              <a:solidFill>
                <a:srgbClr val="111111"/>
              </a:solidFill>
            </c:spPr>
          </c:dPt>
          <c:dPt>
            <c:idx val="2"/>
            <c:spPr>
              <a:solidFill>
                <a:srgbClr val="111111"/>
              </a:solidFill>
            </c:spPr>
          </c:dPt>
          <c:dPt>
            <c:idx val="3"/>
            <c:spPr>
              <a:solidFill>
                <a:srgbClr val="111111"/>
              </a:solidFill>
            </c:spPr>
          </c:dPt>
          <c:cat>
            <c:strRef>
              <c:f>Sheet1!$A$2:$A$27</c:f>
              <c:strCache>
                <c:ptCount val="26"/>
                <c:pt idx="0">
                  <c:v>Brajrajnagar</c:v>
                </c:pt>
                <c:pt idx="1">
                  <c:v>Jorapokhar</c:v>
                </c:pt>
                <c:pt idx="2">
                  <c:v>Guwahati</c:v>
                </c:pt>
                <c:pt idx="3">
                  <c:v>Amaravati</c:v>
                </c:pt>
                <c:pt idx="4">
                  <c:v>Shillong</c:v>
                </c:pt>
                <c:pt idx="5">
                  <c:v>Thiruvananthapuram</c:v>
                </c:pt>
                <c:pt idx="6">
                  <c:v>Talcher</c:v>
                </c:pt>
                <c:pt idx="7">
                  <c:v>Hyderabad</c:v>
                </c:pt>
                <c:pt idx="8">
                  <c:v>Mumbai</c:v>
                </c:pt>
                <c:pt idx="9">
                  <c:v>Lucknow</c:v>
                </c:pt>
                <c:pt idx="10">
                  <c:v>Bhopal</c:v>
                </c:pt>
                <c:pt idx="11">
                  <c:v>Patna</c:v>
                </c:pt>
                <c:pt idx="12">
                  <c:v>Delhi</c:v>
                </c:pt>
                <c:pt idx="13">
                  <c:v>Coimbatore</c:v>
                </c:pt>
                <c:pt idx="14">
                  <c:v>Jaipur</c:v>
                </c:pt>
                <c:pt idx="15">
                  <c:v>Amritsar</c:v>
                </c:pt>
                <c:pt idx="16">
                  <c:v>Gurugram</c:v>
                </c:pt>
                <c:pt idx="17">
                  <c:v>Bengaluru</c:v>
                </c:pt>
                <c:pt idx="18">
                  <c:v>Kolkata</c:v>
                </c:pt>
                <c:pt idx="19">
                  <c:v>Ernakulam</c:v>
                </c:pt>
                <c:pt idx="20">
                  <c:v>Visakhapatnam</c:v>
                </c:pt>
                <c:pt idx="21">
                  <c:v>Kochi</c:v>
                </c:pt>
                <c:pt idx="22">
                  <c:v>Chandigarh</c:v>
                </c:pt>
                <c:pt idx="23">
                  <c:v>Chennai</c:v>
                </c:pt>
                <c:pt idx="24">
                  <c:v>Ahmedabad</c:v>
                </c:pt>
                <c:pt idx="25">
                  <c:v>Aizawl</c:v>
                </c:pt>
              </c:strCache>
            </c:strRef>
          </c:cat>
          <c:val>
            <c:numRef>
              <c:f>Sheet1!$B$2:$B$27</c:f>
              <c:numCache>
                <c:formatCode>General</c:formatCode>
                <c:ptCount val="26"/>
                <c:pt idx="0">
                  <c:v>28.0</c:v>
                </c:pt>
                <c:pt idx="1">
                  <c:v>23.0</c:v>
                </c:pt>
                <c:pt idx="2">
                  <c:v>8.0</c:v>
                </c:pt>
                <c:pt idx="3">
                  <c:v>2.0</c:v>
                </c:pt>
                <c:pt idx="4">
                  <c:v>-1.0</c:v>
                </c:pt>
                <c:pt idx="5">
                  <c:v>-2.0</c:v>
                </c:pt>
                <c:pt idx="6">
                  <c:v>-5.0</c:v>
                </c:pt>
                <c:pt idx="7">
                  <c:v>-9.0</c:v>
                </c:pt>
                <c:pt idx="8">
                  <c:v>-11.0</c:v>
                </c:pt>
                <c:pt idx="9">
                  <c:v>-12.0</c:v>
                </c:pt>
                <c:pt idx="10">
                  <c:v>-22.0</c:v>
                </c:pt>
                <c:pt idx="11">
                  <c:v>-27.0</c:v>
                </c:pt>
                <c:pt idx="12">
                  <c:v>-28.0</c:v>
                </c:pt>
                <c:pt idx="13">
                  <c:v>-28.0</c:v>
                </c:pt>
                <c:pt idx="14">
                  <c:v>-30.0</c:v>
                </c:pt>
                <c:pt idx="15">
                  <c:v>-34.0</c:v>
                </c:pt>
                <c:pt idx="16">
                  <c:v>-35.0</c:v>
                </c:pt>
                <c:pt idx="17">
                  <c:v>-36.0</c:v>
                </c:pt>
                <c:pt idx="18">
                  <c:v>-39.0</c:v>
                </c:pt>
                <c:pt idx="19">
                  <c:v>-44.0</c:v>
                </c:pt>
                <c:pt idx="20">
                  <c:v>-45.0</c:v>
                </c:pt>
                <c:pt idx="21">
                  <c:v>-47.0</c:v>
                </c:pt>
                <c:pt idx="22">
                  <c:v>-48.0</c:v>
                </c:pt>
                <c:pt idx="23">
                  <c:v>-48.0</c:v>
                </c:pt>
                <c:pt idx="24">
                  <c:v>-52.0</c:v>
                </c:pt>
                <c:pt idx="25">
                  <c:v>-52.0</c:v>
                </c:pt>
              </c:numCache>
            </c:numRef>
          </c:val>
        </c:ser>
        <c:dLbls>
          <c:numFmt formatCode="0" sourceLinked="0"/>
          <c:txPr>
            <a:bodyPr/>
            <a:lstStyle/>
            <a:p>
              <a:pPr>
                <a:defRPr sz="1000"/>
              </a:pPr>
            </a:p>
          </c:txPr>
          <c:dLblPos val="outEnd"/>
          <c:showLegendKey val="0"/>
          <c:showVal val="1"/>
          <c:showCatName val="0"/>
          <c:showSerName val="0"/>
          <c:showPercent val="0"/>
          <c:showBubbleSize val="0"/>
          <c:showLeaderLines val="1"/>
        </c:dLbls>
        <c:gapWidth val="30"/>
        <c:axId val="-2068027336"/>
        <c:axId val="-2113994440"/>
      </c:barChart>
      <c:catAx>
        <c:axId val="-2068027336"/>
        <c:scaling>
          <c:orientation val="minMax"/>
        </c:scaling>
        <c:delete val="0"/>
        <c:axPos val="l"/>
        <c:majorTickMark val="out"/>
        <c:minorTickMark val="none"/>
        <c:tickLblPos val="low"/>
        <c:spPr>
          <a:ln>
            <a:solidFill>
              <a:srgbClr val="BFBFBF"/>
            </a:solidFill>
          </a:ln>
        </c:spPr>
        <c:txPr>
          <a:bodyPr/>
          <a:lstStyle/>
          <a:p>
            <a:pPr>
              <a:defRPr sz="900"/>
            </a:pPr>
          </a:p>
        </c:txPr>
        <c:crossAx val="-2113994440"/>
        <c:crosses val="autoZero"/>
        <c:auto val="1"/>
        <c:lblAlgn val="ctr"/>
        <c:lblOffset val="100"/>
        <c:noMultiLvlLbl val="0"/>
      </c:catAx>
      <c:valAx>
        <c:axId val="-2113994440"/>
        <c:scaling/>
        <c:delete val="0"/>
        <c:axPos val="b"/>
        <c:majorGridlines>
          <c:spPr>
            <a:ln>
              <a:solidFill>
                <a:srgbClr val="E0E0E0"/>
              </a:solidFill>
            </a:ln>
          </c:spPr>
        </c:majorGridlines>
        <c:numFmt formatCode="0" sourceLinked="0"/>
        <c:majorTickMark val="out"/>
        <c:minorTickMark val="none"/>
        <c:tickLblPos val="nextTo"/>
        <c:spPr>
          <a:ln>
            <a:noFill/>
          </a:ln>
        </c:spPr>
        <c:crossAx val="-2068027336"/>
        <c:crosses val="autoZero"/>
      </c:valAx>
    </c:plotArea>
    <c:dispBlanksAs val="gap"/>
  </c:chart>
  <c:txPr>
    <a:bodyPr/>
    <a:lstStyle/>
    <a:p>
      <a:pPr>
        <a:defRPr sz="900">
          <a:solidFill>
            <a:srgbClr val="333333"/>
          </a:solidFill>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t>Diwali PM2.5 above weather-normalised expectation (%)</a:t>
            </a:r>
          </a:p>
        </c:rich>
      </c:tx>
      <c:layout/>
      <c:overlay val="0"/>
    </c:title>
    <c:autoTitleDeleted val="0"/>
    <c:plotArea>
      <c:barChart>
        <c:barDir val="col"/>
        <c:grouping val="clustered"/>
        <c:ser>
          <c:idx val="0"/>
          <c:order val="0"/>
          <c:tx>
            <c:strRef>
              <c:f>Sheet1!$B$1</c:f>
              <c:strCache>
                <c:ptCount val="1"/>
                <c:pt idx="0">
                  <c:v>Delhi</c:v>
                </c:pt>
              </c:strCache>
            </c:strRef>
          </c:tx>
          <c:spPr>
            <a:solidFill>
              <a:srgbClr val="111111"/>
            </a:solidFill>
            <a:ln>
              <a:solidFill>
                <a:srgbClr val="111111"/>
              </a:solidFill>
            </a:ln>
          </c:spPr>
          <c:invertIfNegative val="0"/>
          <c:cat>
            <c:strRef>
              <c:f>Sheet1!$A$2:$A$6</c:f>
              <c:strCache>
                <c:ptCount val="5"/>
                <c:pt idx="0">
                  <c:v>2015</c:v>
                </c:pt>
                <c:pt idx="1">
                  <c:v>2016</c:v>
                </c:pt>
                <c:pt idx="2">
                  <c:v>2017</c:v>
                </c:pt>
                <c:pt idx="3">
                  <c:v>2018</c:v>
                </c:pt>
                <c:pt idx="4">
                  <c:v>2019</c:v>
                </c:pt>
              </c:strCache>
            </c:strRef>
          </c:cat>
          <c:val>
            <c:numRef>
              <c:f>Sheet1!$B$2:$B$6</c:f>
              <c:numCache>
                <c:formatCode>General</c:formatCode>
                <c:ptCount val="5"/>
                <c:pt idx="0">
                  <c:v>36.0</c:v>
                </c:pt>
                <c:pt idx="1">
                  <c:v>63.0</c:v>
                </c:pt>
                <c:pt idx="2">
                  <c:v>126.0</c:v>
                </c:pt>
                <c:pt idx="3">
                  <c:v>47.0</c:v>
                </c:pt>
                <c:pt idx="4">
                  <c:v>45.0</c:v>
                </c:pt>
              </c:numCache>
            </c:numRef>
          </c:val>
        </c:ser>
        <c:ser>
          <c:idx val="1"/>
          <c:order val="1"/>
          <c:tx>
            <c:strRef>
              <c:f>Sheet1!$C$1</c:f>
              <c:strCache>
                <c:ptCount val="1"/>
                <c:pt idx="0">
                  <c:v>Median of all cities</c:v>
                </c:pt>
              </c:strCache>
            </c:strRef>
          </c:tx>
          <c:spPr>
            <a:solidFill>
              <a:srgbClr val="BFBFBF"/>
            </a:solidFill>
            <a:ln>
              <a:solidFill>
                <a:srgbClr val="BFBFBF"/>
              </a:solidFill>
            </a:ln>
          </c:spPr>
          <c:invertIfNegative val="0"/>
          <c:cat>
            <c:strRef>
              <c:f>Sheet1!$A$2:$A$6</c:f>
              <c:strCache>
                <c:ptCount val="5"/>
                <c:pt idx="0">
                  <c:v>2015</c:v>
                </c:pt>
                <c:pt idx="1">
                  <c:v>2016</c:v>
                </c:pt>
                <c:pt idx="2">
                  <c:v>2017</c:v>
                </c:pt>
                <c:pt idx="3">
                  <c:v>2018</c:v>
                </c:pt>
                <c:pt idx="4">
                  <c:v>2019</c:v>
                </c:pt>
              </c:strCache>
            </c:strRef>
          </c:cat>
          <c:val>
            <c:numRef>
              <c:f>Sheet1!$C$2:$C$6</c:f>
              <c:numCache>
                <c:formatCode>General</c:formatCode>
                <c:ptCount val="5"/>
                <c:pt idx="0">
                  <c:v>42.0</c:v>
                </c:pt>
                <c:pt idx="1">
                  <c:v>67.0</c:v>
                </c:pt>
                <c:pt idx="2">
                  <c:v>44.0</c:v>
                </c:pt>
                <c:pt idx="3">
                  <c:v>32.0</c:v>
                </c:pt>
                <c:pt idx="4">
                  <c:v>44.0</c:v>
                </c:pt>
              </c:numCache>
            </c:numRef>
          </c:val>
        </c:ser>
        <c:dLbls>
          <c:numFmt formatCode="0" sourceLinked="0"/>
          <c:txPr>
            <a:bodyPr/>
            <a:lstStyle/>
            <a:p>
              <a:pPr>
                <a:defRPr sz="1000"/>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low"/>
        <c:spPr>
          <a:ln>
            <a:solidFill>
              <a:srgbClr val="BFBFBF"/>
            </a:solidFill>
          </a:ln>
        </c:spPr>
        <c:crossAx val="-2113994440"/>
        <c:crosses val="autoZero"/>
        <c:auto val="1"/>
        <c:lblAlgn val="ctr"/>
        <c:lblOffset val="100"/>
        <c:noMultiLvlLbl val="0"/>
      </c:catAx>
      <c:valAx>
        <c:axId val="-2113994440"/>
        <c:scaling/>
        <c:delete val="0"/>
        <c:axPos val="l"/>
        <c:majorGridlines>
          <c:spPr>
            <a:ln>
              <a:solidFill>
                <a:srgbClr val="E0E0E0"/>
              </a:solidFill>
            </a:ln>
          </c:spPr>
        </c:majorGridlines>
        <c:numFmt formatCode="0" sourceLinked="0"/>
        <c:majorTickMark val="out"/>
        <c:minorTickMark val="none"/>
        <c:tickLblPos val="nextTo"/>
        <c:spPr>
          <a:ln>
            <a:noFill/>
          </a:ln>
        </c:spPr>
        <c:crossAx val="-2068027336"/>
        <c:crosses val="autoZero"/>
      </c:valAx>
    </c:plotArea>
    <c:legend>
      <c:legendPos val="b"/>
      <c:overlay val="0"/>
      <c:txPr>
        <a:bodyPr/>
        <a:lstStyle/>
        <a:p>
          <a:pPr>
            <a:defRPr sz="1100"/>
          </a:pPr>
        </a:p>
      </c:txPr>
    </c:legend>
    <c:dispBlanksAs val="gap"/>
  </c:chart>
  <c:txPr>
    <a:bodyPr/>
    <a:lstStyle/>
    <a:p>
      <a:pPr>
        <a:defRPr sz="1100">
          <a:solidFill>
            <a:srgbClr val="333333"/>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545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data warehouse over six years of CPCB air-quality readings for 26 Indian cities, joined with daily weather from a second source, then mined for next-day risk, city profiles, condition rules and forecasts. The creative hook: the 2020 COVID lockdown and Diwali firecracker rules are natural experiments, and a weather-normalised model measures their real effect. Code: https://github.com/StutiArya2/breathing-cities-dwdm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CPCB readings compiled by Vopani (Rohan Rao) on Kaggle. Weather comes from the free Open-Meteo historical API (ERA5 reanalysis), fetched per city by src/fetch_weather.py with no API key. Mixing height is the daily mean boundary-layer height: when it is low, pollution is trapped near the ground.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16 city_day columns are covered, grouped by pollutant family, plus the station key and the weather source. AQI_Bucket becomes dim_aqi_category, recomputed from AQI with CPCB breakpoints.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fact tables share the conformed dimensions DIM_Date and DIM_City, so they can be combined (drill-across). FACT_AirQuality is the main star: city x day with Event, AQI Category and Weather Condition dimensions. FACT_Weather holds raw weather measures from the second source at the same grain. FACT_StationAQ is finer (station x day); DIM_Station rolls up to DIM_City, giving the hierarchy Station -&gt; City -&gt; State -&gt; Region.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Weather bands: wind calm &lt; 6, light 6-12, breezy &gt;= 12 km/h; rain &gt;= 1 mm; temperature cold &lt; 18, mild 18-28, hot &gt;= 28 C; mixing height low &lt; 400, medium 400-800, high &gt;= 800 m. Event priority: lockdown, then Diwali window (day -2 to +3), then stubble burning (15 Oct - 30 Nov, North only). One command rebuilds everything: python src/run_all.py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Results are from python src/olap.py on the real warehouse (saved in outputs/olap_*.csv). Full SQL is on slide 11 and in sql/02_olap_queries.sql. AQI queries skip rows flagged for the Ahmedabad CO fault.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Condensed from sql/01_create_warehouse.sql (9 tables). Runs unchanged on MySQL 8 and SQLite.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Condensed from src/etl.py. It prints row counts, a checksum, missing percentages and the number of flagged rows on every run, so the numbers in this deck can be reproduced.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Shortened from sql/02_olap_queries.sql, which has 9 queries in full. Averages, not sums, because concentrations are non-additive. Run them with python src/olap.py; the dashboard's OLAP tab runs them live.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These checks come from etl.py's own output on the real file. The Ahmedabad issue is the most interesting: its CO readings are about ten times every other city, which pushes its AQI above the 500 ceiling on 412 days. Before flagging, Ahmedabad looked like India's most polluted city in winter (AQI 606); after flagging, Delhi, Patna and Lucknow top the list, which matches public reporting.</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These three operations only exist because of the constellation design: the station fact gives a level below city, the weather-condition dimension allows slicing and dicing by weather, and conformed dimensions let two fact tables be compared (drill-across) without double counting.</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Each mining task reads the warehouse through one drill-across view (db.read_cube) that joins fact_air_quality to its dimensions and to fact_weather. The next six slides show the results.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Target: next-day AQI above 200 (CPCB Poor or worse). Train 2015-2018, test 2019-2020, so no future data leaks into training. Only 6.6% of test days change status, which is why F1 alone flatters persistence; the change-day accuracy shows where the model adds value. SHAP is computed on 1,500 test rows of the Random Forest with weather.</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Features per city: median PM2.5, PM10, NO2, SO2, O3, NH3; winter/monsoon PM2.5 ratio; share of unhealthy days; and the correlation between daily PM2.5 and mixing height from the weather source. CO is left out because one city's sensor is faulty. Silhouette scores: k=2 0.227, k=3 0.226, k=4 0.212; k=3 is kept because it ties with k=2 and splits out a meaningful industrial group. Smog belt: Indo-Gangetic plain. Half of all days unhealthy; PM2.5 falls hardest when mixing height rises. Moderate urban: Most metros. PM2.5 about 40% of the smog belt's; NO2 from traffic. Members: Ahmedabad, Amaravati, Amritsar, Bengaluru, Bhopal, Brajrajnagar, Chandigarh, Chennai, Coimbatore, Hyderabad, Jaipur, Kolkata, Mumbai, Shillong, Thiruvananthapuram, Visakhapatnam. Low-traffic, SO2-heavy: Industrial and hill/coastal towns. Little NO2, more SO2.</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Rules are mined separately per region (the segment) with min support 2% (context) or 5% (co-pollution), min confidence 50% / 60%, and lift above 1.2. The base rate is the region's share of unhealthy days, so the North rule lifts the chance of an unhealthy day from 39% to 83%. Full lists: outputs/rules_*.csv and the dashboard's rule explorer.</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Weather-adjusted forecast = last year's same-month AQI x (weather model's expectation this month / its expectation for the same month last year). The weather model is trained on data up to Dec 2018 only. 2019 weather is the observed weather, standing in for a monthly weather outlook. All cities, MAPE: seasonal naive 21.3%, weather-adjusted 17.8%.</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Method: a gradient-boosting model learns each city's daily pollution from weather and calendar using data before 1 Mar 2020, then predicts the lockdown period from the actual 2020 weather. The gap between actual and predicted is the lockdown effect with weather luck removed. The placebo repeats everything for 2019, when there was no lockdown; a near-zero placebo shows the method is not inventing effects.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model is trained on all days except the Diwali windows and the lockdown, so it predicts late-Oct/Nov air for the actual weather without fireworks. Excess = actual / expected - 1 on Diwali day and the day after. This is descriptive: other things also changed between years, but it shows why raw before/after comparisons can credit or blame a policy for what the weather did.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Everything in this deck is reproduced by python src/run_all.py followed by streamlit run dashboard/app.py. The repository is private for now.</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Four findings to remember. 1) The lockdown cut PM2.5 by about a quarter beyond what weather explains, with a placebo check. 2) In the North, stubble burning plus a shallow mixing layer makes an unhealthy day very likely. 3) Raw before/after comparisons can mislead: Delhi's 2017 Diwali looked cleaner only because of the weather. 4) Adding weather from a second source improves forecasts.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a:effectLst/>
      </p:bgPr>
    </p:bg>
    <p:spTree>
      <p:nvGrpSpPr>
        <p:cNvPr id="1" name=""/>
        <p:cNvGrpSpPr/>
        <p:nvPr/>
      </p:nvGrpSpPr>
      <p:grpSpPr>
        <a:xfrm>
          <a:off x="0" y="0"/>
          <a:ext cx="0" cy="0"/>
          <a:chOff x="0" y="0"/>
          <a:chExt cx="0" cy="0"/>
        </a:xfrm>
      </p:grpSpPr>
      <p:sp>
        <p:nvSpPr>
          <p:cNvPr id="2" name="Shape 0"/>
          <p:cNvSpPr/>
          <p:nvPr/>
        </p:nvSpPr>
        <p:spPr>
          <a:xfrm>
            <a:off x="731520" y="1828800"/>
            <a:ext cx="137160" cy="1463040"/>
          </a:xfrm>
          <a:prstGeom prst="rect">
            <a:avLst/>
          </a:prstGeom>
          <a:solidFill>
            <a:schemeClr val="bg1"/>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457200"/>
            <a:ext cx="109728" cy="685800"/>
          </a:xfrm>
          <a:prstGeom prst="rect">
            <a:avLst/>
          </a:prstGeom>
          <a:solidFill>
            <a:schemeClr val="accent2"/>
          </a:solidFill>
          <a:ln/>
        </p:spPr>
      </p:sp>
      <p:sp>
        <p:nvSpPr>
          <p:cNvPr id="3" name="Text 1"/>
          <p:cNvSpPr/>
          <p:nvPr/>
        </p:nvSpPr>
        <p:spPr>
          <a:xfrm>
            <a:off x="548640" y="6355080"/>
            <a:ext cx="7315200" cy="274320"/>
          </a:xfrm>
          <a:prstGeom prst="rect">
            <a:avLst/>
          </a:prstGeom>
          <a:noFill/>
          <a:ln/>
        </p:spPr>
        <p:txBody>
          <a:bodyPr wrap="square" rtlCol="0" anchor="ctr"/>
          <a:lstStyle/>
          <a:p>
            <a:pPr marL="0" indent="0">
              <a:buNone/>
            </a:pPr>
            <a:r>
              <a:rPr lang="en-US" sz="1000" dirty="0">
                <a:solidFill>
                  <a:schemeClr val="accent6"/>
                </a:solidFill>
              </a:rPr>
              <a:t>CSI3010 · Data Mining &amp; Warehousing · Lab Project</a:t>
            </a:r>
            <a:endParaRPr lang="en-US" sz="1000" dirty="0"/>
          </a:p>
        </p:txBody>
      </p:sp>
      <p:sp>
        <p:nvSpPr>
          <p:cNvPr id="4" name="Text 2"/>
          <p:cNvSpPr>
            <a:spLocks noGrp="1"/>
          </p:cNvSpPr>
          <p:nvPr>
            <p:ph type="title" idx="102" hasCustomPrompt="1"/>
          </p:nvPr>
        </p:nvSpPr>
        <p:spPr>
          <a:xfrm>
            <a:off x="822960" y="411480"/>
            <a:ext cx="10789920" cy="777240"/>
          </a:xfrm>
          <a:prstGeom prst="rect">
            <a:avLst/>
          </a:prstGeom>
          <a:noFill/>
          <a:ln/>
        </p:spPr>
        <p:txBody>
          <a:bodyPr wrap="square" rtlCol="0"/>
          <a:lstStyle>
            <a:lvl1pPr marL="0" indent="0">
              <a:buNone/>
              <a:defRPr lang="en-US" sz="2800" b="1" dirty="0">
                <a:solidFill>
                  <a:schemeClr val="tx2"/>
                </a:solidFill>
              </a:defRPr>
            </a:lvl1pPr>
          </a:lstStyle>
          <a:p>
            <a:pPr marL="0" indent="0">
              <a:buNone/>
            </a:pPr>
            <a:endParaRPr lang="en-US" sz="28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2">
    <p:bg>
      <p:bgPr>
        <a:solidFill>
          <a:schemeClr val="tx2"/>
        </a:solidFill>
        <a:effectLst/>
      </p:bgPr>
    </p:bg>
    <p:spTree>
      <p:nvGrpSpPr>
        <p:cNvPr id="1" name=""/>
        <p:cNvGrpSpPr/>
        <p:nvPr/>
      </p:nvGrpSpPr>
      <p:grpSpPr>
        <a:xfrm>
          <a:off x="0" y="0"/>
          <a:ext cx="0" cy="0"/>
          <a:chOff x="0" y="0"/>
          <a:chExt cx="0" cy="0"/>
        </a:xfrm>
      </p:grpSpPr>
      <p:sp>
        <p:nvSpPr>
          <p:cNvPr id="2" name="Shape 0"/>
          <p:cNvSpPr/>
          <p:nvPr/>
        </p:nvSpPr>
        <p:spPr>
          <a:xfrm>
            <a:off x="731520" y="1828800"/>
            <a:ext cx="137160" cy="1554480"/>
          </a:xfrm>
          <a:prstGeom prst="rect">
            <a:avLst/>
          </a:prstGeom>
          <a:solidFill>
            <a:schemeClr val="bg1"/>
          </a:solidFill>
          <a:ln/>
        </p:spPr>
      </p:sp>
      <p:sp>
        <p:nvSpPr>
          <p:cNvPr id="3" name="Text 1"/>
          <p:cNvSpPr>
            <a:spLocks noGrp="1"/>
          </p:cNvSpPr>
          <p:nvPr>
            <p:ph type="title" idx="101" hasCustomPrompt="1"/>
          </p:nvPr>
        </p:nvSpPr>
        <p:spPr>
          <a:xfrm>
            <a:off x="1097280" y="1737360"/>
            <a:ext cx="9875520" cy="1097280"/>
          </a:xfrm>
          <a:prstGeom prst="rect">
            <a:avLst/>
          </a:prstGeom>
          <a:noFill/>
          <a:ln/>
        </p:spPr>
        <p:txBody>
          <a:bodyPr wrap="square" rtlCol="0"/>
          <a:lstStyle>
            <a:lvl1pPr marL="0" indent="0">
              <a:buNone/>
              <a:defRPr lang="en-US" sz="3800" b="1" dirty="0">
                <a:solidFill>
                  <a:schemeClr val="bg1"/>
                </a:solidFill>
              </a:defRPr>
            </a:lvl1pPr>
          </a:lstStyle>
          <a:p>
            <a:pPr marL="0" indent="0">
              <a:buNone/>
            </a:pPr>
            <a:endParaRPr lang="en-US" sz="3800" dirty="0"/>
          </a:p>
        </p:txBody>
      </p:sp>
      <p:sp>
        <p:nvSpPr>
          <p:cNvPr id="4" name="Text 1"/>
          <p:cNvSpPr>
            <a:spLocks noGrp="1"/>
          </p:cNvSpPr>
          <p:nvPr>
            <p:ph type="body" idx="102" hasCustomPrompt="1"/>
          </p:nvPr>
        </p:nvSpPr>
        <p:spPr>
          <a:xfrm>
            <a:off x="1097280" y="2880360"/>
            <a:ext cx="9875520" cy="548640"/>
          </a:xfrm>
          <a:prstGeom prst="rect">
            <a:avLst/>
          </a:prstGeom>
          <a:noFill/>
          <a:ln/>
        </p:spPr>
        <p:txBody>
          <a:bodyPr wrap="square" rtlCol="0"/>
          <a:lstStyle>
            <a:lvl1pPr marL="0" indent="0">
              <a:buNone/>
              <a:defRPr lang="en-US" sz="1800" dirty="0">
                <a:solidFill>
                  <a:schemeClr val="bg2"/>
                </a:solidFill>
              </a:defRPr>
            </a:lvl1pPr>
          </a:lstStyle>
          <a:p>
            <a:pPr marL="0" indent="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6.xml"/><Relationship Id="rId3" Type="http://schemas.openxmlformats.org/officeDocument/2006/relationships/chart" Target="../charts/chart7.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8.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utiArya2/breathing-cities-dwdm"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1097280" y="1325880"/>
            <a:ext cx="9875520" cy="1463040"/>
          </a:xfrm>
          <a:prstGeom prst="rect">
            <a:avLst/>
          </a:prstGeom>
          <a:noFill/>
          <a:ln/>
        </p:spPr>
        <p:txBody>
          <a:bodyPr wrap="square" rtlCol="0" anchor="t"/>
          <a:lstStyle/>
          <a:p>
            <a:pPr marL="0" indent="0">
              <a:buNone/>
            </a:pPr>
            <a:r>
              <a:rPr lang="en-US" sz="3800" b="1" dirty="0">
                <a:solidFill>
                  <a:schemeClr val="bg1"/>
                </a:solidFill>
              </a:rPr>
              <a:t>Breathing Cities:</a:t>
            </a:r>
            <a:endParaRPr lang="en-US" sz="3800" dirty="0"/>
          </a:p>
          <a:p>
            <a:pPr marL="0" indent="0">
              <a:buNone/>
            </a:pPr>
            <a:r>
              <a:rPr lang="en-US" sz="3800" b="1" dirty="0">
                <a:solidFill>
                  <a:schemeClr val="bg1"/>
                </a:solidFill>
              </a:rPr>
              <a:t>Mining India's Air Quality</a:t>
            </a:r>
            <a:endParaRPr lang="en-US" sz="3800" dirty="0"/>
          </a:p>
        </p:txBody>
      </p:sp>
      <p:sp>
        <p:nvSpPr>
          <p:cNvPr id="3" name="Text 1"/>
          <p:cNvSpPr>
            <a:spLocks noGrp="1"/>
          </p:cNvSpPr>
          <p:nvPr>
            <p:ph type="body" idx="102" hasCustomPrompt="1"/>
          </p:nvPr>
        </p:nvSpPr>
        <p:spPr>
          <a:xfrm>
            <a:off x="1097280" y="2880360"/>
            <a:ext cx="9875520" cy="548640"/>
          </a:xfrm>
          <a:prstGeom prst="rect">
            <a:avLst/>
          </a:prstGeom>
          <a:noFill/>
          <a:ln/>
        </p:spPr>
        <p:txBody>
          <a:bodyPr wrap="square" rtlCol="0"/>
          <a:lstStyle/>
          <a:p>
            <a:pPr marL="0" indent="0">
              <a:buNone/>
            </a:pPr>
            <a:r>
              <a:rPr lang="en-US" sz="1800" dirty="0">
                <a:solidFill>
                  <a:schemeClr val="bg2"/>
                </a:solidFill>
              </a:rPr>
              <a:t>Data Warehousing &amp; Data Mining (CSI3010) — Lab Project</a:t>
            </a:r>
            <a:endParaRPr lang="en-US" sz="1800" dirty="0"/>
          </a:p>
        </p:txBody>
      </p:sp>
      <p:sp>
        <p:nvSpPr>
          <p:cNvPr id="4" name="Team details"/>
          <p:cNvSpPr txBox="1"/>
          <p:nvPr/>
        </p:nvSpPr>
        <p:spPr>
          <a:xfrm>
            <a:off x="1097280" y="4937760"/>
            <a:ext cx="9875520" cy="822960"/>
          </a:xfrm>
          <a:prstGeom prst="rect">
            <a:avLst/>
          </a:prstGeom>
          <a:noFill/>
          <a:ln/>
        </p:spPr>
        <p:txBody>
          <a:bodyPr wrap="square" lIns="0" tIns="0" rIns="0" bIns="0" rtlCol="0" anchor="ctr"/>
          <a:lstStyle/>
          <a:p>
            <a:pPr>
              <a:spcAft>
                <a:spcPts val="600"/>
              </a:spcAft>
            </a:pPr>
            <a:r>
              <a:rPr lang="en-US" sz="1400" dirty="0">
                <a:solidFill>
                  <a:schemeClr val="bg2"/>
                </a:solidFill>
              </a:rPr>
              <a:t>Team: Stuti Arya – [Reg. No.], [Name 2 – Reg. No.], [Name 3 – Reg. No.]</a:t>
            </a:r>
            <a:endParaRPr lang="en-US" sz="1400" dirty="0"/>
          </a:p>
          <a:p>
            <a:pPr marL="0" indent="0">
              <a:spcAft>
                <a:spcPts val="600"/>
              </a:spcAft>
              <a:buNone/>
            </a:pPr>
            <a:r>
              <a:rPr lang="en-US" sz="1400" dirty="0">
                <a:solidFill>
                  <a:schemeClr val="bg2"/>
                </a:solidFill>
              </a:rPr>
              <a:t>Faculty: [Faculty name]   |   Slot: [Lab slot]   |   Date: 07-10-2026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a:spLocks noGrp="1"/>
          </p:cNvSpPr>
          <p:nvPr>
            <p:ph type="title" idx="102" hasCustomPrompt="1"/>
          </p:nvPr>
        </p:nvSpPr>
        <p:spPr>
          <a:xfrm>
            <a:off x="822960" y="411480"/>
            <a:ext cx="10789920" cy="777240"/>
          </a:xfrm>
          <a:prstGeom prst="rect">
            <a:avLst/>
          </a:prstGeom>
          <a:noFill/>
          <a:ln/>
        </p:spPr>
        <p:txBody>
          <a:bodyPr wrap="square" rtlCol="0" anchor="ctr"/>
          <a:lstStyle/>
          <a:p>
            <a:pPr marL="0" indent="0">
              <a:buNone/>
            </a:pPr>
            <a:r>
              <a:rPr lang="en-US" sz="2800" b="1" dirty="0">
                <a:solidFill>
                  <a:schemeClr val="tx2"/>
                </a:solidFill>
              </a:rPr>
              <a:t>Dataset Description</a:t>
            </a:r>
            <a:endParaRPr lang="en-US" sz="2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852160" cy="3520440"/>
        </p:xfrm>
        <a:graphic>
          <a:graphicData uri="http://schemas.openxmlformats.org/drawingml/2006/table">
            <a:tbl>
              <a:tblPr/>
              <a:tblGrid>
                <a:gridCol w="201168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tblGrid>
              <a:tr h="502920">
                <a:tc>
                  <a:txBody>
                    <a:bodyPr/>
                    <a:lstStyle/>
                    <a:p>
                      <a:pPr marL="0" indent="0">
                        <a:buNone/>
                      </a:pPr>
                      <a:r>
                        <a:rPr lang="en-US" sz="1300" b="1" dirty="0">
                          <a:solidFill>
                            <a:srgbClr val="FFFFFF"/>
                          </a:solidFill>
                        </a:rPr>
                        <a:t>Property</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0000"/>
                    </a:solidFill>
                  </a:tcPr>
                </a:tc>
                <a:tc>
                  <a:txBody>
                    <a:bodyPr/>
                    <a:lstStyle/>
                    <a:p>
                      <a:pPr marL="0" indent="0">
                        <a:buNone/>
                      </a:pPr>
                      <a:r>
                        <a:rPr lang="en-US" sz="1300" b="1" dirty="0">
                          <a:solidFill>
                            <a:srgbClr val="FFFFFF"/>
                          </a:solidFill>
                        </a:rPr>
                        <a:t>Details</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502920">
                <a:tc>
                  <a:txBody>
                    <a:bodyPr/>
                    <a:lstStyle/>
                    <a:p>
                      <a:pPr marL="0" indent="0">
                        <a:buNone/>
                      </a:pPr>
                      <a:r>
                        <a:rPr lang="en-US" sz="1300" b="1" dirty="0">
                          <a:solidFill>
                            <a:srgbClr val="000000"/>
                          </a:solidFill>
                        </a:rPr>
                        <a:t>Dataset name</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Air Quality Data in India (CPCB) + Open-Meteo weather</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502920">
                <a:tc>
                  <a:txBody>
                    <a:bodyPr/>
                    <a:lstStyle/>
                    <a:p>
                      <a:pPr marL="0" indent="0">
                        <a:buNone/>
                      </a:pPr>
                      <a:r>
                        <a:rPr lang="en-US" sz="1300" b="1" dirty="0">
                          <a:solidFill>
                            <a:srgbClr val="000000"/>
                          </a:solidFill>
                        </a:rPr>
                        <a:t>Source / link</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kaggle.com/datasets/rohanrao/air-quality-data-in-india; open-meteo.com (ERA5)</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502920">
                <a:tc>
                  <a:txBody>
                    <a:bodyPr/>
                    <a:lstStyle/>
                    <a:p>
                      <a:pPr marL="0" indent="0">
                        <a:buNone/>
                      </a:pPr>
                      <a:r>
                        <a:rPr lang="en-US" sz="1300" b="1" dirty="0">
                          <a:solidFill>
                            <a:srgbClr val="000000"/>
                          </a:solidFill>
                        </a:rPr>
                        <a:t>Size</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29,531 city-days × 16 cols; 108,035 station-days; 52,234 weather days</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502920">
                <a:tc>
                  <a:txBody>
                    <a:bodyPr/>
                    <a:lstStyle/>
                    <a:p>
                      <a:pPr marL="0" indent="0">
                        <a:buNone/>
                      </a:pPr>
                      <a:r>
                        <a:rPr lang="en-US" sz="1300" b="1" dirty="0">
                          <a:solidFill>
                            <a:srgbClr val="000000"/>
                          </a:solidFill>
                        </a:rPr>
                        <a:t>Time period</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1 January 2015 to 1 July 2020</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502920">
                <a:tc>
                  <a:txBody>
                    <a:bodyPr/>
                    <a:lstStyle/>
                    <a:p>
                      <a:pPr marL="0" indent="0">
                        <a:buNone/>
                      </a:pPr>
                      <a:r>
                        <a:rPr lang="en-US" sz="1300" b="1" dirty="0">
                          <a:solidFill>
                            <a:srgbClr val="000000"/>
                          </a:solidFill>
                        </a:rPr>
                        <a:t>Format</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CSV (Kaggle) + JSON API (weather)</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r h="502920">
                <a:tc>
                  <a:txBody>
                    <a:bodyPr/>
                    <a:lstStyle/>
                    <a:p>
                      <a:pPr marL="0" indent="0">
                        <a:buNone/>
                      </a:pPr>
                      <a:r>
                        <a:rPr lang="en-US" sz="1300" b="1" dirty="0">
                          <a:solidFill>
                            <a:srgbClr val="000000"/>
                          </a:solidFill>
                        </a:rPr>
                        <a:t>Domain</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Environment and public health</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4" name="Rationale card"/>
          <p:cNvSpPr/>
          <p:nvPr/>
        </p:nvSpPr>
        <p:spPr>
          <a:xfrm>
            <a:off x="6766560" y="1554480"/>
            <a:ext cx="4846320" cy="4480560"/>
          </a:xfrm>
          <a:prstGeom prst="rect">
            <a:avLst/>
          </a:prstGeom>
          <a:solidFill>
            <a:schemeClr val="bg2"/>
          </a:solidFill>
          <a:ln w="12700">
            <a:solidFill>
              <a:schemeClr val="bg2"/>
            </a:solidFill>
            <a:prstDash val="solid"/>
          </a:ln>
        </p:spPr>
      </p:sp>
      <p:sp>
        <p:nvSpPr>
          <p:cNvPr id="5" name="Rationale accent"/>
          <p:cNvSpPr/>
          <p:nvPr/>
        </p:nvSpPr>
        <p:spPr>
          <a:xfrm>
            <a:off x="6766560" y="1554480"/>
            <a:ext cx="4846320" cy="73152"/>
          </a:xfrm>
          <a:prstGeom prst="rect">
            <a:avLst/>
          </a:prstGeom>
          <a:solidFill>
            <a:schemeClr val="accent1"/>
          </a:solidFill>
          <a:ln w="12700">
            <a:solidFill>
              <a:schemeClr val="accent1"/>
            </a:solidFill>
            <a:prstDash val="solid"/>
          </a:ln>
        </p:spPr>
      </p:sp>
      <p:sp>
        <p:nvSpPr>
          <p:cNvPr id="6" name="Rationale head"/>
          <p:cNvSpPr txBox="1"/>
          <p:nvPr/>
        </p:nvSpPr>
        <p:spPr>
          <a:xfrm>
            <a:off x="6949440" y="1783080"/>
            <a:ext cx="4480560" cy="365760"/>
          </a:xfrm>
          <a:prstGeom prst="rect">
            <a:avLst/>
          </a:prstGeom>
          <a:noFill/>
          <a:ln/>
        </p:spPr>
        <p:txBody>
          <a:bodyPr wrap="square" lIns="0" tIns="0" rIns="0" bIns="0" rtlCol="0" anchor="ctr"/>
          <a:lstStyle/>
          <a:p>
            <a:pPr marL="0" indent="0">
              <a:buNone/>
            </a:pPr>
            <a:r>
              <a:rPr lang="en-US" sz="1600" b="1" dirty="0">
                <a:solidFill>
                  <a:schemeClr val="tx2"/>
                </a:solidFill>
              </a:rPr>
              <a:t>Why this dataset?</a:t>
            </a:r>
            <a:endParaRPr lang="en-US" sz="1600" dirty="0"/>
          </a:p>
        </p:txBody>
      </p:sp>
      <p:sp>
        <p:nvSpPr>
          <p:cNvPr id="7" name="Rationale body"/>
          <p:cNvSpPr txBox="1"/>
          <p:nvPr/>
        </p:nvSpPr>
        <p:spPr>
          <a:xfrm>
            <a:off x="6949440" y="2286000"/>
            <a:ext cx="4480560" cy="35661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Air pollution is one of India's biggest health risks. Which cities, seasons, weather and events cause bad-air days?</a:t>
            </a:r>
            <a:endParaRPr lang="en-US" sz="1300" dirty="0"/>
          </a:p>
          <a:p>
            <a:pPr marL="342900" indent="-342900">
              <a:spcAft>
                <a:spcPts val="600"/>
              </a:spcAft>
              <a:buSzPct val="100000"/>
              <a:buChar char="•"/>
            </a:pPr>
            <a:r>
              <a:rPr lang="en-US" sz="1300" dirty="0">
                <a:solidFill>
                  <a:schemeClr val="tx1"/>
                </a:solidFill>
              </a:rPr>
              <a:t>Second source: daily weather for every city, including mixing height (how high smog can spread).</a:t>
            </a:r>
            <a:endParaRPr lang="en-US" sz="1300" dirty="0"/>
          </a:p>
          <a:p>
            <a:pPr marL="342900" indent="-342900">
              <a:spcAft>
                <a:spcPts val="600"/>
              </a:spcAft>
              <a:buSzPct val="100000"/>
              <a:buChar char="•"/>
            </a:pPr>
            <a:r>
              <a:rPr lang="en-US" sz="1300" dirty="0">
                <a:solidFill>
                  <a:schemeClr val="tx1"/>
                </a:solidFill>
              </a:rPr>
              <a:t>Station-level file (110 stations) gives a drill-down below city level.</a:t>
            </a:r>
            <a:endParaRPr lang="en-US" sz="1300" dirty="0"/>
          </a:p>
          <a:p>
            <a:pPr marL="342900" indent="-342900">
              <a:spcAft>
                <a:spcPts val="600"/>
              </a:spcAft>
              <a:buSzPct val="100000"/>
              <a:buChar char="•"/>
            </a:pPr>
            <a:r>
              <a:rPr lang="en-US" sz="1300" dirty="0">
                <a:solidFill>
                  <a:schemeClr val="tx1"/>
                </a:solidFill>
              </a:rPr>
              <a:t>Natural experiments: the 2020 COVID lockdown and Diwali firecracker rules.</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a:spLocks noGrp="1"/>
          </p:cNvSpPr>
          <p:nvPr>
            <p:ph type="title" idx="102" hasCustomPrompt="1"/>
          </p:nvPr>
        </p:nvSpPr>
        <p:spPr>
          <a:xfrm>
            <a:off x="822960" y="411480"/>
            <a:ext cx="10789920" cy="777240"/>
          </a:xfrm>
          <a:prstGeom prst="rect">
            <a:avLst/>
          </a:prstGeom>
          <a:noFill/>
          <a:ln/>
        </p:spPr>
        <p:txBody>
          <a:bodyPr wrap="square" rtlCol="0" anchor="ctr"/>
          <a:lstStyle/>
          <a:p>
            <a:pPr marL="0" indent="0">
              <a:buNone/>
            </a:pPr>
            <a:r>
              <a:rPr lang="en-US" sz="2800" b="1" dirty="0">
                <a:solidFill>
                  <a:schemeClr val="tx2"/>
                </a:solidFill>
              </a:rPr>
              <a:t>Data Quality Findings</a:t>
            </a:r>
            <a:endParaRPr lang="en-US" sz="2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852160" cy="3520440"/>
        </p:xfrm>
        <a:graphic>
          <a:graphicData uri="http://schemas.openxmlformats.org/drawingml/2006/table">
            <a:tbl>
              <a:tblPr/>
              <a:tblGrid>
                <a:gridCol w="201168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tblGrid>
              <a:tr h="502920">
                <a:tc>
                  <a:txBody>
                    <a:bodyPr/>
                    <a:lstStyle/>
                    <a:p>
                      <a:pPr marL="0" indent="0">
                        <a:buNone/>
                      </a:pPr>
                      <a:r>
                        <a:rPr lang="en-US" sz="1300" b="1" dirty="0">
                          <a:solidFill>
                            <a:srgbClr val="FFFFFF"/>
                          </a:solidFill>
                        </a:rPr>
                        <a:t>Check</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0000"/>
                    </a:solidFill>
                  </a:tcPr>
                </a:tc>
                <a:tc>
                  <a:txBody>
                    <a:bodyPr/>
                    <a:lstStyle/>
                    <a:p>
                      <a:pPr marL="0" indent="0">
                        <a:buNone/>
                      </a:pPr>
                      <a:r>
                        <a:rPr lang="en-US" sz="1300" b="1" dirty="0">
                          <a:solidFill>
                            <a:srgbClr val="FFFFFF"/>
                          </a:solidFill>
                        </a:rPr>
                        <a:t>Finding</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502920">
                <a:tc>
                  <a:txBody>
                    <a:bodyPr/>
                    <a:lstStyle/>
                    <a:p>
                      <a:pPr marL="0" indent="0">
                        <a:buNone/>
                      </a:pPr>
                      <a:r>
                        <a:rPr lang="en-US" sz="1300" b="1" dirty="0">
                          <a:solidFill>
                            <a:srgbClr val="000000"/>
                          </a:solidFill>
                        </a:rPr>
                        <a:t>Missing values</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Xylene 61%, PM10 38%, NH3 35%, PM2.5 16%, AQI 16%</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502920">
                <a:tc>
                  <a:txBody>
                    <a:bodyPr/>
                    <a:lstStyle/>
                    <a:p>
                      <a:pPr marL="0" indent="0">
                        <a:buNone/>
                      </a:pPr>
                      <a:r>
                        <a:rPr lang="en-US" sz="1300" b="1" dirty="0">
                          <a:solidFill>
                            <a:srgbClr val="000000"/>
                          </a:solidFill>
                        </a:rPr>
                        <a:t>Coverage</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Only 9 of 26 cities start in 2015; 8 start in 2019–20</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502920">
                <a:tc>
                  <a:txBody>
                    <a:bodyPr/>
                    <a:lstStyle/>
                    <a:p>
                      <a:pPr marL="0" indent="0">
                        <a:buNone/>
                      </a:pPr>
                      <a:r>
                        <a:rPr lang="en-US" sz="1300" b="1" dirty="0">
                          <a:solidFill>
                            <a:srgbClr val="000000"/>
                          </a:solidFill>
                        </a:rPr>
                        <a:t>Duplicates, negatives</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None: 0 duplicate city-days, 0 negative readings</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502920">
                <a:tc>
                  <a:txBody>
                    <a:bodyPr/>
                    <a:lstStyle/>
                    <a:p>
                      <a:pPr marL="0" indent="0">
                        <a:buNone/>
                      </a:pPr>
                      <a:r>
                        <a:rPr lang="en-US" sz="1300" b="1" dirty="0">
                          <a:solidFill>
                            <a:srgbClr val="000000"/>
                          </a:solidFill>
                        </a:rPr>
                        <a:t>AQI above scale</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543 days (1.8%) above the scale maximum of 500</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502920">
                <a:tc>
                  <a:txBody>
                    <a:bodyPr/>
                    <a:lstStyle/>
                    <a:p>
                      <a:pPr marL="0" indent="0">
                        <a:buNone/>
                      </a:pPr>
                      <a:r>
                        <a:rPr lang="en-US" sz="1300" b="1" dirty="0">
                          <a:solidFill>
                            <a:srgbClr val="000000"/>
                          </a:solidFill>
                        </a:rPr>
                        <a:t>Sensor fault</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Ahmedabad CO median 16 mg/m³ vs about 1 elsewhere</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r h="502920">
                <a:tc>
                  <a:txBody>
                    <a:bodyPr/>
                    <a:lstStyle/>
                    <a:p>
                      <a:pPr marL="0" indent="0">
                        <a:buNone/>
                      </a:pPr>
                      <a:r>
                        <a:rPr lang="en-US" sz="1300" b="1" dirty="0">
                          <a:solidFill>
                            <a:srgbClr val="000000"/>
                          </a:solidFill>
                        </a:rPr>
                        <a:t>Weather source</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Complete: 0% missing across 52,234 city-days</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4" name="Rationale card"/>
          <p:cNvSpPr/>
          <p:nvPr/>
        </p:nvSpPr>
        <p:spPr>
          <a:xfrm>
            <a:off x="6766560" y="1554480"/>
            <a:ext cx="4846320" cy="4480560"/>
          </a:xfrm>
          <a:prstGeom prst="rect">
            <a:avLst/>
          </a:prstGeom>
          <a:solidFill>
            <a:schemeClr val="bg2"/>
          </a:solidFill>
          <a:ln w="12700">
            <a:solidFill>
              <a:schemeClr val="bg2"/>
            </a:solidFill>
            <a:prstDash val="solid"/>
          </a:ln>
        </p:spPr>
      </p:sp>
      <p:sp>
        <p:nvSpPr>
          <p:cNvPr id="5" name="Rationale accent"/>
          <p:cNvSpPr/>
          <p:nvPr/>
        </p:nvSpPr>
        <p:spPr>
          <a:xfrm>
            <a:off x="6766560" y="1554480"/>
            <a:ext cx="4846320" cy="73152"/>
          </a:xfrm>
          <a:prstGeom prst="rect">
            <a:avLst/>
          </a:prstGeom>
          <a:solidFill>
            <a:schemeClr val="accent1"/>
          </a:solidFill>
          <a:ln w="12700">
            <a:solidFill>
              <a:schemeClr val="accent1"/>
            </a:solidFill>
            <a:prstDash val="solid"/>
          </a:ln>
        </p:spPr>
      </p:sp>
      <p:sp>
        <p:nvSpPr>
          <p:cNvPr id="6" name="Rationale head"/>
          <p:cNvSpPr txBox="1"/>
          <p:nvPr/>
        </p:nvSpPr>
        <p:spPr>
          <a:xfrm>
            <a:off x="6949440" y="1783080"/>
            <a:ext cx="4480560" cy="365760"/>
          </a:xfrm>
          <a:prstGeom prst="rect">
            <a:avLst/>
          </a:prstGeom>
          <a:noFill/>
          <a:ln/>
        </p:spPr>
        <p:txBody>
          <a:bodyPr wrap="square" lIns="0" tIns="0" rIns="0" bIns="0" rtlCol="0" anchor="ctr"/>
          <a:lstStyle/>
          <a:p>
            <a:pPr marL="0" indent="0">
              <a:buNone/>
            </a:pPr>
            <a:r>
              <a:rPr lang="en-US" sz="1600" b="1" dirty="0">
                <a:solidFill>
                  <a:schemeClr val="tx2"/>
                </a:solidFill>
              </a:rPr>
              <a:t>How the ETL handles it</a:t>
            </a:r>
            <a:endParaRPr lang="en-US" sz="1600" dirty="0"/>
          </a:p>
        </p:txBody>
      </p:sp>
      <p:sp>
        <p:nvSpPr>
          <p:cNvPr id="7" name="Rationale body"/>
          <p:cNvSpPr txBox="1"/>
          <p:nvPr/>
        </p:nvSpPr>
        <p:spPr>
          <a:xfrm>
            <a:off x="6949440" y="2286000"/>
            <a:ext cx="4480560" cy="35661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Missing readings stay NULL in the warehouse. Median imputation happens only inside the models.</a:t>
            </a:r>
            <a:endParaRPr lang="en-US" sz="1300" dirty="0"/>
          </a:p>
          <a:p>
            <a:pPr marL="342900" indent="-342900">
              <a:spcAft>
                <a:spcPts val="600"/>
              </a:spcAft>
              <a:buSzPct val="100000"/>
              <a:buChar char="•"/>
            </a:pPr>
            <a:r>
              <a:rPr lang="en-US" sz="1300" dirty="0">
                <a:solidFill>
                  <a:schemeClr val="tx1"/>
                </a:solidFill>
              </a:rPr>
              <a:t>Ahmedabad's faulty CO: 915 days flagged by a general rule (city CO above 3× the cross-city norm), not deleted.</a:t>
            </a:r>
            <a:endParaRPr lang="en-US" sz="1300" dirty="0"/>
          </a:p>
          <a:p>
            <a:pPr marL="342900" indent="-342900">
              <a:spcAft>
                <a:spcPts val="600"/>
              </a:spcAft>
              <a:buSzPct val="100000"/>
              <a:buChar char="•"/>
            </a:pPr>
            <a:r>
              <a:rPr lang="en-US" sz="1300" dirty="0">
                <a:solidFill>
                  <a:schemeClr val="tx1"/>
                </a:solidFill>
              </a:rPr>
              <a:t>AQI capped at 500, the top of the CPCB scale.</a:t>
            </a:r>
            <a:endParaRPr lang="en-US" sz="1300" dirty="0"/>
          </a:p>
          <a:p>
            <a:pPr marL="342900" indent="-342900">
              <a:spcAft>
                <a:spcPts val="600"/>
              </a:spcAft>
              <a:buSzPct val="100000"/>
              <a:buChar char="•"/>
            </a:pPr>
            <a:r>
              <a:rPr lang="en-US" sz="1300" dirty="0">
                <a:solidFill>
                  <a:schemeClr val="tx1"/>
                </a:solidFill>
              </a:rPr>
              <a:t>Forecasts use only cities with enough history; the code reports which ones.</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a:spLocks noGrp="1"/>
          </p:cNvSpPr>
          <p:nvPr>
            <p:ph type="title" idx="102" hasCustomPrompt="1"/>
          </p:nvPr>
        </p:nvSpPr>
        <p:spPr>
          <a:xfrm>
            <a:off x="822960" y="411480"/>
            <a:ext cx="10789920" cy="777240"/>
          </a:xfrm>
          <a:prstGeom prst="rect">
            <a:avLst/>
          </a:prstGeom>
          <a:noFill/>
          <a:ln/>
        </p:spPr>
        <p:txBody>
          <a:bodyPr wrap="square" rtlCol="0" anchor="ctr"/>
          <a:lstStyle/>
          <a:p>
            <a:pPr marL="0" indent="0">
              <a:buNone/>
            </a:pPr>
            <a:r>
              <a:rPr lang="en-US" sz="2800" b="1" dirty="0">
                <a:solidFill>
                  <a:schemeClr val="tx2"/>
                </a:solidFill>
              </a:rPr>
              <a:t>Attribute Summary</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3803904"/>
        </p:xfrm>
        <a:graphic>
          <a:graphicData uri="http://schemas.openxmlformats.org/drawingml/2006/table">
            <a:tbl>
              <a:tblPr/>
              <a:tblGrid>
                <a:gridCol w="25603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475488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tblGrid>
              <a:tr h="475488">
                <a:tc>
                  <a:txBody>
                    <a:bodyPr/>
                    <a:lstStyle/>
                    <a:p>
                      <a:pPr marL="0" indent="0">
                        <a:buNone/>
                      </a:pPr>
                      <a:r>
                        <a:rPr lang="en-US" sz="1300" b="1" dirty="0">
                          <a:solidFill>
                            <a:srgbClr val="FFFFFF"/>
                          </a:solidFill>
                        </a:rPr>
                        <a:t>Attribute</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0000"/>
                    </a:solidFill>
                  </a:tcPr>
                </a:tc>
                <a:tc>
                  <a:txBody>
                    <a:bodyPr/>
                    <a:lstStyle/>
                    <a:p>
                      <a:pPr marL="0" indent="0">
                        <a:buNone/>
                      </a:pPr>
                      <a:r>
                        <a:rPr lang="en-US" sz="1300" b="1" dirty="0">
                          <a:solidFill>
                            <a:srgbClr val="FFFFFF"/>
                          </a:solidFill>
                        </a:rPr>
                        <a:t>Type</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0000"/>
                    </a:solidFill>
                  </a:tcPr>
                </a:tc>
                <a:tc>
                  <a:txBody>
                    <a:bodyPr/>
                    <a:lstStyle/>
                    <a:p>
                      <a:pPr marL="0" indent="0">
                        <a:buNone/>
                      </a:pPr>
                      <a:r>
                        <a:rPr lang="en-US" sz="1300" b="1" dirty="0">
                          <a:solidFill>
                            <a:srgbClr val="FFFFFF"/>
                          </a:solidFill>
                        </a:rPr>
                        <a:t>Description</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0000"/>
                    </a:solidFill>
                  </a:tcPr>
                </a:tc>
                <a:tc>
                  <a:txBody>
                    <a:bodyPr/>
                    <a:lstStyle/>
                    <a:p>
                      <a:pPr marL="0" indent="0">
                        <a:buNone/>
                      </a:pPr>
                      <a:r>
                        <a:rPr lang="en-US" sz="1300" b="1" dirty="0">
                          <a:solidFill>
                            <a:srgbClr val="FFFFFF"/>
                          </a:solidFill>
                        </a:rPr>
                        <a:t>Role in DW</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475488">
                <a:tc>
                  <a:txBody>
                    <a:bodyPr/>
                    <a:lstStyle/>
                    <a:p>
                      <a:pPr marL="0" indent="0">
                        <a:buNone/>
                      </a:pPr>
                      <a:r>
                        <a:rPr lang="en-US" sz="1300" dirty="0">
                          <a:solidFill>
                            <a:srgbClr val="000000"/>
                          </a:solidFill>
                        </a:rPr>
                        <a:t>City, Date</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Text / Date</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City name and day; together they identify a row</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Key</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buNone/>
                      </a:pPr>
                      <a:r>
                        <a:rPr lang="en-US" sz="1300" dirty="0">
                          <a:solidFill>
                            <a:srgbClr val="000000"/>
                          </a:solidFill>
                        </a:rPr>
                        <a:t>StationId</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Text</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Monitoring station (110 used), for drill-down</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Dimension</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buNone/>
                      </a:pPr>
                      <a:r>
                        <a:rPr lang="en-US" sz="1300" dirty="0">
                          <a:solidFill>
                            <a:srgbClr val="000000"/>
                          </a:solidFill>
                        </a:rPr>
                        <a:t>PM2.5, PM10</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Decimal</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Fine and coarse particulate matter (µg/m³)</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Measure</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buNone/>
                      </a:pPr>
                      <a:r>
                        <a:rPr lang="en-US" sz="1300" dirty="0">
                          <a:solidFill>
                            <a:srgbClr val="000000"/>
                          </a:solidFill>
                        </a:rPr>
                        <a:t>NO, NO2, NOx, NH3, SO2, O3, CO</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Decimal</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Gases (µg/m³; CO in mg/m³)</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Measure</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475488">
                <a:tc>
                  <a:txBody>
                    <a:bodyPr/>
                    <a:lstStyle/>
                    <a:p>
                      <a:pPr marL="0" indent="0">
                        <a:buNone/>
                      </a:pPr>
                      <a:r>
                        <a:rPr lang="en-US" sz="1300" dirty="0">
                          <a:solidFill>
                            <a:srgbClr val="000000"/>
                          </a:solidFill>
                        </a:rPr>
                        <a:t>Benzene, Toluene, Xylene</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Decimal</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Volatile organic compounds (µg/m³)</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Measure</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r h="475488">
                <a:tc>
                  <a:txBody>
                    <a:bodyPr/>
                    <a:lstStyle/>
                    <a:p>
                      <a:pPr marL="0" indent="0">
                        <a:buNone/>
                      </a:pPr>
                      <a:r>
                        <a:rPr lang="en-US" sz="1300" dirty="0">
                          <a:solidFill>
                            <a:srgbClr val="000000"/>
                          </a:solidFill>
                        </a:rPr>
                        <a:t>AQI, AQI_Bucket</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Decimal / Category</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National AQI and CPCB bucket, Good to Severe</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Measure / Dimension</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6"/>
                  </a:ext>
                </a:extLst>
              </a:tr>
              <a:tr h="475488">
                <a:tc>
                  <a:txBody>
                    <a:bodyPr/>
                    <a:lstStyle/>
                    <a:p>
                      <a:pPr marL="0" indent="0">
                        <a:buNone/>
                      </a:pPr>
                      <a:r>
                        <a:rPr lang="en-US" sz="1300" dirty="0">
                          <a:solidFill>
                            <a:srgbClr val="000000"/>
                          </a:solidFill>
                        </a:rPr>
                        <a:t>Weather (Open-Meteo)</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Decimal</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Temperature, humidity, rain, wind, mixing height</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Measure</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3" name="Hint"/>
          <p:cNvSpPr txBox="1"/>
          <p:nvPr/>
        </p:nvSpPr>
        <p:spPr>
          <a:xfrm>
            <a:off x="548640" y="5669280"/>
            <a:ext cx="11064240" cy="365760"/>
          </a:xfrm>
          <a:prstGeom prst="rect">
            <a:avLst/>
          </a:prstGeom>
          <a:noFill/>
          <a:ln/>
        </p:spPr>
        <p:txBody>
          <a:bodyPr wrap="square" lIns="0" tIns="0" rIns="0" bIns="0" rtlCol="0" anchor="ctr"/>
          <a:lstStyle/>
          <a:p>
            <a:pPr marL="0" indent="0">
              <a:buNone/>
            </a:pPr>
            <a:r>
              <a:rPr lang="en-US" sz="1200" i="1" dirty="0">
                <a:solidFill>
                  <a:schemeClr val="accent6"/>
                </a:solidFill>
              </a:rPr>
              <a:t>Derived in ETL: state, region and coordinates (city lookup), season, event (Diwali, stubble burning, lockdown), weather condition bands and a quality flag.</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3</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a:spLocks noGrp="1"/>
          </p:cNvSpPr>
          <p:nvPr>
            <p:ph type="title" idx="102" hasCustomPrompt="1"/>
          </p:nvPr>
        </p:nvSpPr>
        <p:spPr>
          <a:xfrm>
            <a:off x="822960" y="411480"/>
            <a:ext cx="10789920" cy="777240"/>
          </a:xfrm>
          <a:prstGeom prst="rect">
            <a:avLst/>
          </a:prstGeom>
          <a:noFill/>
          <a:ln/>
        </p:spPr>
        <p:txBody>
          <a:bodyPr wrap="square" rtlCol="0" anchor="ctr"/>
          <a:lstStyle/>
          <a:p>
            <a:pPr marL="0" indent="0">
              <a:buNone/>
            </a:pPr>
            <a:r>
              <a:rPr lang="en-US" sz="2800" b="1" dirty="0">
                <a:solidFill>
                  <a:schemeClr val="tx2"/>
                </a:solidFill>
              </a:rPr>
              <a:t>Data Warehouse: Fact Constellation</a:t>
            </a:r>
            <a:endParaRPr lang="en-US" sz="28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4</a:t>
            </a:fld>
            <a:endParaRPr lang="en-US"/>
          </a:p>
        </p:txBody>
      </p:sp>
      <p:cxnSp>
        <p:nvCxnSpPr>
          <p:cNvPr id="26" name="Connector 25"/>
          <p:cNvCxnSpPr/>
          <p:nvPr/>
        </p:nvCxnSpPr>
        <p:spPr>
          <a:xfrm flipH="1">
            <a:off x="1783080" y="2377439"/>
            <a:ext cx="4315968" cy="777241"/>
          </a:xfrm>
          <a:prstGeom prst="line">
            <a:avLst/>
          </a:prstGeom>
          <a:ln w="1905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099048" y="2377439"/>
            <a:ext cx="0" cy="777241"/>
          </a:xfrm>
          <a:prstGeom prst="line">
            <a:avLst/>
          </a:prstGeom>
          <a:ln w="1905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099048" y="2377439"/>
            <a:ext cx="4279392" cy="777241"/>
          </a:xfrm>
          <a:prstGeom prst="line">
            <a:avLst/>
          </a:prstGeom>
          <a:ln w="1905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611880" y="2377439"/>
            <a:ext cx="2487168" cy="777241"/>
          </a:xfrm>
          <a:prstGeom prst="line">
            <a:avLst/>
          </a:prstGeom>
          <a:ln w="1905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6099048" y="2377439"/>
            <a:ext cx="2496312" cy="777241"/>
          </a:xfrm>
          <a:prstGeom prst="line">
            <a:avLst/>
          </a:prstGeom>
          <a:ln w="1905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1783080" y="4297680"/>
            <a:ext cx="1874520" cy="822960"/>
          </a:xfrm>
          <a:prstGeom prst="line">
            <a:avLst/>
          </a:prstGeom>
          <a:ln w="1905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657600" y="4297680"/>
            <a:ext cx="2441448" cy="822960"/>
          </a:xfrm>
          <a:prstGeom prst="line">
            <a:avLst/>
          </a:prstGeom>
          <a:ln w="1905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6099048" y="4297680"/>
            <a:ext cx="1216152" cy="822960"/>
          </a:xfrm>
          <a:prstGeom prst="line">
            <a:avLst/>
          </a:prstGeom>
          <a:ln w="1905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7315200" y="4297680"/>
            <a:ext cx="3063240" cy="822960"/>
          </a:xfrm>
          <a:prstGeom prst="line">
            <a:avLst/>
          </a:prstGeom>
          <a:ln w="1905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0378440" y="4297680"/>
            <a:ext cx="0" cy="822960"/>
          </a:xfrm>
          <a:prstGeom prst="line">
            <a:avLst/>
          </a:prstGeom>
          <a:ln w="19050">
            <a:solidFill>
              <a:srgbClr val="595959"/>
            </a:solidFill>
          </a:ln>
        </p:spPr>
        <p:style>
          <a:lnRef idx="2">
            <a:schemeClr val="accent1"/>
          </a:lnRef>
          <a:fillRef idx="0">
            <a:schemeClr val="accent1"/>
          </a:fillRef>
          <a:effectRef idx="1">
            <a:schemeClr val="accent1"/>
          </a:effectRef>
          <a:fontRef idx="minor">
            <a:schemeClr val="tx1"/>
          </a:fontRef>
        </p:style>
      </p:cxnSp>
      <p:sp>
        <p:nvSpPr>
          <p:cNvPr id="7" name="Fact weather"/>
          <p:cNvSpPr/>
          <p:nvPr/>
        </p:nvSpPr>
        <p:spPr>
          <a:xfrm>
            <a:off x="548639" y="3154680"/>
            <a:ext cx="2468880" cy="1143000"/>
          </a:xfrm>
          <a:prstGeom prst="roundRect">
            <a:avLst>
              <a:gd name="adj" fmla="val 4211"/>
            </a:avLst>
          </a:prstGeom>
          <a:solidFill>
            <a:schemeClr val="tx2"/>
          </a:solidFill>
          <a:ln w="12700">
            <a:solidFill>
              <a:schemeClr val="tx2"/>
            </a:solidFill>
            <a:prstDash val="solid"/>
          </a:ln>
        </p:spPr>
      </p:sp>
      <p:sp>
        <p:nvSpPr>
          <p:cNvPr id="8" name="Fact weather text"/>
          <p:cNvSpPr txBox="1"/>
          <p:nvPr/>
        </p:nvSpPr>
        <p:spPr>
          <a:xfrm>
            <a:off x="621791" y="3154680"/>
            <a:ext cx="2322576" cy="1143000"/>
          </a:xfrm>
          <a:prstGeom prst="rect">
            <a:avLst/>
          </a:prstGeom>
          <a:noFill/>
          <a:ln/>
        </p:spPr>
        <p:txBody>
          <a:bodyPr wrap="square" lIns="0" tIns="0" rIns="0" bIns="0" rtlCol="0" anchor="ctr"/>
          <a:lstStyle/>
          <a:p>
            <a:pPr marL="0" indent="0" algn="ctr">
              <a:buNone/>
            </a:pPr>
            <a:r>
              <a:rPr lang="en-US" sz="1600" b="1" dirty="0">
                <a:solidFill>
                  <a:schemeClr val="bg1"/>
                </a:solidFill>
              </a:rPr>
              <a:t>FACT_Weather</a:t>
            </a:r>
            <a:endParaRPr lang="en-US" sz="1400" dirty="0"/>
          </a:p>
          <a:p>
            <a:pPr marL="0" indent="0" algn="ctr">
              <a:buNone/>
            </a:pPr>
            <a:r>
              <a:rPr lang="en-US" sz="1200" dirty="0">
                <a:solidFill>
                  <a:schemeClr val="bg1"/>
                </a:solidFill>
              </a:rPr>
              <a:t>city + date (PK)</a:t>
            </a:r>
            <a:endParaRPr lang="en-US" sz="1400" dirty="0"/>
          </a:p>
          <a:p>
            <a:pPr marL="0" indent="0" algn="ctr">
              <a:buNone/>
            </a:pPr>
            <a:r>
              <a:rPr lang="en-US" sz="1200" dirty="0">
                <a:solidFill>
                  <a:schemeClr val="bg1"/>
                </a:solidFill>
              </a:rPr>
              <a:t>temp, rain, wind, mixing ht</a:t>
            </a:r>
            <a:endParaRPr lang="en-US" sz="1400" dirty="0"/>
          </a:p>
        </p:txBody>
      </p:sp>
      <p:sp>
        <p:nvSpPr>
          <p:cNvPr id="7" name="Fact aq"/>
          <p:cNvSpPr/>
          <p:nvPr/>
        </p:nvSpPr>
        <p:spPr>
          <a:xfrm>
            <a:off x="4864608" y="3154680"/>
            <a:ext cx="2468880" cy="1143000"/>
          </a:xfrm>
          <a:prstGeom prst="roundRect">
            <a:avLst>
              <a:gd name="adj" fmla="val 4211"/>
            </a:avLst>
          </a:prstGeom>
          <a:solidFill>
            <a:schemeClr val="tx2"/>
          </a:solidFill>
          <a:ln w="12700">
            <a:solidFill>
              <a:schemeClr val="tx2"/>
            </a:solidFill>
            <a:prstDash val="solid"/>
          </a:ln>
        </p:spPr>
      </p:sp>
      <p:sp>
        <p:nvSpPr>
          <p:cNvPr id="8" name="Fact aq text"/>
          <p:cNvSpPr txBox="1"/>
          <p:nvPr/>
        </p:nvSpPr>
        <p:spPr>
          <a:xfrm>
            <a:off x="4937760" y="3154680"/>
            <a:ext cx="2322576" cy="1143000"/>
          </a:xfrm>
          <a:prstGeom prst="rect">
            <a:avLst/>
          </a:prstGeom>
          <a:noFill/>
          <a:ln/>
        </p:spPr>
        <p:txBody>
          <a:bodyPr wrap="square" lIns="0" tIns="0" rIns="0" bIns="0" rtlCol="0" anchor="ctr"/>
          <a:lstStyle/>
          <a:p>
            <a:pPr marL="0" indent="0" algn="ctr">
              <a:buNone/>
            </a:pPr>
            <a:r>
              <a:rPr lang="en-US" sz="1600" b="1" dirty="0">
                <a:solidFill>
                  <a:schemeClr val="bg1"/>
                </a:solidFill>
              </a:rPr>
              <a:t>FACT_AirQuality</a:t>
            </a:r>
            <a:endParaRPr lang="en-US" sz="1400" dirty="0"/>
          </a:p>
          <a:p>
            <a:pPr marL="0" indent="0" algn="ctr">
              <a:buNone/>
            </a:pPr>
            <a:r>
              <a:rPr lang="en-US" sz="1200" dirty="0">
                <a:solidFill>
                  <a:schemeClr val="bg1"/>
                </a:solidFill>
              </a:rPr>
              <a:t>city + date (PK), 4 FKs</a:t>
            </a:r>
            <a:endParaRPr lang="en-US" sz="1400" dirty="0"/>
          </a:p>
          <a:p>
            <a:pPr marL="0" indent="0" algn="ctr">
              <a:buNone/>
            </a:pPr>
            <a:r>
              <a:rPr lang="en-US" sz="1200" dirty="0">
                <a:solidFill>
                  <a:schemeClr val="bg1"/>
                </a:solidFill>
              </a:rPr>
              <a:t>12 pollutants, AQI, flag</a:t>
            </a:r>
            <a:endParaRPr lang="en-US" sz="1400" dirty="0"/>
          </a:p>
        </p:txBody>
      </p:sp>
      <p:sp>
        <p:nvSpPr>
          <p:cNvPr id="7" name="Fact station"/>
          <p:cNvSpPr/>
          <p:nvPr/>
        </p:nvSpPr>
        <p:spPr>
          <a:xfrm>
            <a:off x="9144000" y="3154680"/>
            <a:ext cx="2468880" cy="1143000"/>
          </a:xfrm>
          <a:prstGeom prst="roundRect">
            <a:avLst>
              <a:gd name="adj" fmla="val 4211"/>
            </a:avLst>
          </a:prstGeom>
          <a:solidFill>
            <a:schemeClr val="tx2"/>
          </a:solidFill>
          <a:ln w="12700">
            <a:solidFill>
              <a:schemeClr val="tx2"/>
            </a:solidFill>
            <a:prstDash val="solid"/>
          </a:ln>
        </p:spPr>
      </p:sp>
      <p:sp>
        <p:nvSpPr>
          <p:cNvPr id="8" name="Fact station text"/>
          <p:cNvSpPr txBox="1"/>
          <p:nvPr/>
        </p:nvSpPr>
        <p:spPr>
          <a:xfrm>
            <a:off x="9217152" y="3154680"/>
            <a:ext cx="2322576" cy="1143000"/>
          </a:xfrm>
          <a:prstGeom prst="rect">
            <a:avLst/>
          </a:prstGeom>
          <a:noFill/>
          <a:ln/>
        </p:spPr>
        <p:txBody>
          <a:bodyPr wrap="square" lIns="0" tIns="0" rIns="0" bIns="0" rtlCol="0" anchor="ctr"/>
          <a:lstStyle/>
          <a:p>
            <a:pPr marL="0" indent="0" algn="ctr">
              <a:buNone/>
            </a:pPr>
            <a:r>
              <a:rPr lang="en-US" sz="1600" b="1" dirty="0">
                <a:solidFill>
                  <a:schemeClr val="bg1"/>
                </a:solidFill>
              </a:rPr>
              <a:t>FACT_StationAQ</a:t>
            </a:r>
            <a:endParaRPr lang="en-US" sz="1400" dirty="0"/>
          </a:p>
          <a:p>
            <a:pPr marL="0" indent="0" algn="ctr">
              <a:buNone/>
            </a:pPr>
            <a:r>
              <a:rPr lang="en-US" sz="1200" dirty="0">
                <a:solidFill>
                  <a:schemeClr val="bg1"/>
                </a:solidFill>
              </a:rPr>
              <a:t>station + date (PK)</a:t>
            </a:r>
            <a:endParaRPr lang="en-US" sz="1400" dirty="0"/>
          </a:p>
          <a:p>
            <a:pPr marL="0" indent="0" algn="ctr">
              <a:buNone/>
            </a:pPr>
            <a:r>
              <a:rPr lang="en-US" sz="1200" dirty="0">
                <a:solidFill>
                  <a:schemeClr val="bg1"/>
                </a:solidFill>
              </a:rPr>
              <a:t>PM2.5, PM10, NO2, AQI</a:t>
            </a:r>
            <a:endParaRPr lang="en-US" sz="1400" dirty="0"/>
          </a:p>
        </p:txBody>
      </p:sp>
      <p:sp>
        <p:nvSpPr>
          <p:cNvPr id="9" name="Dim date"/>
          <p:cNvSpPr/>
          <p:nvPr/>
        </p:nvSpPr>
        <p:spPr>
          <a:xfrm>
            <a:off x="5001768" y="1508760"/>
            <a:ext cx="2194560" cy="868680"/>
          </a:xfrm>
          <a:prstGeom prst="roundRect">
            <a:avLst>
              <a:gd name="adj" fmla="val 6154"/>
            </a:avLst>
          </a:prstGeom>
          <a:solidFill>
            <a:schemeClr val="accent1"/>
          </a:solidFill>
          <a:ln w="12700">
            <a:solidFill>
              <a:schemeClr val="accent1"/>
            </a:solidFill>
            <a:prstDash val="solid"/>
          </a:ln>
        </p:spPr>
      </p:sp>
      <p:sp>
        <p:nvSpPr>
          <p:cNvPr id="10" name="Dim date text"/>
          <p:cNvSpPr txBox="1"/>
          <p:nvPr/>
        </p:nvSpPr>
        <p:spPr>
          <a:xfrm>
            <a:off x="5074920" y="1508760"/>
            <a:ext cx="2048255" cy="868680"/>
          </a:xfrm>
          <a:prstGeom prst="rect">
            <a:avLst/>
          </a:prstGeom>
          <a:noFill/>
          <a:ln/>
        </p:spPr>
        <p:txBody>
          <a:bodyPr wrap="square" lIns="0" tIns="0" rIns="0" bIns="0" rtlCol="0" anchor="ctr"/>
          <a:lstStyle/>
          <a:p>
            <a:pPr marL="0" indent="0" algn="ctr">
              <a:buNone/>
            </a:pPr>
            <a:r>
              <a:rPr lang="en-US" sz="1600" b="1" dirty="0">
                <a:solidFill>
                  <a:schemeClr val="bg1"/>
                </a:solidFill>
              </a:rPr>
              <a:t>DIM_Date (conformed)</a:t>
            </a:r>
            <a:endParaRPr lang="en-US" sz="1400" dirty="0"/>
          </a:p>
          <a:p>
            <a:pPr marL="0" indent="0" algn="ctr">
              <a:buNone/>
            </a:pPr>
            <a:r>
              <a:rPr lang="en-US" sz="1200" dirty="0">
                <a:solidFill>
                  <a:schemeClr val="bg1"/>
                </a:solidFill>
              </a:rPr>
              <a:t>day, month, season, year</a:t>
            </a:r>
            <a:endParaRPr lang="en-US" sz="1400" dirty="0"/>
          </a:p>
        </p:txBody>
      </p:sp>
      <p:sp>
        <p:nvSpPr>
          <p:cNvPr id="9" name="Dim city"/>
          <p:cNvSpPr/>
          <p:nvPr/>
        </p:nvSpPr>
        <p:spPr>
          <a:xfrm>
            <a:off x="2560320" y="5120640"/>
            <a:ext cx="2194560" cy="868680"/>
          </a:xfrm>
          <a:prstGeom prst="roundRect">
            <a:avLst>
              <a:gd name="adj" fmla="val 6154"/>
            </a:avLst>
          </a:prstGeom>
          <a:solidFill>
            <a:schemeClr val="accent1"/>
          </a:solidFill>
          <a:ln w="12700">
            <a:solidFill>
              <a:schemeClr val="accent1"/>
            </a:solidFill>
            <a:prstDash val="solid"/>
          </a:ln>
        </p:spPr>
      </p:sp>
      <p:sp>
        <p:nvSpPr>
          <p:cNvPr id="10" name="Dim city text"/>
          <p:cNvSpPr txBox="1"/>
          <p:nvPr/>
        </p:nvSpPr>
        <p:spPr>
          <a:xfrm>
            <a:off x="2633472" y="5120640"/>
            <a:ext cx="2048255" cy="868680"/>
          </a:xfrm>
          <a:prstGeom prst="rect">
            <a:avLst/>
          </a:prstGeom>
          <a:noFill/>
          <a:ln/>
        </p:spPr>
        <p:txBody>
          <a:bodyPr wrap="square" lIns="0" tIns="0" rIns="0" bIns="0" rtlCol="0" anchor="ctr"/>
          <a:lstStyle/>
          <a:p>
            <a:pPr marL="0" indent="0" algn="ctr">
              <a:buNone/>
            </a:pPr>
            <a:r>
              <a:rPr lang="en-US" sz="1600" b="1" dirty="0">
                <a:solidFill>
                  <a:schemeClr val="bg1"/>
                </a:solidFill>
              </a:rPr>
              <a:t>DIM_City (conformed)</a:t>
            </a:r>
            <a:endParaRPr lang="en-US" sz="1400" dirty="0"/>
          </a:p>
          <a:p>
            <a:pPr marL="0" indent="0" algn="ctr">
              <a:buNone/>
            </a:pPr>
            <a:r>
              <a:rPr lang="en-US" sz="1200" dirty="0">
                <a:solidFill>
                  <a:schemeClr val="bg1"/>
                </a:solidFill>
              </a:rPr>
              <a:t>city, state, region, lat/long</a:t>
            </a:r>
            <a:endParaRPr lang="en-US" sz="1400" dirty="0"/>
          </a:p>
        </p:txBody>
      </p:sp>
      <p:sp>
        <p:nvSpPr>
          <p:cNvPr id="13" name="Dim event"/>
          <p:cNvSpPr/>
          <p:nvPr/>
        </p:nvSpPr>
        <p:spPr>
          <a:xfrm>
            <a:off x="2514600" y="1508760"/>
            <a:ext cx="2194560" cy="868680"/>
          </a:xfrm>
          <a:prstGeom prst="roundRect">
            <a:avLst>
              <a:gd name="adj" fmla="val 6154"/>
            </a:avLst>
          </a:prstGeom>
          <a:solidFill>
            <a:schemeClr val="accent4"/>
          </a:solidFill>
          <a:ln w="12700">
            <a:solidFill>
              <a:schemeClr val="accent4"/>
            </a:solidFill>
            <a:prstDash val="solid"/>
          </a:ln>
        </p:spPr>
      </p:sp>
      <p:sp>
        <p:nvSpPr>
          <p:cNvPr id="14" name="Dim event text"/>
          <p:cNvSpPr txBox="1"/>
          <p:nvPr/>
        </p:nvSpPr>
        <p:spPr>
          <a:xfrm>
            <a:off x="2587752" y="1508760"/>
            <a:ext cx="2048255" cy="868680"/>
          </a:xfrm>
          <a:prstGeom prst="rect">
            <a:avLst/>
          </a:prstGeom>
          <a:noFill/>
          <a:ln/>
        </p:spPr>
        <p:txBody>
          <a:bodyPr wrap="square" lIns="0" tIns="0" rIns="0" bIns="0" rtlCol="0" anchor="ctr"/>
          <a:lstStyle/>
          <a:p>
            <a:pPr marL="0" indent="0" algn="ctr">
              <a:buNone/>
            </a:pPr>
            <a:r>
              <a:rPr lang="en-US" sz="1600" b="1" dirty="0">
                <a:solidFill>
                  <a:schemeClr val="bg1"/>
                </a:solidFill>
              </a:rPr>
              <a:t>DIM_Event</a:t>
            </a:r>
            <a:endParaRPr lang="en-US" sz="1400" dirty="0"/>
          </a:p>
          <a:p>
            <a:pPr marL="0" indent="0" algn="ctr">
              <a:buNone/>
            </a:pPr>
            <a:r>
              <a:rPr lang="en-US" sz="1200" dirty="0">
                <a:solidFill>
                  <a:schemeClr val="bg1"/>
                </a:solidFill>
              </a:rPr>
              <a:t>Diwali, stubble, lockdown</a:t>
            </a:r>
            <a:endParaRPr lang="en-US" sz="1400" dirty="0"/>
          </a:p>
        </p:txBody>
      </p:sp>
      <p:sp>
        <p:nvSpPr>
          <p:cNvPr id="13" name="Dim wcond"/>
          <p:cNvSpPr/>
          <p:nvPr/>
        </p:nvSpPr>
        <p:spPr>
          <a:xfrm>
            <a:off x="7498080" y="1508760"/>
            <a:ext cx="2194560" cy="868680"/>
          </a:xfrm>
          <a:prstGeom prst="roundRect">
            <a:avLst>
              <a:gd name="adj" fmla="val 6154"/>
            </a:avLst>
          </a:prstGeom>
          <a:solidFill>
            <a:schemeClr val="accent4"/>
          </a:solidFill>
          <a:ln w="12700">
            <a:solidFill>
              <a:schemeClr val="accent4"/>
            </a:solidFill>
            <a:prstDash val="solid"/>
          </a:ln>
        </p:spPr>
      </p:sp>
      <p:sp>
        <p:nvSpPr>
          <p:cNvPr id="14" name="Dim wcond text"/>
          <p:cNvSpPr txBox="1"/>
          <p:nvPr/>
        </p:nvSpPr>
        <p:spPr>
          <a:xfrm>
            <a:off x="7571232" y="1508760"/>
            <a:ext cx="2048255" cy="868680"/>
          </a:xfrm>
          <a:prstGeom prst="rect">
            <a:avLst/>
          </a:prstGeom>
          <a:noFill/>
          <a:ln/>
        </p:spPr>
        <p:txBody>
          <a:bodyPr wrap="square" lIns="0" tIns="0" rIns="0" bIns="0" rtlCol="0" anchor="ctr"/>
          <a:lstStyle/>
          <a:p>
            <a:pPr marL="0" indent="0" algn="ctr">
              <a:buNone/>
            </a:pPr>
            <a:r>
              <a:rPr lang="en-US" sz="1600" b="1" dirty="0">
                <a:solidFill>
                  <a:schemeClr val="bg1"/>
                </a:solidFill>
              </a:rPr>
              <a:t>DIM_WeatherCondition</a:t>
            </a:r>
            <a:endParaRPr lang="en-US" sz="1400" dirty="0"/>
          </a:p>
          <a:p>
            <a:pPr marL="0" indent="0" algn="ctr">
              <a:buNone/>
            </a:pPr>
            <a:r>
              <a:rPr lang="en-US" sz="1200" dirty="0">
                <a:solidFill>
                  <a:schemeClr val="bg1"/>
                </a:solidFill>
              </a:rPr>
              <a:t>wind, rain, temp, mixing</a:t>
            </a:r>
            <a:endParaRPr lang="en-US" sz="1400" dirty="0"/>
          </a:p>
        </p:txBody>
      </p:sp>
      <p:sp>
        <p:nvSpPr>
          <p:cNvPr id="13" name="Dim aqi"/>
          <p:cNvSpPr/>
          <p:nvPr/>
        </p:nvSpPr>
        <p:spPr>
          <a:xfrm>
            <a:off x="6217920" y="5120640"/>
            <a:ext cx="2194560" cy="868680"/>
          </a:xfrm>
          <a:prstGeom prst="roundRect">
            <a:avLst>
              <a:gd name="adj" fmla="val 6154"/>
            </a:avLst>
          </a:prstGeom>
          <a:solidFill>
            <a:schemeClr val="accent4"/>
          </a:solidFill>
          <a:ln w="12700">
            <a:solidFill>
              <a:schemeClr val="accent4"/>
            </a:solidFill>
            <a:prstDash val="solid"/>
          </a:ln>
        </p:spPr>
      </p:sp>
      <p:sp>
        <p:nvSpPr>
          <p:cNvPr id="14" name="Dim aqi text"/>
          <p:cNvSpPr txBox="1"/>
          <p:nvPr/>
        </p:nvSpPr>
        <p:spPr>
          <a:xfrm>
            <a:off x="6291072" y="5120640"/>
            <a:ext cx="2048255" cy="868680"/>
          </a:xfrm>
          <a:prstGeom prst="rect">
            <a:avLst/>
          </a:prstGeom>
          <a:noFill/>
          <a:ln/>
        </p:spPr>
        <p:txBody>
          <a:bodyPr wrap="square" lIns="0" tIns="0" rIns="0" bIns="0" rtlCol="0" anchor="ctr"/>
          <a:lstStyle/>
          <a:p>
            <a:pPr marL="0" indent="0" algn="ctr">
              <a:buNone/>
            </a:pPr>
            <a:r>
              <a:rPr lang="en-US" sz="1600" b="1" dirty="0">
                <a:solidFill>
                  <a:schemeClr val="bg1"/>
                </a:solidFill>
              </a:rPr>
              <a:t>DIM_AQI_Category</a:t>
            </a:r>
            <a:endParaRPr lang="en-US" sz="1400" dirty="0"/>
          </a:p>
          <a:p>
            <a:pPr marL="0" indent="0" algn="ctr">
              <a:buNone/>
            </a:pPr>
            <a:r>
              <a:rPr lang="en-US" sz="1200" dirty="0">
                <a:solidFill>
                  <a:schemeClr val="bg1"/>
                </a:solidFill>
              </a:rPr>
              <a:t>bucket, health group</a:t>
            </a:r>
            <a:endParaRPr lang="en-US" sz="1400" dirty="0"/>
          </a:p>
        </p:txBody>
      </p:sp>
      <p:sp>
        <p:nvSpPr>
          <p:cNvPr id="13" name="Dim station"/>
          <p:cNvSpPr/>
          <p:nvPr/>
        </p:nvSpPr>
        <p:spPr>
          <a:xfrm>
            <a:off x="9281160" y="5120640"/>
            <a:ext cx="2194560" cy="868680"/>
          </a:xfrm>
          <a:prstGeom prst="roundRect">
            <a:avLst>
              <a:gd name="adj" fmla="val 6154"/>
            </a:avLst>
          </a:prstGeom>
          <a:solidFill>
            <a:schemeClr val="accent4"/>
          </a:solidFill>
          <a:ln w="12700">
            <a:solidFill>
              <a:schemeClr val="accent4"/>
            </a:solidFill>
            <a:prstDash val="solid"/>
          </a:ln>
        </p:spPr>
      </p:sp>
      <p:sp>
        <p:nvSpPr>
          <p:cNvPr id="14" name="Dim station text"/>
          <p:cNvSpPr txBox="1"/>
          <p:nvPr/>
        </p:nvSpPr>
        <p:spPr>
          <a:xfrm>
            <a:off x="9354312" y="5120640"/>
            <a:ext cx="2048255" cy="868680"/>
          </a:xfrm>
          <a:prstGeom prst="rect">
            <a:avLst/>
          </a:prstGeom>
          <a:noFill/>
          <a:ln/>
        </p:spPr>
        <p:txBody>
          <a:bodyPr wrap="square" lIns="0" tIns="0" rIns="0" bIns="0" rtlCol="0" anchor="ctr"/>
          <a:lstStyle/>
          <a:p>
            <a:pPr marL="0" indent="0" algn="ctr">
              <a:buNone/>
            </a:pPr>
            <a:r>
              <a:rPr lang="en-US" sz="1600" b="1" dirty="0">
                <a:solidFill>
                  <a:schemeClr val="bg1"/>
                </a:solidFill>
              </a:rPr>
              <a:t>DIM_Station</a:t>
            </a:r>
            <a:endParaRPr lang="en-US" sz="1400" dirty="0"/>
          </a:p>
          <a:p>
            <a:pPr marL="0" indent="0" algn="ctr">
              <a:buNone/>
            </a:pPr>
            <a:r>
              <a:rPr lang="en-US" sz="1200" dirty="0">
                <a:solidFill>
                  <a:schemeClr val="bg1"/>
                </a:solidFill>
              </a:rPr>
              <a:t>name, city_key (FK)</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a:spLocks noGrp="1"/>
          </p:cNvSpPr>
          <p:nvPr>
            <p:ph type="title" idx="102" hasCustomPrompt="1"/>
          </p:nvPr>
        </p:nvSpPr>
        <p:spPr>
          <a:xfrm>
            <a:off x="822960" y="411480"/>
            <a:ext cx="10789920" cy="777240"/>
          </a:xfrm>
          <a:prstGeom prst="rect">
            <a:avLst/>
          </a:prstGeom>
          <a:noFill/>
          <a:ln/>
        </p:spPr>
        <p:txBody>
          <a:bodyPr wrap="square" rtlCol="0" anchor="ctr"/>
          <a:lstStyle/>
          <a:p>
            <a:pPr marL="0" indent="0">
              <a:buNone/>
            </a:pPr>
            <a:r>
              <a:rPr lang="en-US" sz="2800" b="1" dirty="0">
                <a:solidFill>
                  <a:schemeClr val="tx2"/>
                </a:solidFill>
              </a:rPr>
              <a:t>Warehouse Design &amp; ETL</a:t>
            </a:r>
            <a:endParaRPr lang="en-US" sz="2800" dirty="0"/>
          </a:p>
        </p:txBody>
      </p:sp>
      <p:sp>
        <p:nvSpPr>
          <p:cNvPr id="3" name="Fact card"/>
          <p:cNvSpPr/>
          <p:nvPr/>
        </p:nvSpPr>
        <p:spPr>
          <a:xfrm>
            <a:off x="548640" y="1554480"/>
            <a:ext cx="3566160" cy="4480560"/>
          </a:xfrm>
          <a:prstGeom prst="rect">
            <a:avLst/>
          </a:prstGeom>
          <a:solidFill>
            <a:schemeClr val="bg2"/>
          </a:solidFill>
          <a:ln w="12700">
            <a:solidFill>
              <a:schemeClr val="bg2"/>
            </a:solidFill>
            <a:prstDash val="solid"/>
          </a:ln>
        </p:spPr>
      </p:sp>
      <p:sp>
        <p:nvSpPr>
          <p:cNvPr id="4" name="Fact accent"/>
          <p:cNvSpPr/>
          <p:nvPr/>
        </p:nvSpPr>
        <p:spPr>
          <a:xfrm>
            <a:off x="548640" y="1554480"/>
            <a:ext cx="3566160" cy="73152"/>
          </a:xfrm>
          <a:prstGeom prst="rect">
            <a:avLst/>
          </a:prstGeom>
          <a:solidFill>
            <a:schemeClr val="tx2"/>
          </a:solidFill>
          <a:ln w="12700">
            <a:solidFill>
              <a:schemeClr val="tx2"/>
            </a:solidFill>
            <a:prstDash val="solid"/>
          </a:ln>
        </p:spPr>
      </p:sp>
      <p:sp>
        <p:nvSpPr>
          <p:cNvPr id="5" name="Fact head"/>
          <p:cNvSpPr txBox="1"/>
          <p:nvPr/>
        </p:nvSpPr>
        <p:spPr>
          <a:xfrm>
            <a:off x="731520" y="1783080"/>
            <a:ext cx="3200400" cy="365760"/>
          </a:xfrm>
          <a:prstGeom prst="rect">
            <a:avLst/>
          </a:prstGeom>
          <a:noFill/>
          <a:ln/>
        </p:spPr>
        <p:txBody>
          <a:bodyPr wrap="square" lIns="0" tIns="0" rIns="0" bIns="0" rtlCol="0" anchor="ctr"/>
          <a:lstStyle/>
          <a:p>
            <a:pPr marL="0" indent="0">
              <a:buNone/>
            </a:pPr>
            <a:r>
              <a:rPr lang="en-US" sz="1600" b="1" dirty="0">
                <a:solidFill>
                  <a:schemeClr val="tx2"/>
                </a:solidFill>
              </a:rPr>
              <a:t>Fact Tables</a:t>
            </a:r>
            <a:endParaRPr lang="en-US" sz="1600" dirty="0"/>
          </a:p>
        </p:txBody>
      </p:sp>
      <p:sp>
        <p:nvSpPr>
          <p:cNvPr id="6" name="Fact body"/>
          <p:cNvSpPr txBox="1"/>
          <p:nvPr/>
        </p:nvSpPr>
        <p:spPr>
          <a:xfrm>
            <a:off x="731520" y="2286000"/>
            <a:ext cx="3200400" cy="35661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fact_air_quality: city × day; 12 pollutants, AQI, quality flag.</a:t>
            </a:r>
            <a:endParaRPr lang="en-US" sz="1300" dirty="0"/>
          </a:p>
          <a:p>
            <a:pPr marL="342900" indent="-342900">
              <a:spcAft>
                <a:spcPts val="600"/>
              </a:spcAft>
              <a:buSzPct val="100000"/>
              <a:buChar char="•"/>
            </a:pPr>
            <a:r>
              <a:rPr lang="en-US" sz="1300" dirty="0">
                <a:solidFill>
                  <a:schemeClr val="tx1"/>
                </a:solidFill>
              </a:rPr>
              <a:t>fact_station_air_quality: station × day.</a:t>
            </a:r>
            <a:endParaRPr lang="en-US" sz="1300" dirty="0"/>
          </a:p>
          <a:p>
            <a:pPr marL="342900" indent="-342900">
              <a:spcAft>
                <a:spcPts val="600"/>
              </a:spcAft>
              <a:buSzPct val="100000"/>
              <a:buChar char="•"/>
            </a:pPr>
            <a:r>
              <a:rPr lang="en-US" sz="1300" dirty="0">
                <a:solidFill>
                  <a:schemeClr val="tx1"/>
                </a:solidFill>
              </a:rPr>
              <a:t>fact_weather: city × day; temperature, humidity, rain, wind, mixing height.</a:t>
            </a:r>
            <a:endParaRPr lang="en-US" sz="1300" dirty="0"/>
          </a:p>
          <a:p>
            <a:pPr marL="342900" indent="-342900">
              <a:spcAft>
                <a:spcPts val="600"/>
              </a:spcAft>
              <a:buSzPct val="100000"/>
              <a:buChar char="•"/>
            </a:pPr>
            <a:r>
              <a:rPr lang="en-US" sz="1300" dirty="0">
                <a:solidFill>
                  <a:schemeClr val="tx1"/>
                </a:solidFill>
              </a:rPr>
              <a:t>Concentrations are non-additive: AVG or MAX, never SUM.</a:t>
            </a:r>
            <a:endParaRPr lang="en-US" sz="1300" dirty="0"/>
          </a:p>
        </p:txBody>
      </p:sp>
      <p:sp>
        <p:nvSpPr>
          <p:cNvPr id="7" name="Dims card"/>
          <p:cNvSpPr/>
          <p:nvPr/>
        </p:nvSpPr>
        <p:spPr>
          <a:xfrm>
            <a:off x="4315968" y="1554480"/>
            <a:ext cx="3566160" cy="4480560"/>
          </a:xfrm>
          <a:prstGeom prst="rect">
            <a:avLst/>
          </a:prstGeom>
          <a:solidFill>
            <a:schemeClr val="bg2"/>
          </a:solidFill>
          <a:ln w="12700">
            <a:solidFill>
              <a:schemeClr val="bg2"/>
            </a:solidFill>
            <a:prstDash val="solid"/>
          </a:ln>
        </p:spPr>
      </p:sp>
      <p:sp>
        <p:nvSpPr>
          <p:cNvPr id="8" name="Dims accent"/>
          <p:cNvSpPr/>
          <p:nvPr/>
        </p:nvSpPr>
        <p:spPr>
          <a:xfrm>
            <a:off x="4315968" y="1554480"/>
            <a:ext cx="3566160" cy="73152"/>
          </a:xfrm>
          <a:prstGeom prst="rect">
            <a:avLst/>
          </a:prstGeom>
          <a:solidFill>
            <a:schemeClr val="accent1"/>
          </a:solidFill>
          <a:ln w="12700">
            <a:solidFill>
              <a:schemeClr val="accent1"/>
            </a:solidFill>
            <a:prstDash val="solid"/>
          </a:ln>
        </p:spPr>
      </p:sp>
      <p:sp>
        <p:nvSpPr>
          <p:cNvPr id="9" name="Dims head"/>
          <p:cNvSpPr txBox="1"/>
          <p:nvPr/>
        </p:nvSpPr>
        <p:spPr>
          <a:xfrm>
            <a:off x="4498848" y="1783080"/>
            <a:ext cx="3200400" cy="365760"/>
          </a:xfrm>
          <a:prstGeom prst="rect">
            <a:avLst/>
          </a:prstGeom>
          <a:noFill/>
          <a:ln/>
        </p:spPr>
        <p:txBody>
          <a:bodyPr wrap="square" lIns="0" tIns="0" rIns="0" bIns="0" rtlCol="0" anchor="ctr"/>
          <a:lstStyle/>
          <a:p>
            <a:pPr marL="0" indent="0">
              <a:buNone/>
            </a:pPr>
            <a:r>
              <a:rPr lang="en-US" sz="1600" b="1" dirty="0">
                <a:solidFill>
                  <a:schemeClr val="tx2"/>
                </a:solidFill>
              </a:rPr>
              <a:t>Dimensions &amp; Hierarchies</a:t>
            </a:r>
            <a:endParaRPr lang="en-US" sz="1600" dirty="0"/>
          </a:p>
        </p:txBody>
      </p:sp>
      <p:sp>
        <p:nvSpPr>
          <p:cNvPr id="10" name="Dims body"/>
          <p:cNvSpPr txBox="1"/>
          <p:nvPr/>
        </p:nvSpPr>
        <p:spPr>
          <a:xfrm>
            <a:off x="4498848" y="2286000"/>
            <a:ext cx="3200400" cy="35661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Time: Day → Month → Season → Year</a:t>
            </a:r>
            <a:endParaRPr lang="en-US" sz="1300" dirty="0"/>
          </a:p>
          <a:p>
            <a:pPr marL="342900" indent="-342900">
              <a:spcAft>
                <a:spcPts val="600"/>
              </a:spcAft>
              <a:buSzPct val="100000"/>
              <a:buChar char="•"/>
            </a:pPr>
            <a:r>
              <a:rPr lang="en-US" sz="1300" dirty="0">
                <a:solidFill>
                  <a:schemeClr val="tx1"/>
                </a:solidFill>
              </a:rPr>
              <a:t>Location: Station → City → State → Region</a:t>
            </a:r>
            <a:endParaRPr lang="en-US" sz="1300" dirty="0"/>
          </a:p>
          <a:p>
            <a:pPr marL="342900" indent="-342900">
              <a:spcAft>
                <a:spcPts val="600"/>
              </a:spcAft>
              <a:buSzPct val="100000"/>
              <a:buChar char="•"/>
            </a:pPr>
            <a:r>
              <a:rPr lang="en-US" sz="1300" dirty="0">
                <a:solidFill>
                  <a:schemeClr val="tx1"/>
                </a:solidFill>
              </a:rPr>
              <a:t>AQI: Value → Bucket → Healthy / Unhealthy</a:t>
            </a:r>
            <a:endParaRPr lang="en-US" sz="1300" dirty="0"/>
          </a:p>
          <a:p>
            <a:pPr marL="342900" indent="-342900">
              <a:spcAft>
                <a:spcPts val="600"/>
              </a:spcAft>
              <a:buSzPct val="100000"/>
              <a:buChar char="•"/>
            </a:pPr>
            <a:r>
              <a:rPr lang="en-US" sz="1300" dirty="0">
                <a:solidFill>
                  <a:schemeClr val="tx1"/>
                </a:solidFill>
              </a:rPr>
              <a:t>Weather condition: wind × rain × temperature × mixing band (54 combinations)</a:t>
            </a:r>
            <a:endParaRPr lang="en-US" sz="1300" dirty="0"/>
          </a:p>
          <a:p>
            <a:pPr marL="342900" indent="-342900">
              <a:spcAft>
                <a:spcPts val="600"/>
              </a:spcAft>
              <a:buSzPct val="100000"/>
              <a:buChar char="•"/>
            </a:pPr>
            <a:r>
              <a:rPr lang="en-US" sz="1300" dirty="0">
                <a:solidFill>
                  <a:schemeClr val="tx1"/>
                </a:solidFill>
              </a:rPr>
              <a:t>Event: Diwali, Stubble burning (North), COVID lockdown</a:t>
            </a:r>
            <a:endParaRPr lang="en-US" sz="1300" dirty="0"/>
          </a:p>
        </p:txBody>
      </p:sp>
      <p:sp>
        <p:nvSpPr>
          <p:cNvPr id="11" name="ETL card"/>
          <p:cNvSpPr/>
          <p:nvPr/>
        </p:nvSpPr>
        <p:spPr>
          <a:xfrm>
            <a:off x="8083296" y="1554480"/>
            <a:ext cx="3566160" cy="4480560"/>
          </a:xfrm>
          <a:prstGeom prst="rect">
            <a:avLst/>
          </a:prstGeom>
          <a:solidFill>
            <a:schemeClr val="bg2"/>
          </a:solidFill>
          <a:ln w="12700">
            <a:solidFill>
              <a:schemeClr val="bg2"/>
            </a:solidFill>
            <a:prstDash val="solid"/>
          </a:ln>
        </p:spPr>
      </p:sp>
      <p:sp>
        <p:nvSpPr>
          <p:cNvPr id="12" name="ETL accent"/>
          <p:cNvSpPr/>
          <p:nvPr/>
        </p:nvSpPr>
        <p:spPr>
          <a:xfrm>
            <a:off x="8083296" y="1554480"/>
            <a:ext cx="3566160" cy="73152"/>
          </a:xfrm>
          <a:prstGeom prst="rect">
            <a:avLst/>
          </a:prstGeom>
          <a:solidFill>
            <a:schemeClr val="accent2"/>
          </a:solidFill>
          <a:ln w="12700">
            <a:solidFill>
              <a:schemeClr val="accent2"/>
            </a:solidFill>
            <a:prstDash val="solid"/>
          </a:ln>
        </p:spPr>
      </p:sp>
      <p:sp>
        <p:nvSpPr>
          <p:cNvPr id="13" name="ETL head"/>
          <p:cNvSpPr txBox="1"/>
          <p:nvPr/>
        </p:nvSpPr>
        <p:spPr>
          <a:xfrm>
            <a:off x="8266176" y="1783080"/>
            <a:ext cx="3200400" cy="365760"/>
          </a:xfrm>
          <a:prstGeom prst="rect">
            <a:avLst/>
          </a:prstGeom>
          <a:noFill/>
          <a:ln/>
        </p:spPr>
        <p:txBody>
          <a:bodyPr wrap="square" lIns="0" tIns="0" rIns="0" bIns="0" rtlCol="0" anchor="ctr"/>
          <a:lstStyle/>
          <a:p>
            <a:pPr marL="0" indent="0">
              <a:buNone/>
            </a:pPr>
            <a:r>
              <a:rPr lang="en-US" sz="1600" b="1" dirty="0">
                <a:solidFill>
                  <a:schemeClr val="tx2"/>
                </a:solidFill>
              </a:rPr>
              <a:t>ETL &amp; Tools</a:t>
            </a:r>
            <a:endParaRPr lang="en-US" sz="1600" dirty="0"/>
          </a:p>
        </p:txBody>
      </p:sp>
      <p:sp>
        <p:nvSpPr>
          <p:cNvPr id="14" name="ETL body"/>
          <p:cNvSpPr txBox="1"/>
          <p:nvPr/>
        </p:nvSpPr>
        <p:spPr>
          <a:xfrm>
            <a:off x="8266176" y="2286000"/>
            <a:ext cx="3200400" cy="35661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Extract: 3 Kaggle CSVs + Open-Meteo API (26 calls, cached as CSV).</a:t>
            </a:r>
            <a:endParaRPr lang="en-US" sz="1300" dirty="0"/>
          </a:p>
          <a:p>
            <a:pPr marL="342900" indent="-342900">
              <a:spcAft>
                <a:spcPts val="600"/>
              </a:spcAft>
              <a:buSzPct val="100000"/>
              <a:buChar char="•"/>
            </a:pPr>
            <a:r>
              <a:rPr lang="en-US" sz="1300" dirty="0">
                <a:solidFill>
                  <a:schemeClr val="tx1"/>
                </a:solidFill>
              </a:rPr>
              <a:t>Transform: pandas; weather bands, event and AQI keys, quality flag.</a:t>
            </a:r>
            <a:endParaRPr lang="en-US" sz="1300" dirty="0"/>
          </a:p>
          <a:p>
            <a:pPr marL="342900" indent="-342900">
              <a:spcAft>
                <a:spcPts val="600"/>
              </a:spcAft>
              <a:buSzPct val="100000"/>
              <a:buChar char="•"/>
            </a:pPr>
            <a:r>
              <a:rPr lang="en-US" sz="1300" dirty="0">
                <a:solidFill>
                  <a:schemeClr val="tx1"/>
                </a:solidFill>
              </a:rPr>
              <a:t>Load: dimensions first, then 3 facts, into MySQL 8 or SQLite.</a:t>
            </a:r>
            <a:endParaRPr lang="en-US" sz="1300" dirty="0"/>
          </a:p>
          <a:p>
            <a:pPr marL="342900" indent="-342900">
              <a:spcAft>
                <a:spcPts val="600"/>
              </a:spcAft>
              <a:buSzPct val="100000"/>
              <a:buChar char="•"/>
            </a:pPr>
            <a:r>
              <a:rPr lang="en-US" sz="1300" dirty="0">
                <a:solidFill>
                  <a:schemeClr val="tx1"/>
                </a:solidFill>
              </a:rPr>
              <a:t>Tools: Python, SQLAlchemy, scikit-learn, mlxtend, statsmodels, SHAP, Streamlit.</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5</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a:spLocks noGrp="1"/>
          </p:cNvSpPr>
          <p:nvPr>
            <p:ph type="title" idx="102" hasCustomPrompt="1"/>
          </p:nvPr>
        </p:nvSpPr>
        <p:spPr>
          <a:xfrm>
            <a:off x="822960" y="411480"/>
            <a:ext cx="10789920" cy="777240"/>
          </a:xfrm>
          <a:prstGeom prst="rect">
            <a:avLst/>
          </a:prstGeom>
          <a:noFill/>
          <a:ln/>
        </p:spPr>
        <p:txBody>
          <a:bodyPr wrap="square" rtlCol="0" anchor="ctr"/>
          <a:lstStyle/>
          <a:p>
            <a:pPr marL="0" indent="0">
              <a:buNone/>
            </a:pPr>
            <a:r>
              <a:rPr lang="en-US" sz="2800" b="1" dirty="0">
                <a:solidFill>
                  <a:schemeClr val="tx2"/>
                </a:solidFill>
              </a:rPr>
              <a:t>Sample OLAP Operations</a:t>
            </a:r>
            <a:endParaRPr lang="en-US" sz="2800" dirty="0"/>
          </a:p>
        </p:txBody>
      </p:sp>
      <p:sp>
        <p:nvSpPr>
          <p:cNvPr id="3" name="Roll-up card"/>
          <p:cNvSpPr/>
          <p:nvPr/>
        </p:nvSpPr>
        <p:spPr>
          <a:xfrm>
            <a:off x="548640" y="1554480"/>
            <a:ext cx="2103120" cy="4480560"/>
          </a:xfrm>
          <a:prstGeom prst="rect">
            <a:avLst/>
          </a:prstGeom>
          <a:solidFill>
            <a:schemeClr val="bg2"/>
          </a:solidFill>
          <a:ln w="12700">
            <a:solidFill>
              <a:schemeClr val="bg2"/>
            </a:solidFill>
            <a:prstDash val="solid"/>
          </a:ln>
        </p:spPr>
      </p:sp>
      <p:sp>
        <p:nvSpPr>
          <p:cNvPr id="4" name="Roll-up header"/>
          <p:cNvSpPr/>
          <p:nvPr/>
        </p:nvSpPr>
        <p:spPr>
          <a:xfrm>
            <a:off x="548640" y="1554480"/>
            <a:ext cx="2103120" cy="548640"/>
          </a:xfrm>
          <a:prstGeom prst="rect">
            <a:avLst/>
          </a:prstGeom>
          <a:solidFill>
            <a:schemeClr val="accent1"/>
          </a:solidFill>
          <a:ln w="12700">
            <a:solidFill>
              <a:schemeClr val="accent1"/>
            </a:solidFill>
            <a:prstDash val="solid"/>
          </a:ln>
        </p:spPr>
      </p:sp>
      <p:sp>
        <p:nvSpPr>
          <p:cNvPr id="5" name="Roll-up title"/>
          <p:cNvSpPr txBox="1"/>
          <p:nvPr/>
        </p:nvSpPr>
        <p:spPr>
          <a:xfrm>
            <a:off x="548640" y="1554480"/>
            <a:ext cx="2103120" cy="548640"/>
          </a:xfrm>
          <a:prstGeom prst="rect">
            <a:avLst/>
          </a:prstGeom>
          <a:noFill/>
          <a:ln/>
        </p:spPr>
        <p:txBody>
          <a:bodyPr wrap="square" lIns="0" tIns="0" rIns="0" bIns="0" rtlCol="0" anchor="ctr"/>
          <a:lstStyle/>
          <a:p>
            <a:pPr marL="0" indent="0" algn="ctr">
              <a:buNone/>
            </a:pPr>
            <a:r>
              <a:rPr lang="en-US" sz="1600" b="1" dirty="0">
                <a:solidFill>
                  <a:schemeClr val="bg1"/>
                </a:solidFill>
              </a:rPr>
              <a:t>Roll-up</a:t>
            </a:r>
            <a:endParaRPr lang="en-US" sz="1600" dirty="0"/>
          </a:p>
        </p:txBody>
      </p:sp>
      <p:sp>
        <p:nvSpPr>
          <p:cNvPr id="6" name="Roll-up desc"/>
          <p:cNvSpPr txBox="1"/>
          <p:nvPr/>
        </p:nvSpPr>
        <p:spPr>
          <a:xfrm>
            <a:off x="685800" y="2240280"/>
            <a:ext cx="1828800" cy="1005840"/>
          </a:xfrm>
          <a:prstGeom prst="rect">
            <a:avLst/>
          </a:prstGeom>
          <a:noFill/>
          <a:ln/>
        </p:spPr>
        <p:txBody>
          <a:bodyPr wrap="square" lIns="0" tIns="0" rIns="0" bIns="0" rtlCol="0" anchor="t"/>
          <a:lstStyle/>
          <a:p>
            <a:pPr marL="0" indent="0">
              <a:buNone/>
            </a:pPr>
            <a:r>
              <a:rPr lang="en-US" sz="1200" dirty="0">
                <a:solidFill>
                  <a:schemeClr val="tx1"/>
                </a:solidFill>
              </a:rPr>
              <a:t>City → Region, yearly average PM2.5.</a:t>
            </a:r>
            <a:endParaRPr lang="en-US" sz="1200" dirty="0"/>
          </a:p>
        </p:txBody>
      </p:sp>
      <p:sp>
        <p:nvSpPr>
          <p:cNvPr id="7" name="Roll-up placeholder"/>
          <p:cNvSpPr txBox="1"/>
          <p:nvPr/>
        </p:nvSpPr>
        <p:spPr>
          <a:xfrm>
            <a:off x="685800" y="3337560"/>
            <a:ext cx="1828800" cy="2560320"/>
          </a:xfrm>
          <a:prstGeom prst="rect">
            <a:avLst/>
          </a:prstGeom>
          <a:noFill/>
          <a:ln/>
        </p:spPr>
        <p:txBody>
          <a:bodyPr wrap="square" lIns="0" tIns="0" rIns="0" bIns="0" rtlCol="0" anchor="t"/>
          <a:lstStyle/>
          <a:p>
            <a:pPr marL="0" indent="0">
              <a:buNone/>
            </a:pPr>
            <a:r>
              <a:rPr lang="en-US" sz="1200" b="1" dirty="0">
                <a:solidFill>
                  <a:schemeClr val="tx2"/>
                </a:solidFill>
              </a:rPr>
              <a:t>Query pattern</a:t>
            </a:r>
            <a:endParaRPr lang="en-US" sz="1200" dirty="0"/>
          </a:p>
          <a:p>
            <a:pPr marL="0" indent="0">
              <a:buNone/>
            </a:pPr>
            <a:r>
              <a:rPr lang="en-US" sz="1200" dirty="0">
                <a:solidFill>
                  <a:schemeClr val="accent6"/>
                </a:solidFill>
              </a:rPr>
              <a:t>GROUP BY c.region, d.year</a:t>
            </a:r>
            <a:endParaRPr lang="en-US" sz="1200" dirty="0"/>
          </a:p>
          <a:p>
            <a:pPr marL="0" indent="0">
              <a:buNone/>
            </a:pPr>
            <a:r>
              <a:rPr lang="en-US" sz="1200" dirty="0">
                <a:solidFill>
                  <a:schemeClr val="accent6"/>
                </a:solidFill>
              </a:rPr>
              <a:t xml:space="preserve"> </a:t>
            </a:r>
            <a:endParaRPr lang="en-US" sz="1200" dirty="0"/>
          </a:p>
          <a:p>
            <a:pPr marL="0" indent="0">
              <a:buNone/>
            </a:pPr>
            <a:r>
              <a:rPr lang="en-US" sz="1200" b="1" dirty="0">
                <a:solidFill>
                  <a:schemeClr val="tx2"/>
                </a:solidFill>
              </a:rPr>
              <a:t>Result</a:t>
            </a:r>
            <a:endParaRPr lang="en-US" sz="1200" dirty="0"/>
          </a:p>
          <a:p>
            <a:pPr marL="0" indent="0">
              <a:buNone/>
            </a:pPr>
            <a:r>
              <a:rPr lang="en-US" sz="1200" dirty="0">
                <a:solidFill>
                  <a:schemeClr val="accent6"/>
                </a:solidFill>
              </a:rPr>
              <a:t>North: 130 (2016) → 79 (2019) → 55 (2020)</a:t>
            </a:r>
            <a:endParaRPr lang="en-US" sz="1200" dirty="0"/>
          </a:p>
        </p:txBody>
      </p:sp>
      <p:sp>
        <p:nvSpPr>
          <p:cNvPr id="8" name="Drill-down card"/>
          <p:cNvSpPr/>
          <p:nvPr/>
        </p:nvSpPr>
        <p:spPr>
          <a:xfrm>
            <a:off x="2788920" y="1554480"/>
            <a:ext cx="2103120" cy="4480560"/>
          </a:xfrm>
          <a:prstGeom prst="rect">
            <a:avLst/>
          </a:prstGeom>
          <a:solidFill>
            <a:schemeClr val="bg2"/>
          </a:solidFill>
          <a:ln w="12700">
            <a:solidFill>
              <a:schemeClr val="bg2"/>
            </a:solidFill>
            <a:prstDash val="solid"/>
          </a:ln>
        </p:spPr>
      </p:sp>
      <p:sp>
        <p:nvSpPr>
          <p:cNvPr id="9" name="Drill-down header"/>
          <p:cNvSpPr/>
          <p:nvPr/>
        </p:nvSpPr>
        <p:spPr>
          <a:xfrm>
            <a:off x="2788920" y="1554480"/>
            <a:ext cx="2103120" cy="548640"/>
          </a:xfrm>
          <a:prstGeom prst="rect">
            <a:avLst/>
          </a:prstGeom>
          <a:solidFill>
            <a:schemeClr val="accent3"/>
          </a:solidFill>
          <a:ln w="12700">
            <a:solidFill>
              <a:schemeClr val="accent3"/>
            </a:solidFill>
            <a:prstDash val="solid"/>
          </a:ln>
        </p:spPr>
      </p:sp>
      <p:sp>
        <p:nvSpPr>
          <p:cNvPr id="10" name="Drill-down title"/>
          <p:cNvSpPr txBox="1"/>
          <p:nvPr/>
        </p:nvSpPr>
        <p:spPr>
          <a:xfrm>
            <a:off x="2788920" y="1554480"/>
            <a:ext cx="2103120" cy="548640"/>
          </a:xfrm>
          <a:prstGeom prst="rect">
            <a:avLst/>
          </a:prstGeom>
          <a:noFill/>
          <a:ln/>
        </p:spPr>
        <p:txBody>
          <a:bodyPr wrap="square" lIns="0" tIns="0" rIns="0" bIns="0" rtlCol="0" anchor="ctr"/>
          <a:lstStyle/>
          <a:p>
            <a:pPr marL="0" indent="0" algn="ctr">
              <a:buNone/>
            </a:pPr>
            <a:r>
              <a:rPr lang="en-US" sz="1600" b="1" dirty="0">
                <a:solidFill>
                  <a:schemeClr val="bg1"/>
                </a:solidFill>
              </a:rPr>
              <a:t>Drill-down</a:t>
            </a:r>
            <a:endParaRPr lang="en-US" sz="1600" dirty="0"/>
          </a:p>
        </p:txBody>
      </p:sp>
      <p:sp>
        <p:nvSpPr>
          <p:cNvPr id="11" name="Drill-down desc"/>
          <p:cNvSpPr txBox="1"/>
          <p:nvPr/>
        </p:nvSpPr>
        <p:spPr>
          <a:xfrm>
            <a:off x="2926080" y="2240280"/>
            <a:ext cx="1828800" cy="1005840"/>
          </a:xfrm>
          <a:prstGeom prst="rect">
            <a:avLst/>
          </a:prstGeom>
          <a:noFill/>
          <a:ln/>
        </p:spPr>
        <p:txBody>
          <a:bodyPr wrap="square" lIns="0" tIns="0" rIns="0" bIns="0" rtlCol="0" anchor="t"/>
          <a:lstStyle/>
          <a:p>
            <a:pPr marL="0" indent="0">
              <a:buNone/>
            </a:pPr>
            <a:r>
              <a:rPr lang="en-US" sz="1200" dirty="0">
                <a:solidFill>
                  <a:schemeClr val="tx1"/>
                </a:solidFill>
              </a:rPr>
              <a:t>Delhi 2019, Year → Month.</a:t>
            </a:r>
            <a:endParaRPr lang="en-US" sz="1200" dirty="0"/>
          </a:p>
        </p:txBody>
      </p:sp>
      <p:sp>
        <p:nvSpPr>
          <p:cNvPr id="12" name="Drill-down placeholder"/>
          <p:cNvSpPr txBox="1"/>
          <p:nvPr/>
        </p:nvSpPr>
        <p:spPr>
          <a:xfrm>
            <a:off x="2926080" y="3337560"/>
            <a:ext cx="1828800" cy="2560320"/>
          </a:xfrm>
          <a:prstGeom prst="rect">
            <a:avLst/>
          </a:prstGeom>
          <a:noFill/>
          <a:ln/>
        </p:spPr>
        <p:txBody>
          <a:bodyPr wrap="square" lIns="0" tIns="0" rIns="0" bIns="0" rtlCol="0" anchor="t"/>
          <a:lstStyle/>
          <a:p>
            <a:pPr marL="0" indent="0">
              <a:buNone/>
            </a:pPr>
            <a:r>
              <a:rPr lang="en-US" sz="1200" b="1" dirty="0">
                <a:solidFill>
                  <a:schemeClr val="tx2"/>
                </a:solidFill>
              </a:rPr>
              <a:t>Query pattern</a:t>
            </a:r>
            <a:endParaRPr lang="en-US" sz="1200" dirty="0"/>
          </a:p>
          <a:p>
            <a:pPr marL="0" indent="0">
              <a:buNone/>
            </a:pPr>
            <a:r>
              <a:rPr lang="en-US" sz="1200" dirty="0">
                <a:solidFill>
                  <a:schemeClr val="accent6"/>
                </a:solidFill>
              </a:rPr>
              <a:t>WHERE city = 'Delhi'</a:t>
            </a:r>
            <a:endParaRPr lang="en-US" sz="1200" dirty="0"/>
          </a:p>
          <a:p>
            <a:pPr marL="0" indent="0">
              <a:buNone/>
            </a:pPr>
            <a:r>
              <a:rPr lang="en-US" sz="1200" dirty="0">
                <a:solidFill>
                  <a:schemeClr val="accent6"/>
                </a:solidFill>
              </a:rPr>
              <a:t>AND year = 2019</a:t>
            </a:r>
            <a:endParaRPr lang="en-US" sz="1200" dirty="0"/>
          </a:p>
          <a:p>
            <a:pPr marL="0" indent="0">
              <a:buNone/>
            </a:pPr>
            <a:r>
              <a:rPr lang="en-US" sz="1200" dirty="0">
                <a:solidFill>
                  <a:schemeClr val="accent6"/>
                </a:solidFill>
              </a:rPr>
              <a:t>GROUP BY d.month</a:t>
            </a:r>
            <a:endParaRPr lang="en-US" sz="1200" dirty="0"/>
          </a:p>
          <a:p>
            <a:pPr marL="0" indent="0">
              <a:buNone/>
            </a:pPr>
            <a:r>
              <a:rPr lang="en-US" sz="1200" dirty="0">
                <a:solidFill>
                  <a:schemeClr val="accent6"/>
                </a:solidFill>
              </a:rPr>
              <a:t xml:space="preserve"> </a:t>
            </a:r>
            <a:endParaRPr lang="en-US" sz="1200" dirty="0"/>
          </a:p>
          <a:p>
            <a:pPr marL="0" indent="0">
              <a:buNone/>
            </a:pPr>
            <a:r>
              <a:rPr lang="en-US" sz="1200" b="1" dirty="0">
                <a:solidFill>
                  <a:schemeClr val="tx2"/>
                </a:solidFill>
              </a:rPr>
              <a:t>Result</a:t>
            </a:r>
            <a:endParaRPr lang="en-US" sz="1200" dirty="0"/>
          </a:p>
          <a:p>
            <a:pPr marL="0" indent="0">
              <a:buNone/>
            </a:pPr>
            <a:r>
              <a:rPr lang="en-US" sz="1200" dirty="0">
                <a:solidFill>
                  <a:schemeClr val="accent6"/>
                </a:solidFill>
              </a:rPr>
              <a:t>AQI 364 in Jan, 99 in Aug, 341 in Nov</a:t>
            </a:r>
            <a:endParaRPr lang="en-US" sz="1200" dirty="0"/>
          </a:p>
        </p:txBody>
      </p:sp>
      <p:sp>
        <p:nvSpPr>
          <p:cNvPr id="13" name="Slice card"/>
          <p:cNvSpPr/>
          <p:nvPr/>
        </p:nvSpPr>
        <p:spPr>
          <a:xfrm>
            <a:off x="5029200" y="1554480"/>
            <a:ext cx="2103120" cy="4480560"/>
          </a:xfrm>
          <a:prstGeom prst="rect">
            <a:avLst/>
          </a:prstGeom>
          <a:solidFill>
            <a:schemeClr val="bg2"/>
          </a:solidFill>
          <a:ln w="12700">
            <a:solidFill>
              <a:schemeClr val="bg2"/>
            </a:solidFill>
            <a:prstDash val="solid"/>
          </a:ln>
        </p:spPr>
      </p:sp>
      <p:sp>
        <p:nvSpPr>
          <p:cNvPr id="14" name="Slice header"/>
          <p:cNvSpPr/>
          <p:nvPr/>
        </p:nvSpPr>
        <p:spPr>
          <a:xfrm>
            <a:off x="5029200" y="1554480"/>
            <a:ext cx="2103120" cy="548640"/>
          </a:xfrm>
          <a:prstGeom prst="rect">
            <a:avLst/>
          </a:prstGeom>
          <a:solidFill>
            <a:schemeClr val="accent2"/>
          </a:solidFill>
          <a:ln w="12700">
            <a:solidFill>
              <a:schemeClr val="accent2"/>
            </a:solidFill>
            <a:prstDash val="solid"/>
          </a:ln>
        </p:spPr>
      </p:sp>
      <p:sp>
        <p:nvSpPr>
          <p:cNvPr id="15" name="Slice title"/>
          <p:cNvSpPr txBox="1"/>
          <p:nvPr/>
        </p:nvSpPr>
        <p:spPr>
          <a:xfrm>
            <a:off x="5029200" y="1554480"/>
            <a:ext cx="2103120" cy="548640"/>
          </a:xfrm>
          <a:prstGeom prst="rect">
            <a:avLst/>
          </a:prstGeom>
          <a:noFill/>
          <a:ln/>
        </p:spPr>
        <p:txBody>
          <a:bodyPr wrap="square" lIns="0" tIns="0" rIns="0" bIns="0" rtlCol="0" anchor="ctr"/>
          <a:lstStyle/>
          <a:p>
            <a:pPr marL="0" indent="0" algn="ctr">
              <a:buNone/>
            </a:pPr>
            <a:r>
              <a:rPr lang="en-US" sz="1600" b="1" dirty="0">
                <a:solidFill>
                  <a:schemeClr val="bg1"/>
                </a:solidFill>
              </a:rPr>
              <a:t>Slice</a:t>
            </a:r>
            <a:endParaRPr lang="en-US" sz="1600" dirty="0"/>
          </a:p>
        </p:txBody>
      </p:sp>
      <p:sp>
        <p:nvSpPr>
          <p:cNvPr id="16" name="Slice desc"/>
          <p:cNvSpPr txBox="1"/>
          <p:nvPr/>
        </p:nvSpPr>
        <p:spPr>
          <a:xfrm>
            <a:off x="5166360" y="2240280"/>
            <a:ext cx="1828800" cy="1005840"/>
          </a:xfrm>
          <a:prstGeom prst="rect">
            <a:avLst/>
          </a:prstGeom>
          <a:noFill/>
          <a:ln/>
        </p:spPr>
        <p:txBody>
          <a:bodyPr wrap="square" lIns="0" tIns="0" rIns="0" bIns="0" rtlCol="0" anchor="t"/>
          <a:lstStyle/>
          <a:p>
            <a:pPr marL="0" indent="0">
              <a:buNone/>
            </a:pPr>
            <a:r>
              <a:rPr lang="en-US" sz="1200" dirty="0">
                <a:solidFill>
                  <a:schemeClr val="tx1"/>
                </a:solidFill>
              </a:rPr>
              <a:t>Fix Season = Winter; AQI by city.</a:t>
            </a:r>
            <a:endParaRPr lang="en-US" sz="1200" dirty="0"/>
          </a:p>
        </p:txBody>
      </p:sp>
      <p:sp>
        <p:nvSpPr>
          <p:cNvPr id="17" name="Slice placeholder"/>
          <p:cNvSpPr txBox="1"/>
          <p:nvPr/>
        </p:nvSpPr>
        <p:spPr>
          <a:xfrm>
            <a:off x="5166360" y="3337560"/>
            <a:ext cx="1828800" cy="2560320"/>
          </a:xfrm>
          <a:prstGeom prst="rect">
            <a:avLst/>
          </a:prstGeom>
          <a:noFill/>
          <a:ln/>
        </p:spPr>
        <p:txBody>
          <a:bodyPr wrap="square" lIns="0" tIns="0" rIns="0" bIns="0" rtlCol="0" anchor="t"/>
          <a:lstStyle/>
          <a:p>
            <a:pPr marL="0" indent="0">
              <a:buNone/>
            </a:pPr>
            <a:r>
              <a:rPr lang="en-US" sz="1200" b="1" dirty="0">
                <a:solidFill>
                  <a:schemeClr val="tx2"/>
                </a:solidFill>
              </a:rPr>
              <a:t>Query pattern</a:t>
            </a:r>
            <a:endParaRPr lang="en-US" sz="1200" dirty="0"/>
          </a:p>
          <a:p>
            <a:pPr marL="0" indent="0">
              <a:buNone/>
            </a:pPr>
            <a:r>
              <a:rPr lang="en-US" sz="1200" dirty="0">
                <a:solidFill>
                  <a:schemeClr val="accent6"/>
                </a:solidFill>
              </a:rPr>
              <a:t>WHERE d.season = 'Winter'</a:t>
            </a:r>
            <a:endParaRPr lang="en-US" sz="1200" dirty="0"/>
          </a:p>
          <a:p>
            <a:pPr marL="0" indent="0">
              <a:buNone/>
            </a:pPr>
            <a:r>
              <a:rPr lang="en-US" sz="1200" dirty="0">
                <a:solidFill>
                  <a:schemeClr val="accent6"/>
                </a:solidFill>
              </a:rPr>
              <a:t>GROUP BY c.city</a:t>
            </a:r>
            <a:endParaRPr lang="en-US" sz="1200" dirty="0"/>
          </a:p>
          <a:p>
            <a:pPr marL="0" indent="0">
              <a:buNone/>
            </a:pPr>
            <a:r>
              <a:rPr lang="en-US" sz="1200" dirty="0">
                <a:solidFill>
                  <a:schemeClr val="accent6"/>
                </a:solidFill>
              </a:rPr>
              <a:t xml:space="preserve"> </a:t>
            </a:r>
            <a:endParaRPr lang="en-US" sz="1200" dirty="0"/>
          </a:p>
          <a:p>
            <a:pPr marL="0" indent="0">
              <a:buNone/>
            </a:pPr>
            <a:r>
              <a:rPr lang="en-US" sz="1200" b="1" dirty="0">
                <a:solidFill>
                  <a:schemeClr val="tx2"/>
                </a:solidFill>
              </a:rPr>
              <a:t>Result</a:t>
            </a:r>
            <a:endParaRPr lang="en-US" sz="1200" dirty="0"/>
          </a:p>
          <a:p>
            <a:pPr marL="0" indent="0">
              <a:buNone/>
            </a:pPr>
            <a:r>
              <a:rPr lang="en-US" sz="1200" dirty="0">
                <a:solidFill>
                  <a:schemeClr val="accent6"/>
                </a:solidFill>
              </a:rPr>
              <a:t>Delhi 330, Patna 328, Lucknow 307</a:t>
            </a:r>
            <a:endParaRPr lang="en-US" sz="1200" dirty="0"/>
          </a:p>
        </p:txBody>
      </p:sp>
      <p:sp>
        <p:nvSpPr>
          <p:cNvPr id="18" name="Dice card"/>
          <p:cNvSpPr/>
          <p:nvPr/>
        </p:nvSpPr>
        <p:spPr>
          <a:xfrm>
            <a:off x="7269480" y="1554480"/>
            <a:ext cx="2103120" cy="4480560"/>
          </a:xfrm>
          <a:prstGeom prst="rect">
            <a:avLst/>
          </a:prstGeom>
          <a:solidFill>
            <a:schemeClr val="bg2"/>
          </a:solidFill>
          <a:ln w="12700">
            <a:solidFill>
              <a:schemeClr val="bg2"/>
            </a:solidFill>
            <a:prstDash val="solid"/>
          </a:ln>
        </p:spPr>
      </p:sp>
      <p:sp>
        <p:nvSpPr>
          <p:cNvPr id="19" name="Dice header"/>
          <p:cNvSpPr/>
          <p:nvPr/>
        </p:nvSpPr>
        <p:spPr>
          <a:xfrm>
            <a:off x="7269480" y="1554480"/>
            <a:ext cx="2103120" cy="548640"/>
          </a:xfrm>
          <a:prstGeom prst="rect">
            <a:avLst/>
          </a:prstGeom>
          <a:solidFill>
            <a:schemeClr val="accent4"/>
          </a:solidFill>
          <a:ln w="12700">
            <a:solidFill>
              <a:schemeClr val="accent4"/>
            </a:solidFill>
            <a:prstDash val="solid"/>
          </a:ln>
        </p:spPr>
      </p:sp>
      <p:sp>
        <p:nvSpPr>
          <p:cNvPr id="20" name="Dice title"/>
          <p:cNvSpPr txBox="1"/>
          <p:nvPr/>
        </p:nvSpPr>
        <p:spPr>
          <a:xfrm>
            <a:off x="7269480" y="1554480"/>
            <a:ext cx="2103120" cy="548640"/>
          </a:xfrm>
          <a:prstGeom prst="rect">
            <a:avLst/>
          </a:prstGeom>
          <a:noFill/>
          <a:ln/>
        </p:spPr>
        <p:txBody>
          <a:bodyPr wrap="square" lIns="0" tIns="0" rIns="0" bIns="0" rtlCol="0" anchor="ctr"/>
          <a:lstStyle/>
          <a:p>
            <a:pPr marL="0" indent="0" algn="ctr">
              <a:buNone/>
            </a:pPr>
            <a:r>
              <a:rPr lang="en-US" sz="1600" b="1" dirty="0">
                <a:solidFill>
                  <a:schemeClr val="bg1"/>
                </a:solidFill>
              </a:rPr>
              <a:t>Dice</a:t>
            </a:r>
            <a:endParaRPr lang="en-US" sz="1600" dirty="0"/>
          </a:p>
        </p:txBody>
      </p:sp>
      <p:sp>
        <p:nvSpPr>
          <p:cNvPr id="21" name="Dice desc"/>
          <p:cNvSpPr txBox="1"/>
          <p:nvPr/>
        </p:nvSpPr>
        <p:spPr>
          <a:xfrm>
            <a:off x="7406640" y="2240280"/>
            <a:ext cx="1828800" cy="1005840"/>
          </a:xfrm>
          <a:prstGeom prst="rect">
            <a:avLst/>
          </a:prstGeom>
          <a:noFill/>
          <a:ln/>
        </p:spPr>
        <p:txBody>
          <a:bodyPr wrap="square" lIns="0" tIns="0" rIns="0" bIns="0" rtlCol="0" anchor="t"/>
          <a:lstStyle/>
          <a:p>
            <a:pPr marL="0" indent="0">
              <a:buNone/>
            </a:pPr>
            <a:r>
              <a:rPr lang="en-US" sz="1200" dirty="0">
                <a:solidFill>
                  <a:schemeClr val="tx1"/>
                </a:solidFill>
              </a:rPr>
              <a:t>North × Mar–May × 2019 vs 2020.</a:t>
            </a:r>
            <a:endParaRPr lang="en-US" sz="1200" dirty="0"/>
          </a:p>
        </p:txBody>
      </p:sp>
      <p:sp>
        <p:nvSpPr>
          <p:cNvPr id="22" name="Dice placeholder"/>
          <p:cNvSpPr txBox="1"/>
          <p:nvPr/>
        </p:nvSpPr>
        <p:spPr>
          <a:xfrm>
            <a:off x="7406640" y="3337560"/>
            <a:ext cx="1828800" cy="2560320"/>
          </a:xfrm>
          <a:prstGeom prst="rect">
            <a:avLst/>
          </a:prstGeom>
          <a:noFill/>
          <a:ln/>
        </p:spPr>
        <p:txBody>
          <a:bodyPr wrap="square" lIns="0" tIns="0" rIns="0" bIns="0" rtlCol="0" anchor="t"/>
          <a:lstStyle/>
          <a:p>
            <a:pPr marL="0" indent="0">
              <a:buNone/>
            </a:pPr>
            <a:r>
              <a:rPr lang="en-US" sz="1200" b="1" dirty="0">
                <a:solidFill>
                  <a:schemeClr val="tx2"/>
                </a:solidFill>
              </a:rPr>
              <a:t>Query pattern</a:t>
            </a:r>
            <a:endParaRPr lang="en-US" sz="1200" dirty="0"/>
          </a:p>
          <a:p>
            <a:pPr marL="0" indent="0">
              <a:buNone/>
            </a:pPr>
            <a:r>
              <a:rPr lang="en-US" sz="1200" dirty="0">
                <a:solidFill>
                  <a:schemeClr val="accent6"/>
                </a:solidFill>
              </a:rPr>
              <a:t>region = 'North'</a:t>
            </a:r>
            <a:endParaRPr lang="en-US" sz="1200" dirty="0"/>
          </a:p>
          <a:p>
            <a:pPr marL="0" indent="0">
              <a:buNone/>
            </a:pPr>
            <a:r>
              <a:rPr lang="en-US" sz="1200" dirty="0">
                <a:solidFill>
                  <a:schemeClr val="accent6"/>
                </a:solidFill>
              </a:rPr>
              <a:t>month BETWEEN 3 AND 5</a:t>
            </a:r>
            <a:endParaRPr lang="en-US" sz="1200" dirty="0"/>
          </a:p>
          <a:p>
            <a:pPr marL="0" indent="0">
              <a:buNone/>
            </a:pPr>
            <a:r>
              <a:rPr lang="en-US" sz="1200" dirty="0">
                <a:solidFill>
                  <a:schemeClr val="accent6"/>
                </a:solidFill>
              </a:rPr>
              <a:t>year IN (2019, 2020)</a:t>
            </a:r>
            <a:endParaRPr lang="en-US" sz="1200" dirty="0"/>
          </a:p>
          <a:p>
            <a:pPr marL="0" indent="0">
              <a:buNone/>
            </a:pPr>
            <a:r>
              <a:rPr lang="en-US" sz="1200" dirty="0">
                <a:solidFill>
                  <a:schemeClr val="accent6"/>
                </a:solidFill>
              </a:rPr>
              <a:t xml:space="preserve"> </a:t>
            </a:r>
            <a:endParaRPr lang="en-US" sz="1200" dirty="0"/>
          </a:p>
          <a:p>
            <a:pPr marL="0" indent="0">
              <a:buNone/>
            </a:pPr>
            <a:r>
              <a:rPr lang="en-US" sz="1200" b="1" dirty="0">
                <a:solidFill>
                  <a:schemeClr val="tx2"/>
                </a:solidFill>
              </a:rPr>
              <a:t>Result</a:t>
            </a:r>
            <a:endParaRPr lang="en-US" sz="1200" dirty="0"/>
          </a:p>
          <a:p>
            <a:pPr marL="0" indent="0">
              <a:buNone/>
            </a:pPr>
            <a:r>
              <a:rPr lang="en-US" sz="1200" dirty="0">
                <a:solidFill>
                  <a:schemeClr val="accent6"/>
                </a:solidFill>
              </a:rPr>
              <a:t>Delhi PM2.5 85 → 53, NO2 49 → 27</a:t>
            </a:r>
            <a:endParaRPr lang="en-US" sz="1200" dirty="0"/>
          </a:p>
        </p:txBody>
      </p:sp>
      <p:sp>
        <p:nvSpPr>
          <p:cNvPr id="23" name="Pivot card"/>
          <p:cNvSpPr/>
          <p:nvPr/>
        </p:nvSpPr>
        <p:spPr>
          <a:xfrm>
            <a:off x="9509760" y="1554480"/>
            <a:ext cx="2103120" cy="4480560"/>
          </a:xfrm>
          <a:prstGeom prst="rect">
            <a:avLst/>
          </a:prstGeom>
          <a:solidFill>
            <a:schemeClr val="bg2"/>
          </a:solidFill>
          <a:ln w="12700">
            <a:solidFill>
              <a:schemeClr val="bg2"/>
            </a:solidFill>
            <a:prstDash val="solid"/>
          </a:ln>
        </p:spPr>
      </p:sp>
      <p:sp>
        <p:nvSpPr>
          <p:cNvPr id="24" name="Pivot header"/>
          <p:cNvSpPr/>
          <p:nvPr/>
        </p:nvSpPr>
        <p:spPr>
          <a:xfrm>
            <a:off x="9509760" y="1554480"/>
            <a:ext cx="2103120" cy="548640"/>
          </a:xfrm>
          <a:prstGeom prst="rect">
            <a:avLst/>
          </a:prstGeom>
          <a:solidFill>
            <a:schemeClr val="accent5"/>
          </a:solidFill>
          <a:ln w="12700">
            <a:solidFill>
              <a:schemeClr val="accent5"/>
            </a:solidFill>
            <a:prstDash val="solid"/>
          </a:ln>
        </p:spPr>
      </p:sp>
      <p:sp>
        <p:nvSpPr>
          <p:cNvPr id="25" name="Pivot title"/>
          <p:cNvSpPr txBox="1"/>
          <p:nvPr/>
        </p:nvSpPr>
        <p:spPr>
          <a:xfrm>
            <a:off x="9509760" y="1554480"/>
            <a:ext cx="2103120" cy="548640"/>
          </a:xfrm>
          <a:prstGeom prst="rect">
            <a:avLst/>
          </a:prstGeom>
          <a:noFill/>
          <a:ln/>
        </p:spPr>
        <p:txBody>
          <a:bodyPr wrap="square" lIns="0" tIns="0" rIns="0" bIns="0" rtlCol="0" anchor="ctr"/>
          <a:lstStyle/>
          <a:p>
            <a:pPr marL="0" indent="0" algn="ctr">
              <a:buNone/>
            </a:pPr>
            <a:r>
              <a:rPr lang="en-US" sz="1600" b="1" dirty="0">
                <a:solidFill>
                  <a:schemeClr val="bg1"/>
                </a:solidFill>
              </a:rPr>
              <a:t>Pivot</a:t>
            </a:r>
            <a:endParaRPr lang="en-US" sz="1600" dirty="0"/>
          </a:p>
        </p:txBody>
      </p:sp>
      <p:sp>
        <p:nvSpPr>
          <p:cNvPr id="26" name="Pivot desc"/>
          <p:cNvSpPr txBox="1"/>
          <p:nvPr/>
        </p:nvSpPr>
        <p:spPr>
          <a:xfrm>
            <a:off x="9646920" y="2240280"/>
            <a:ext cx="1828800" cy="1005840"/>
          </a:xfrm>
          <a:prstGeom prst="rect">
            <a:avLst/>
          </a:prstGeom>
          <a:noFill/>
          <a:ln/>
        </p:spPr>
        <p:txBody>
          <a:bodyPr wrap="square" lIns="0" tIns="0" rIns="0" bIns="0" rtlCol="0" anchor="t"/>
          <a:lstStyle/>
          <a:p>
            <a:pPr marL="0" indent="0">
              <a:buNone/>
            </a:pPr>
            <a:r>
              <a:rPr lang="en-US" sz="1200" dirty="0">
                <a:solidFill>
                  <a:schemeClr val="tx1"/>
                </a:solidFill>
              </a:rPr>
              <a:t>Cities × AQI buckets (days).</a:t>
            </a:r>
            <a:endParaRPr lang="en-US" sz="1200" dirty="0"/>
          </a:p>
        </p:txBody>
      </p:sp>
      <p:sp>
        <p:nvSpPr>
          <p:cNvPr id="27" name="Pivot placeholder"/>
          <p:cNvSpPr txBox="1"/>
          <p:nvPr/>
        </p:nvSpPr>
        <p:spPr>
          <a:xfrm>
            <a:off x="9646920" y="3337560"/>
            <a:ext cx="1828800" cy="2560320"/>
          </a:xfrm>
          <a:prstGeom prst="rect">
            <a:avLst/>
          </a:prstGeom>
          <a:noFill/>
          <a:ln/>
        </p:spPr>
        <p:txBody>
          <a:bodyPr wrap="square" lIns="0" tIns="0" rIns="0" bIns="0" rtlCol="0" anchor="t"/>
          <a:lstStyle/>
          <a:p>
            <a:pPr marL="0" indent="0">
              <a:buNone/>
            </a:pPr>
            <a:r>
              <a:rPr lang="en-US" sz="1200" b="1" dirty="0">
                <a:solidFill>
                  <a:schemeClr val="tx2"/>
                </a:solidFill>
              </a:rPr>
              <a:t>Query pattern</a:t>
            </a:r>
            <a:endParaRPr lang="en-US" sz="1200" dirty="0"/>
          </a:p>
          <a:p>
            <a:pPr marL="0" indent="0">
              <a:buNone/>
            </a:pPr>
            <a:r>
              <a:rPr lang="en-US" sz="1200" dirty="0">
                <a:solidFill>
                  <a:schemeClr val="accent6"/>
                </a:solidFill>
              </a:rPr>
              <a:t>SUM(CASE WHEN</a:t>
            </a:r>
            <a:endParaRPr lang="en-US" sz="1200" dirty="0"/>
          </a:p>
          <a:p>
            <a:pPr marL="0" indent="0">
              <a:buNone/>
            </a:pPr>
            <a:r>
              <a:rPr lang="en-US" sz="1200" dirty="0">
                <a:solidFill>
                  <a:schemeClr val="accent6"/>
                </a:solidFill>
              </a:rPr>
              <a:t>bucket = 'Severe' ...)</a:t>
            </a:r>
            <a:endParaRPr lang="en-US" sz="1200" dirty="0"/>
          </a:p>
          <a:p>
            <a:pPr marL="0" indent="0">
              <a:buNone/>
            </a:pPr>
            <a:r>
              <a:rPr lang="en-US" sz="1200" dirty="0">
                <a:solidFill>
                  <a:schemeClr val="accent6"/>
                </a:solidFill>
              </a:rPr>
              <a:t xml:space="preserve"> </a:t>
            </a:r>
            <a:endParaRPr lang="en-US" sz="1200" dirty="0"/>
          </a:p>
          <a:p>
            <a:pPr marL="0" indent="0">
              <a:buNone/>
            </a:pPr>
            <a:r>
              <a:rPr lang="en-US" sz="1200" b="1" dirty="0">
                <a:solidFill>
                  <a:schemeClr val="tx2"/>
                </a:solidFill>
              </a:rPr>
              <a:t>Result</a:t>
            </a:r>
            <a:endParaRPr lang="en-US" sz="1200" dirty="0"/>
          </a:p>
          <a:p>
            <a:pPr marL="0" indent="0">
              <a:buNone/>
            </a:pPr>
            <a:r>
              <a:rPr lang="en-US" sz="1200" dirty="0">
                <a:solidFill>
                  <a:schemeClr val="accent6"/>
                </a:solidFill>
              </a:rPr>
              <a:t>Delhi: 239 Severe and 520 Very Poor days</a:t>
            </a:r>
            <a:endParaRPr lang="en-US" sz="1200" dirty="0"/>
          </a:p>
        </p:txBody>
      </p:sp>
      <p:sp>
        <p:nvSpPr>
          <p:cNvPr id="28"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6</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a:spLocks noGrp="1"/>
          </p:cNvSpPr>
          <p:nvPr>
            <p:ph type="title" idx="102" hasCustomPrompt="1"/>
          </p:nvPr>
        </p:nvSpPr>
        <p:spPr>
          <a:xfrm>
            <a:off x="822960" y="411480"/>
            <a:ext cx="10789920" cy="777240"/>
          </a:xfrm>
          <a:prstGeom prst="rect">
            <a:avLst/>
          </a:prstGeom>
          <a:noFill/>
          <a:ln/>
        </p:spPr>
        <p:txBody>
          <a:bodyPr wrap="square" rtlCol="0" anchor="ctr"/>
          <a:lstStyle/>
          <a:p>
            <a:pPr marL="0" indent="0">
              <a:buNone/>
            </a:pPr>
            <a:r>
              <a:rPr lang="en-US" sz="2800" b="1" dirty="0">
                <a:solidFill>
                  <a:schemeClr val="tx2"/>
                </a:solidFill>
              </a:rPr>
              <a:t>OLAP Across the Constellation</a:t>
            </a:r>
            <a:endParaRPr lang="en-US" sz="2800" dirty="0"/>
          </a:p>
        </p:txBody>
      </p:sp>
      <p:sp>
        <p:nvSpPr>
          <p:cNvPr id="3" name="Fact card"/>
          <p:cNvSpPr/>
          <p:nvPr/>
        </p:nvSpPr>
        <p:spPr>
          <a:xfrm>
            <a:off x="548640" y="1554480"/>
            <a:ext cx="3566160" cy="4480560"/>
          </a:xfrm>
          <a:prstGeom prst="rect">
            <a:avLst/>
          </a:prstGeom>
          <a:solidFill>
            <a:schemeClr val="bg2"/>
          </a:solidFill>
          <a:ln w="12700">
            <a:solidFill>
              <a:schemeClr val="bg2"/>
            </a:solidFill>
            <a:prstDash val="solid"/>
          </a:ln>
        </p:spPr>
      </p:sp>
      <p:sp>
        <p:nvSpPr>
          <p:cNvPr id="4" name="Fact accent"/>
          <p:cNvSpPr/>
          <p:nvPr/>
        </p:nvSpPr>
        <p:spPr>
          <a:xfrm>
            <a:off x="548640" y="1554480"/>
            <a:ext cx="3566160" cy="73152"/>
          </a:xfrm>
          <a:prstGeom prst="rect">
            <a:avLst/>
          </a:prstGeom>
          <a:solidFill>
            <a:schemeClr val="tx2"/>
          </a:solidFill>
          <a:ln w="12700">
            <a:solidFill>
              <a:schemeClr val="tx2"/>
            </a:solidFill>
            <a:prstDash val="solid"/>
          </a:ln>
        </p:spPr>
      </p:sp>
      <p:sp>
        <p:nvSpPr>
          <p:cNvPr id="5" name="Fact head"/>
          <p:cNvSpPr txBox="1"/>
          <p:nvPr/>
        </p:nvSpPr>
        <p:spPr>
          <a:xfrm>
            <a:off x="731520" y="1783080"/>
            <a:ext cx="3200400" cy="365760"/>
          </a:xfrm>
          <a:prstGeom prst="rect">
            <a:avLst/>
          </a:prstGeom>
          <a:noFill/>
          <a:ln/>
        </p:spPr>
        <p:txBody>
          <a:bodyPr wrap="square" lIns="0" tIns="0" rIns="0" bIns="0" rtlCol="0" anchor="ctr"/>
          <a:lstStyle/>
          <a:p>
            <a:pPr marL="0" indent="0">
              <a:buNone/>
            </a:pPr>
            <a:r>
              <a:rPr lang="en-US" sz="1600" b="1" dirty="0">
                <a:solidFill>
                  <a:schemeClr val="tx2"/>
                </a:solidFill>
              </a:rPr>
              <a:t>Drill-down to Stations</a:t>
            </a:r>
            <a:endParaRPr lang="en-US" sz="1600" dirty="0"/>
          </a:p>
        </p:txBody>
      </p:sp>
      <p:sp>
        <p:nvSpPr>
          <p:cNvPr id="6" name="Fact body"/>
          <p:cNvSpPr txBox="1"/>
          <p:nvPr/>
        </p:nvSpPr>
        <p:spPr>
          <a:xfrm>
            <a:off x="731520" y="2286000"/>
            <a:ext cx="3200400" cy="35661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Delhi, November 2019: 38 monitoring stations.</a:t>
            </a:r>
            <a:endParaRPr lang="en-US" sz="1300" dirty="0"/>
          </a:p>
          <a:p>
            <a:pPr marL="342900" indent="-342900">
              <a:spcAft>
                <a:spcPts val="600"/>
              </a:spcAft>
              <a:buSzPct val="100000"/>
              <a:buChar char="•"/>
            </a:pPr>
            <a:r>
              <a:rPr lang="en-US" sz="1300" dirty="0">
                <a:solidFill>
                  <a:schemeClr val="tx1"/>
                </a:solidFill>
              </a:rPr>
              <a:t>Average PM2.5 ranged from 148 to 252 µg/m³.</a:t>
            </a:r>
            <a:endParaRPr lang="en-US" sz="1300" dirty="0"/>
          </a:p>
          <a:p>
            <a:pPr marL="342900" indent="-342900">
              <a:spcAft>
                <a:spcPts val="600"/>
              </a:spcAft>
              <a:buSzPct val="100000"/>
              <a:buChar char="•"/>
            </a:pPr>
            <a:r>
              <a:rPr lang="en-US" sz="1300" dirty="0">
                <a:solidFill>
                  <a:schemeClr val="tx1"/>
                </a:solidFill>
              </a:rPr>
              <a:t>Worst: Bawana. Cleanest: East Arjun Nagar.</a:t>
            </a:r>
            <a:endParaRPr lang="en-US" sz="1300" dirty="0"/>
          </a:p>
          <a:p>
            <a:pPr marL="342900" indent="-342900">
              <a:spcAft>
                <a:spcPts val="600"/>
              </a:spcAft>
              <a:buSzPct val="100000"/>
              <a:buChar char="•"/>
            </a:pPr>
            <a:r>
              <a:rPr lang="en-US" sz="1300" dirty="0">
                <a:solidFill>
                  <a:schemeClr val="tx1"/>
                </a:solidFill>
              </a:rPr>
              <a:t>Same city, 1.7× difference by location.</a:t>
            </a:r>
            <a:endParaRPr lang="en-US" sz="1300" dirty="0"/>
          </a:p>
        </p:txBody>
      </p:sp>
      <p:sp>
        <p:nvSpPr>
          <p:cNvPr id="7" name="Dims card"/>
          <p:cNvSpPr/>
          <p:nvPr/>
        </p:nvSpPr>
        <p:spPr>
          <a:xfrm>
            <a:off x="4315968" y="1554480"/>
            <a:ext cx="3566160" cy="4480560"/>
          </a:xfrm>
          <a:prstGeom prst="rect">
            <a:avLst/>
          </a:prstGeom>
          <a:solidFill>
            <a:schemeClr val="bg2"/>
          </a:solidFill>
          <a:ln w="12700">
            <a:solidFill>
              <a:schemeClr val="bg2"/>
            </a:solidFill>
            <a:prstDash val="solid"/>
          </a:ln>
        </p:spPr>
      </p:sp>
      <p:sp>
        <p:nvSpPr>
          <p:cNvPr id="8" name="Dims accent"/>
          <p:cNvSpPr/>
          <p:nvPr/>
        </p:nvSpPr>
        <p:spPr>
          <a:xfrm>
            <a:off x="4315968" y="1554480"/>
            <a:ext cx="3566160" cy="73152"/>
          </a:xfrm>
          <a:prstGeom prst="rect">
            <a:avLst/>
          </a:prstGeom>
          <a:solidFill>
            <a:schemeClr val="accent1"/>
          </a:solidFill>
          <a:ln w="12700">
            <a:solidFill>
              <a:schemeClr val="accent1"/>
            </a:solidFill>
            <a:prstDash val="solid"/>
          </a:ln>
        </p:spPr>
      </p:sp>
      <p:sp>
        <p:nvSpPr>
          <p:cNvPr id="9" name="Dims head"/>
          <p:cNvSpPr txBox="1"/>
          <p:nvPr/>
        </p:nvSpPr>
        <p:spPr>
          <a:xfrm>
            <a:off x="4498848" y="1783080"/>
            <a:ext cx="3200400" cy="365760"/>
          </a:xfrm>
          <a:prstGeom prst="rect">
            <a:avLst/>
          </a:prstGeom>
          <a:noFill/>
          <a:ln/>
        </p:spPr>
        <p:txBody>
          <a:bodyPr wrap="square" lIns="0" tIns="0" rIns="0" bIns="0" rtlCol="0" anchor="ctr"/>
          <a:lstStyle/>
          <a:p>
            <a:pPr marL="0" indent="0">
              <a:buNone/>
            </a:pPr>
            <a:r>
              <a:rPr lang="en-US" sz="1600" b="1" dirty="0">
                <a:solidFill>
                  <a:schemeClr val="tx2"/>
                </a:solidFill>
              </a:rPr>
              <a:t>Dice on Weather</a:t>
            </a:r>
            <a:endParaRPr lang="en-US" sz="1600" dirty="0"/>
          </a:p>
        </p:txBody>
      </p:sp>
      <p:sp>
        <p:nvSpPr>
          <p:cNvPr id="10" name="Dims body"/>
          <p:cNvSpPr txBox="1"/>
          <p:nvPr/>
        </p:nvSpPr>
        <p:spPr>
          <a:xfrm>
            <a:off x="4498848" y="2286000"/>
            <a:ext cx="3200400" cy="35661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Winter days, by wind band × mixing band.</a:t>
            </a:r>
            <a:endParaRPr lang="en-US" sz="1300" dirty="0"/>
          </a:p>
          <a:p>
            <a:pPr marL="342900" indent="-342900">
              <a:spcAft>
                <a:spcPts val="600"/>
              </a:spcAft>
              <a:buSzPct val="100000"/>
              <a:buChar char="•"/>
            </a:pPr>
            <a:r>
              <a:rPr lang="en-US" sz="1300" dirty="0">
                <a:solidFill>
                  <a:schemeClr val="tx1"/>
                </a:solidFill>
              </a:rPr>
              <a:t>Calm + low mixing: 60% unhealthy, PM2.5 135.</a:t>
            </a:r>
            <a:endParaRPr lang="en-US" sz="1300" dirty="0"/>
          </a:p>
          <a:p>
            <a:pPr marL="342900" indent="-342900">
              <a:spcAft>
                <a:spcPts val="600"/>
              </a:spcAft>
              <a:buSzPct val="100000"/>
              <a:buChar char="•"/>
            </a:pPr>
            <a:r>
              <a:rPr lang="en-US" sz="1300" dirty="0">
                <a:solidFill>
                  <a:schemeClr val="tx1"/>
                </a:solidFill>
              </a:rPr>
              <a:t>Breezy + high mixing: 1.4% unhealthy, PM2.5 46.</a:t>
            </a:r>
            <a:endParaRPr lang="en-US" sz="1300" dirty="0"/>
          </a:p>
          <a:p>
            <a:pPr marL="342900" indent="-342900">
              <a:spcAft>
                <a:spcPts val="600"/>
              </a:spcAft>
              <a:buSzPct val="100000"/>
              <a:buChar char="•"/>
            </a:pPr>
            <a:r>
              <a:rPr lang="en-US" sz="1300" dirty="0">
                <a:solidFill>
                  <a:schemeClr val="tx1"/>
                </a:solidFill>
              </a:rPr>
              <a:t>Same season, very different air: weather decides.</a:t>
            </a:r>
            <a:endParaRPr lang="en-US" sz="1300" dirty="0"/>
          </a:p>
        </p:txBody>
      </p:sp>
      <p:sp>
        <p:nvSpPr>
          <p:cNvPr id="11" name="ETL card"/>
          <p:cNvSpPr/>
          <p:nvPr/>
        </p:nvSpPr>
        <p:spPr>
          <a:xfrm>
            <a:off x="8083296" y="1554480"/>
            <a:ext cx="3566160" cy="4480560"/>
          </a:xfrm>
          <a:prstGeom prst="rect">
            <a:avLst/>
          </a:prstGeom>
          <a:solidFill>
            <a:schemeClr val="bg2"/>
          </a:solidFill>
          <a:ln w="12700">
            <a:solidFill>
              <a:schemeClr val="bg2"/>
            </a:solidFill>
            <a:prstDash val="solid"/>
          </a:ln>
        </p:spPr>
      </p:sp>
      <p:sp>
        <p:nvSpPr>
          <p:cNvPr id="12" name="ETL accent"/>
          <p:cNvSpPr/>
          <p:nvPr/>
        </p:nvSpPr>
        <p:spPr>
          <a:xfrm>
            <a:off x="8083296" y="1554480"/>
            <a:ext cx="3566160" cy="73152"/>
          </a:xfrm>
          <a:prstGeom prst="rect">
            <a:avLst/>
          </a:prstGeom>
          <a:solidFill>
            <a:schemeClr val="accent2"/>
          </a:solidFill>
          <a:ln w="12700">
            <a:solidFill>
              <a:schemeClr val="accent2"/>
            </a:solidFill>
            <a:prstDash val="solid"/>
          </a:ln>
        </p:spPr>
      </p:sp>
      <p:sp>
        <p:nvSpPr>
          <p:cNvPr id="13" name="ETL head"/>
          <p:cNvSpPr txBox="1"/>
          <p:nvPr/>
        </p:nvSpPr>
        <p:spPr>
          <a:xfrm>
            <a:off x="8266176" y="1783080"/>
            <a:ext cx="3200400" cy="365760"/>
          </a:xfrm>
          <a:prstGeom prst="rect">
            <a:avLst/>
          </a:prstGeom>
          <a:noFill/>
          <a:ln/>
        </p:spPr>
        <p:txBody>
          <a:bodyPr wrap="square" lIns="0" tIns="0" rIns="0" bIns="0" rtlCol="0" anchor="ctr"/>
          <a:lstStyle/>
          <a:p>
            <a:pPr marL="0" indent="0">
              <a:buNone/>
            </a:pPr>
            <a:r>
              <a:rPr lang="en-US" sz="1600" b="1" dirty="0">
                <a:solidFill>
                  <a:schemeClr val="tx2"/>
                </a:solidFill>
              </a:rPr>
              <a:t>Drill-across Facts</a:t>
            </a:r>
            <a:endParaRPr lang="en-US" sz="1600" dirty="0"/>
          </a:p>
        </p:txBody>
      </p:sp>
      <p:sp>
        <p:nvSpPr>
          <p:cNvPr id="14" name="ETL body"/>
          <p:cNvSpPr txBox="1"/>
          <p:nvPr/>
        </p:nvSpPr>
        <p:spPr>
          <a:xfrm>
            <a:off x="8266176" y="2286000"/>
            <a:ext cx="3200400" cy="35661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Join fact_air_quality and fact_weather on the conformed City and Date.</a:t>
            </a:r>
            <a:endParaRPr lang="en-US" sz="1300" dirty="0"/>
          </a:p>
          <a:p>
            <a:pPr marL="342900" indent="-342900">
              <a:spcAft>
                <a:spcPts val="600"/>
              </a:spcAft>
              <a:buSzPct val="100000"/>
              <a:buChar char="•"/>
            </a:pPr>
            <a:r>
              <a:rPr lang="en-US" sz="1300" dirty="0">
                <a:solidFill>
                  <a:schemeClr val="tx1"/>
                </a:solidFill>
              </a:rPr>
              <a:t>Delhi 2019: months with mixing height under 400 m averaged PM2.5 184; other months 71.</a:t>
            </a:r>
            <a:endParaRPr lang="en-US" sz="1300" dirty="0"/>
          </a:p>
          <a:p>
            <a:pPr marL="342900" indent="-342900">
              <a:spcAft>
                <a:spcPts val="600"/>
              </a:spcAft>
              <a:buSzPct val="100000"/>
              <a:buChar char="•"/>
            </a:pPr>
            <a:r>
              <a:rPr lang="en-US" sz="1300" dirty="0">
                <a:solidFill>
                  <a:schemeClr val="tx1"/>
                </a:solidFill>
              </a:rPr>
              <a:t>Smog season is a shallow-mixing season.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5</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a:spLocks noGrp="1"/>
          </p:cNvSpPr>
          <p:nvPr>
            <p:ph type="title" idx="102" hasCustomPrompt="1"/>
          </p:nvPr>
        </p:nvSpPr>
        <p:spPr>
          <a:xfrm>
            <a:off x="822960" y="411480"/>
            <a:ext cx="10789920" cy="777240"/>
          </a:xfrm>
          <a:prstGeom prst="rect">
            <a:avLst/>
          </a:prstGeom>
          <a:noFill/>
          <a:ln/>
        </p:spPr>
        <p:txBody>
          <a:bodyPr wrap="square" rtlCol="0" anchor="ctr"/>
          <a:lstStyle/>
          <a:p>
            <a:pPr marL="0" indent="0">
              <a:buNone/>
            </a:pPr>
            <a:r>
              <a:rPr lang="en-US" sz="2800" b="1" dirty="0">
                <a:solidFill>
                  <a:schemeClr val="tx2"/>
                </a:solidFill>
              </a:rPr>
              <a:t>Code: Creating the Warehouse (SQL)</a:t>
            </a:r>
            <a:endParaRPr lang="en-US" sz="2800" dirty="0"/>
          </a:p>
        </p:txBody>
      </p:sp>
      <p:sp>
        <p:nvSpPr>
          <p:cNvPr id="3" name="DDL code box"/>
          <p:cNvSpPr/>
          <p:nvPr/>
        </p:nvSpPr>
        <p:spPr>
          <a:xfrm>
            <a:off x="548640" y="1508760"/>
            <a:ext cx="11064240" cy="4572000"/>
          </a:xfrm>
          <a:prstGeom prst="rect">
            <a:avLst/>
          </a:prstGeom>
          <a:solidFill>
            <a:schemeClr val="tx2"/>
          </a:solidFill>
          <a:ln w="12700">
            <a:solidFill>
              <a:schemeClr val="tx2"/>
            </a:solidFill>
            <a:prstDash val="solid"/>
          </a:ln>
        </p:spPr>
      </p:sp>
      <p:sp>
        <p:nvSpPr>
          <p:cNvPr id="4" name="DDL code"/>
          <p:cNvSpPr txBox="1"/>
          <p:nvPr/>
        </p:nvSpPr>
        <p:spPr>
          <a:xfrm>
            <a:off x="731520" y="1645920"/>
            <a:ext cx="10698480" cy="4297680"/>
          </a:xfrm>
          <a:prstGeom prst="rect">
            <a:avLst/>
          </a:prstGeom>
          <a:noFill/>
          <a:ln/>
        </p:spPr>
        <p:txBody>
          <a:bodyPr wrap="square" lIns="0" tIns="0" rIns="0" bIns="0" rtlCol="0" anchor="t"/>
          <a:lstStyle/>
          <a:p>
            <a:pPr marL="0" indent="0">
              <a:buNone/>
            </a:pPr>
            <a:r>
              <a:rPr lang="en-US" sz="1300" dirty="0">
                <a:solidFill>
                  <a:schemeClr val="bg1"/>
                </a:solidFill>
                <a:latin typeface="Consolas" pitchFamily="34" charset="0"/>
                <a:ea typeface="Consolas" pitchFamily="34" charset="-122"/>
                <a:cs typeface="Consolas" pitchFamily="34" charset="-120"/>
              </a:rPr>
              <a:t>CREATE TABLE dim_date (date_key INT PRIMARY KEY, full_date DATE UNIQUE, month SMALLINT,</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 xml:space="preserve">  season VARCHAR(15), quarter SMALLINT, year SMALLINT, ...);</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CREATE TABLE dim_city (city_key INT PRIMARY KEY, city VARCHAR(40), state VARCHAR(40), region VARCHAR(15), ...);</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CREATE TABLE dim_station (station_key INT PRIMARY KEY, station_id VARCHAR(10), station_name VARCHAR(120),</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 xml:space="preserve">  city_key INT NOT NULL REFERENCES dim_city(city_key));            -- Station -&gt; City</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 dim_aqi_category, dim_event, dim_weather_condition: same pattern</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CREATE TABLE fact_air_quality (</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 xml:space="preserve">  city_key INT NOT NULL REFERENCES dim_city(city_key),</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 xml:space="preserve">  date_key INT NOT NULL REFERENCES dim_date(date_key),</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 xml:space="preserve">  event_key INT, category_key INT, weather_key INT,                 -- FKs to 3 more dims</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 xml:space="preserve">  pm25 DECIMAL(8,2), pm10 DECIMAL(8,2), no2 DECIMAL(8,2), ..., aqi DECIMAL(8,2),</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 xml:space="preserve">  quality_flag SMALLINT NOT NULL,</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 xml:space="preserve">  PRIMARY KEY (city_key, date_key));</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CREATE TABLE fact_weather (</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 xml:space="preserve">  city_key INT NOT NULL REFERENCES dim_city(city_key),              -- conformed</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 xml:space="preserve">  date_key INT NOT NULL REFERENCES dim_date(date_key),              -- conformed</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 xml:space="preserve">  temp_mean DECIMAL(5,2), precipitation DECIMAL(6,2), wind_mean DECIMAL(5,2), mixing_height DECIMAL(7,1),</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 xml:space="preserve">  PRIMARY KEY (city_key, date_key));</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 fact_station_air_quality (station_key, date_key, ...) follows the same pattern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7</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a:spLocks noGrp="1"/>
          </p:cNvSpPr>
          <p:nvPr>
            <p:ph type="title" idx="102" hasCustomPrompt="1"/>
          </p:nvPr>
        </p:nvSpPr>
        <p:spPr>
          <a:xfrm>
            <a:off x="822960" y="411480"/>
            <a:ext cx="10789920" cy="777240"/>
          </a:xfrm>
          <a:prstGeom prst="rect">
            <a:avLst/>
          </a:prstGeom>
          <a:noFill/>
          <a:ln/>
        </p:spPr>
        <p:txBody>
          <a:bodyPr wrap="square" rtlCol="0" anchor="ctr"/>
          <a:lstStyle/>
          <a:p>
            <a:pPr marL="0" indent="0">
              <a:buNone/>
            </a:pPr>
            <a:r>
              <a:rPr lang="en-US" sz="2800" b="1" dirty="0">
                <a:solidFill>
                  <a:schemeClr val="tx2"/>
                </a:solidFill>
              </a:rPr>
              <a:t>Code: ETL with Python (pandas)</a:t>
            </a:r>
            <a:endParaRPr lang="en-US" sz="2800" dirty="0"/>
          </a:p>
        </p:txBody>
      </p:sp>
      <p:sp>
        <p:nvSpPr>
          <p:cNvPr id="3" name="ETL code box"/>
          <p:cNvSpPr/>
          <p:nvPr/>
        </p:nvSpPr>
        <p:spPr>
          <a:xfrm>
            <a:off x="548640" y="1508760"/>
            <a:ext cx="11064240" cy="4572000"/>
          </a:xfrm>
          <a:prstGeom prst="rect">
            <a:avLst/>
          </a:prstGeom>
          <a:solidFill>
            <a:schemeClr val="tx2"/>
          </a:solidFill>
          <a:ln w="12700">
            <a:solidFill>
              <a:schemeClr val="tx2"/>
            </a:solidFill>
            <a:prstDash val="solid"/>
          </a:ln>
        </p:spPr>
      </p:sp>
      <p:sp>
        <p:nvSpPr>
          <p:cNvPr id="4" name="ETL code"/>
          <p:cNvSpPr txBox="1"/>
          <p:nvPr/>
        </p:nvSpPr>
        <p:spPr>
          <a:xfrm>
            <a:off x="731520" y="1645920"/>
            <a:ext cx="10698480" cy="4297680"/>
          </a:xfrm>
          <a:prstGeom prst="rect">
            <a:avLst/>
          </a:prstGeom>
          <a:noFill/>
          <a:ln/>
        </p:spPr>
        <p:txBody>
          <a:bodyPr wrap="square" lIns="0" tIns="0" rIns="0" bIns="0" rtlCol="0" anchor="t"/>
          <a:lstStyle/>
          <a:p>
            <a:pPr marL="0" indent="0">
              <a:buNone/>
            </a:pPr>
            <a:r>
              <a:rPr lang="en-US" sz="1300" dirty="0">
                <a:solidFill>
                  <a:schemeClr val="bg1"/>
                </a:solidFill>
                <a:latin typeface="Consolas" pitchFamily="34" charset="0"/>
                <a:ea typeface="Consolas" pitchFamily="34" charset="-122"/>
                <a:cs typeface="Consolas" pitchFamily="34" charset="-120"/>
              </a:rPr>
              <a:t># Extract: two sources</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aq = pd.read_csv("data/raw/city_day.csv").rename(columns=SOURCE_COLUMNS)</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weather = pd.read_csv("data/raw/weather_daily.csv")      # from src/fetch_weather.py</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 Transform</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aq = clean_pollutants(aq, POLLUTANTS + ["aqi"])          # negative / absurd -&gt; NULL</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weather["weather_key"] = assign_weather_key(weather, dim_weather)   # wind x rain x temp x mixing</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aq["event_key"] = assign_event(aq["date"], aq["region"])        # lockdown &gt; Diwali &gt; stubble</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aq["category_key"] = category_from_aqi(aq["aqi"])                 # CPCB buckets</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aq = aq.merge(weather[["city_key", "date_key", "weather_key"]], on=["city_key", "date_key"])</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city_co = aq.groupby("city")["co"].median()                      # sensor-fault rule</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faulty = city_co[city_co &gt; 3 * city_co.median()].index</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aq["quality_flag"] = (aq["city"].isin(faulty) &amp; (aq["co"] &gt; 10)).astype(int)</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aq["aqi"] = aq["aqi"].clip(upper=500)</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 Load: dimensions first, then the three facts</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run_script(engine, "sql/01_create_warehouse.sql")</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with engine.begin() as conn:</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 xml:space="preserve">    for name, table in tables.items():</a:t>
            </a:r>
            <a:endParaRPr lang="en-US" sz="1300" dirty="0"/>
          </a:p>
          <a:p>
            <a:pPr marL="0" indent="0">
              <a:buNone/>
            </a:pPr>
            <a:r>
              <a:rPr lang="en-US" sz="1300" dirty="0">
                <a:solidFill>
                  <a:schemeClr val="bg1"/>
                </a:solidFill>
                <a:latin typeface="Consolas" pitchFamily="34" charset="0"/>
                <a:ea typeface="Consolas" pitchFamily="34" charset="-122"/>
                <a:cs typeface="Consolas" pitchFamily="34" charset="-120"/>
              </a:rPr>
              <a:t xml:space="preserve">        table.to_sql(name, conn, if_exists="append", index=False, chunksize=5000)</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8</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a:spLocks noGrp="1"/>
          </p:cNvSpPr>
          <p:nvPr>
            <p:ph type="title" idx="102" hasCustomPrompt="1"/>
          </p:nvPr>
        </p:nvSpPr>
        <p:spPr>
          <a:xfrm>
            <a:off x="822960" y="411480"/>
            <a:ext cx="10789920" cy="777240"/>
          </a:xfrm>
          <a:prstGeom prst="rect">
            <a:avLst/>
          </a:prstGeom>
          <a:noFill/>
          <a:ln/>
        </p:spPr>
        <p:txBody>
          <a:bodyPr wrap="square" rtlCol="0" anchor="ctr"/>
          <a:lstStyle/>
          <a:p>
            <a:pPr marL="0" indent="0">
              <a:buNone/>
            </a:pPr>
            <a:r>
              <a:rPr lang="en-US" sz="2800" b="1" dirty="0">
                <a:solidFill>
                  <a:schemeClr val="tx2"/>
                </a:solidFill>
              </a:rPr>
              <a:t>Code: Sample OLAP Queries</a:t>
            </a:r>
            <a:endParaRPr lang="en-US" sz="2800" dirty="0"/>
          </a:p>
        </p:txBody>
      </p:sp>
      <p:sp>
        <p:nvSpPr>
          <p:cNvPr id="3" name="OLAP code left box"/>
          <p:cNvSpPr/>
          <p:nvPr/>
        </p:nvSpPr>
        <p:spPr>
          <a:xfrm>
            <a:off x="548640" y="1508760"/>
            <a:ext cx="5440680" cy="4572000"/>
          </a:xfrm>
          <a:prstGeom prst="rect">
            <a:avLst/>
          </a:prstGeom>
          <a:solidFill>
            <a:schemeClr val="tx2"/>
          </a:solidFill>
          <a:ln w="12700">
            <a:solidFill>
              <a:schemeClr val="tx2"/>
            </a:solidFill>
            <a:prstDash val="solid"/>
          </a:ln>
        </p:spPr>
      </p:sp>
      <p:sp>
        <p:nvSpPr>
          <p:cNvPr id="4" name="OLAP code left"/>
          <p:cNvSpPr txBox="1"/>
          <p:nvPr/>
        </p:nvSpPr>
        <p:spPr>
          <a:xfrm>
            <a:off x="731520" y="1645920"/>
            <a:ext cx="5074920" cy="4297680"/>
          </a:xfrm>
          <a:prstGeom prst="rect">
            <a:avLst/>
          </a:prstGeom>
          <a:noFill/>
          <a:ln/>
        </p:spPr>
        <p:txBody>
          <a:bodyPr wrap="square" lIns="0" tIns="0" rIns="0" bIns="0" rtlCol="0" anchor="t"/>
          <a:lstStyle/>
          <a:p>
            <a:pPr marL="0" indent="0">
              <a:buNone/>
            </a:pPr>
            <a:r>
              <a:rPr lang="en-US" sz="1000" dirty="0">
                <a:solidFill>
                  <a:schemeClr val="bg1"/>
                </a:solidFill>
                <a:latin typeface="Consolas" pitchFamily="34" charset="0"/>
                <a:ea typeface="Consolas" pitchFamily="34" charset="-122"/>
                <a:cs typeface="Consolas" pitchFamily="34" charset="-120"/>
              </a:rPr>
              <a:t>-- Roll-up: City -&gt; Region, per year</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SELECT c.region, d.year, AVG(f.pm25) AS avg_pm25</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FROM fact_air_quality f</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JOIN dim_city c ON f.city_key = c.city_key</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JOIN dim_date d ON f.date_key = d.date_key</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GROUP BY c.region, d.year;</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 Drill-down: City -&gt; Station (Delhi, Nov 2019)</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SELECT s.station_name, AVG(f.pm25) AS avg_pm25</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FROM fact_station_air_quality f</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JOIN dim_station s ON f.station_key = s.station_key</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JOIN dim_city c ON s.city_key = c.city_key</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JOIN dim_date d ON f.date_key = d.date_key</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WHERE c.city = 'Delhi' AND d.year = 2019 AND d.month = 11</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GROUP BY s.station_name;</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 Slice: Season = Winter</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SELECT c.city, AVG(f.aqi) AS winter_aqi</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FROM fact_air_quality f JOIN dim_city c USING (city_key)</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JOIN dim_date d USING (date_key)</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WHERE d.season = 'Winter' AND f.quality_flag = 0</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GROUP BY c.city ORDER BY winter_aqi DESC;</a:t>
            </a:r>
            <a:endParaRPr lang="en-US" sz="1000" dirty="0"/>
          </a:p>
        </p:txBody>
      </p:sp>
      <p:sp>
        <p:nvSpPr>
          <p:cNvPr id="5" name="OLAP code right box"/>
          <p:cNvSpPr/>
          <p:nvPr/>
        </p:nvSpPr>
        <p:spPr>
          <a:xfrm>
            <a:off x="6172200" y="1508760"/>
            <a:ext cx="5440680" cy="4572000"/>
          </a:xfrm>
          <a:prstGeom prst="rect">
            <a:avLst/>
          </a:prstGeom>
          <a:solidFill>
            <a:schemeClr val="tx2"/>
          </a:solidFill>
          <a:ln w="12700">
            <a:solidFill>
              <a:schemeClr val="tx2"/>
            </a:solidFill>
            <a:prstDash val="solid"/>
          </a:ln>
        </p:spPr>
      </p:sp>
      <p:sp>
        <p:nvSpPr>
          <p:cNvPr id="6" name="OLAP code right"/>
          <p:cNvSpPr txBox="1"/>
          <p:nvPr/>
        </p:nvSpPr>
        <p:spPr>
          <a:xfrm>
            <a:off x="6355080" y="1645920"/>
            <a:ext cx="5074920" cy="4297680"/>
          </a:xfrm>
          <a:prstGeom prst="rect">
            <a:avLst/>
          </a:prstGeom>
          <a:noFill/>
          <a:ln/>
        </p:spPr>
        <p:txBody>
          <a:bodyPr wrap="square" lIns="0" tIns="0" rIns="0" bIns="0" rtlCol="0" anchor="t"/>
          <a:lstStyle/>
          <a:p>
            <a:pPr marL="0" indent="0">
              <a:buNone/>
            </a:pPr>
            <a:r>
              <a:rPr lang="en-US" sz="1000" dirty="0">
                <a:solidFill>
                  <a:schemeClr val="bg1"/>
                </a:solidFill>
                <a:latin typeface="Consolas" pitchFamily="34" charset="0"/>
                <a:ea typeface="Consolas" pitchFamily="34" charset="-122"/>
                <a:cs typeface="Consolas" pitchFamily="34" charset="-120"/>
              </a:rPr>
              <a:t>-- Dice: weather dimension (winter)</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SELECT w.wind_band, w.mixing_band, AVG(f.pm25)</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FROM fact_air_quality f</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JOIN dim_weather_condition w USING (weather_key)</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JOIN dim_date d USING (date_key)</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WHERE d.season = 'Winter' AND f.quality_flag = 0</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GROUP BY w.wind_band, w.mixing_band;</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 Pivot: AQI buckets as columns</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SELECT c.city,</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 xml:space="preserve"> SUM(CASE WHEN a.bucket = 'Very Poor' THEN 1 ELSE 0 END),</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 xml:space="preserve"> SUM(CASE WHEN a.bucket = 'Severe' THEN 1 ELSE 0 END)</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FROM fact_air_quality f JOIN dim_city c USING (city_key)</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JOIN dim_aqi_category a USING (category_key)</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WHERE f.quality_flag = 0 GROUP BY c.city;</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 Drill-across: two facts, conformed dims</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SELECT aq.month, aq.pm25, wx.mixing_height</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FROM (SELECT month, AVG(pm25) pm25 FROM ... ) aq</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JOIN (SELECT month, AVG(mixing_height) mixing_height</a:t>
            </a:r>
            <a:endParaRPr lang="en-US" sz="1000" dirty="0"/>
          </a:p>
          <a:p>
            <a:pPr marL="0" indent="0">
              <a:buNone/>
            </a:pPr>
            <a:r>
              <a:rPr lang="en-US" sz="1000" dirty="0">
                <a:solidFill>
                  <a:schemeClr val="bg1"/>
                </a:solidFill>
                <a:latin typeface="Consolas" pitchFamily="34" charset="0"/>
                <a:ea typeface="Consolas" pitchFamily="34" charset="-122"/>
                <a:cs typeface="Consolas" pitchFamily="34" charset="-120"/>
              </a:rPr>
              <a:t xml:space="preserve">      FROM fact_weather ... ) wx ON aq.month = wx.month;</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9</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a:spLocks noGrp="1"/>
          </p:cNvSpPr>
          <p:nvPr>
            <p:ph type="title" idx="102" hasCustomPrompt="1"/>
          </p:nvPr>
        </p:nvSpPr>
        <p:spPr>
          <a:xfrm>
            <a:off x="822960" y="411480"/>
            <a:ext cx="10789920" cy="777240"/>
          </a:xfrm>
          <a:prstGeom prst="rect">
            <a:avLst/>
          </a:prstGeom>
          <a:noFill/>
          <a:ln/>
        </p:spPr>
        <p:txBody>
          <a:bodyPr wrap="square" rtlCol="0" anchor="ctr"/>
          <a:lstStyle/>
          <a:p>
            <a:pPr marL="0" indent="0">
              <a:buNone/>
            </a:pPr>
            <a:r>
              <a:rPr lang="en-US" sz="2800" b="1" dirty="0">
                <a:solidFill>
                  <a:schemeClr val="tx2"/>
                </a:solidFill>
              </a:rPr>
              <a:t>Data Mining: Methods and Headlines</a:t>
            </a:r>
            <a:endParaRPr lang="en-US" sz="2800" dirty="0"/>
          </a:p>
        </p:txBody>
      </p:sp>
      <p:sp>
        <p:nvSpPr>
          <p:cNvPr id="3" name="Roll-up card"/>
          <p:cNvSpPr/>
          <p:nvPr/>
        </p:nvSpPr>
        <p:spPr>
          <a:xfrm>
            <a:off x="548640" y="1554480"/>
            <a:ext cx="2103120" cy="4480560"/>
          </a:xfrm>
          <a:prstGeom prst="rect">
            <a:avLst/>
          </a:prstGeom>
          <a:solidFill>
            <a:schemeClr val="bg2"/>
          </a:solidFill>
          <a:ln w="12700">
            <a:solidFill>
              <a:schemeClr val="bg2"/>
            </a:solidFill>
            <a:prstDash val="solid"/>
          </a:ln>
        </p:spPr>
      </p:sp>
      <p:sp>
        <p:nvSpPr>
          <p:cNvPr id="4" name="Roll-up header"/>
          <p:cNvSpPr/>
          <p:nvPr/>
        </p:nvSpPr>
        <p:spPr>
          <a:xfrm>
            <a:off x="548640" y="1554480"/>
            <a:ext cx="2103120" cy="548640"/>
          </a:xfrm>
          <a:prstGeom prst="rect">
            <a:avLst/>
          </a:prstGeom>
          <a:solidFill>
            <a:schemeClr val="accent1"/>
          </a:solidFill>
          <a:ln w="12700">
            <a:solidFill>
              <a:schemeClr val="accent1"/>
            </a:solidFill>
            <a:prstDash val="solid"/>
          </a:ln>
        </p:spPr>
      </p:sp>
      <p:sp>
        <p:nvSpPr>
          <p:cNvPr id="5" name="Roll-up title"/>
          <p:cNvSpPr txBox="1"/>
          <p:nvPr/>
        </p:nvSpPr>
        <p:spPr>
          <a:xfrm>
            <a:off x="548640" y="1554480"/>
            <a:ext cx="2103120" cy="548640"/>
          </a:xfrm>
          <a:prstGeom prst="rect">
            <a:avLst/>
          </a:prstGeom>
          <a:noFill/>
          <a:ln/>
        </p:spPr>
        <p:txBody>
          <a:bodyPr wrap="square" lIns="0" tIns="0" rIns="0" bIns="0" rtlCol="0" anchor="ctr"/>
          <a:lstStyle/>
          <a:p>
            <a:pPr marL="0" indent="0" algn="ctr">
              <a:buNone/>
            </a:pPr>
            <a:r>
              <a:rPr lang="en-US" sz="1600" b="1" dirty="0">
                <a:solidFill>
                  <a:schemeClr val="bg1"/>
                </a:solidFill>
              </a:rPr>
              <a:t>Classification</a:t>
            </a:r>
            <a:endParaRPr lang="en-US" sz="1600" dirty="0"/>
          </a:p>
        </p:txBody>
      </p:sp>
      <p:sp>
        <p:nvSpPr>
          <p:cNvPr id="6" name="Roll-up desc"/>
          <p:cNvSpPr txBox="1"/>
          <p:nvPr/>
        </p:nvSpPr>
        <p:spPr>
          <a:xfrm>
            <a:off x="685800" y="2240280"/>
            <a:ext cx="1828800" cy="1005840"/>
          </a:xfrm>
          <a:prstGeom prst="rect">
            <a:avLst/>
          </a:prstGeom>
          <a:noFill/>
          <a:ln/>
        </p:spPr>
        <p:txBody>
          <a:bodyPr wrap="square" lIns="0" tIns="0" rIns="0" bIns="0" rtlCol="0" anchor="t"/>
          <a:lstStyle/>
          <a:p>
            <a:pPr marL="0" indent="0">
              <a:buNone/>
            </a:pPr>
            <a:r>
              <a:rPr lang="en-US" sz="1200" dirty="0">
                <a:solidFill>
                  <a:schemeClr val="tx1"/>
                </a:solidFill>
              </a:rPr>
              <a:t>Will tomorrow be unhealthy (AQI &gt; 200)?</a:t>
            </a:r>
            <a:endParaRPr lang="en-US" sz="1200" dirty="0"/>
          </a:p>
        </p:txBody>
      </p:sp>
      <p:sp>
        <p:nvSpPr>
          <p:cNvPr id="7" name="Roll-up placeholder"/>
          <p:cNvSpPr txBox="1"/>
          <p:nvPr/>
        </p:nvSpPr>
        <p:spPr>
          <a:xfrm>
            <a:off x="685800" y="3337560"/>
            <a:ext cx="1828800" cy="2560320"/>
          </a:xfrm>
          <a:prstGeom prst="rect">
            <a:avLst/>
          </a:prstGeom>
          <a:noFill/>
          <a:ln/>
        </p:spPr>
        <p:txBody>
          <a:bodyPr wrap="square" lIns="0" tIns="0" rIns="0" bIns="0" rtlCol="0" anchor="t"/>
          <a:lstStyle/>
          <a:p>
            <a:pPr marL="0" indent="0">
              <a:buNone/>
            </a:pPr>
            <a:r>
              <a:rPr lang="en-US" sz="1200" b="1" dirty="0">
                <a:solidFill>
                  <a:schemeClr val="tx2"/>
                </a:solidFill>
              </a:rPr>
              <a:t>Method</a:t>
            </a:r>
            <a:endParaRPr lang="en-US" sz="1200" dirty="0"/>
          </a:p>
          <a:p>
            <a:pPr marL="0" indent="0">
              <a:buNone/>
            </a:pPr>
            <a:r>
              <a:rPr lang="en-US" sz="1200" dirty="0">
                <a:solidFill>
                  <a:schemeClr val="accent6"/>
                </a:solidFill>
              </a:rPr>
              <a:t>Decision Tree and Random Forest (± weather) vs persistence; SHAP</a:t>
            </a:r>
            <a:endParaRPr lang="en-US" sz="1200" dirty="0"/>
          </a:p>
          <a:p>
            <a:pPr marL="0" indent="0">
              <a:buNone/>
            </a:pPr>
            <a:r>
              <a:rPr lang="en-US" sz="1200" dirty="0">
                <a:solidFill>
                  <a:schemeClr val="accent6"/>
                </a:solidFill>
              </a:rPr>
              <a:t xml:space="preserve"> </a:t>
            </a:r>
            <a:endParaRPr lang="en-US" sz="1200" dirty="0"/>
          </a:p>
          <a:p>
            <a:pPr marL="0" indent="0">
              <a:buNone/>
            </a:pPr>
            <a:r>
              <a:rPr lang="en-US" sz="1200" b="1" dirty="0">
                <a:solidFill>
                  <a:schemeClr val="tx2"/>
                </a:solidFill>
              </a:rPr>
              <a:t>Headline</a:t>
            </a:r>
            <a:endParaRPr lang="en-US" sz="1200" dirty="0"/>
          </a:p>
          <a:p>
            <a:pPr marL="0" indent="0">
              <a:buNone/>
            </a:pPr>
            <a:r>
              <a:rPr lang="en-US" sz="1200" dirty="0">
                <a:solidFill>
                  <a:schemeClr val="accent6"/>
                </a:solidFill>
              </a:rPr>
              <a:t>Random Forest F1 0.83 vs 0.78 baseline</a:t>
            </a:r>
            <a:endParaRPr lang="en-US" sz="1200" dirty="0"/>
          </a:p>
        </p:txBody>
      </p:sp>
      <p:sp>
        <p:nvSpPr>
          <p:cNvPr id="8" name="Drill-down card"/>
          <p:cNvSpPr/>
          <p:nvPr/>
        </p:nvSpPr>
        <p:spPr>
          <a:xfrm>
            <a:off x="2788920" y="1554480"/>
            <a:ext cx="2103120" cy="4480560"/>
          </a:xfrm>
          <a:prstGeom prst="rect">
            <a:avLst/>
          </a:prstGeom>
          <a:solidFill>
            <a:schemeClr val="bg2"/>
          </a:solidFill>
          <a:ln w="12700">
            <a:solidFill>
              <a:schemeClr val="bg2"/>
            </a:solidFill>
            <a:prstDash val="solid"/>
          </a:ln>
        </p:spPr>
      </p:sp>
      <p:sp>
        <p:nvSpPr>
          <p:cNvPr id="9" name="Drill-down header"/>
          <p:cNvSpPr/>
          <p:nvPr/>
        </p:nvSpPr>
        <p:spPr>
          <a:xfrm>
            <a:off x="2788920" y="1554480"/>
            <a:ext cx="2103120" cy="548640"/>
          </a:xfrm>
          <a:prstGeom prst="rect">
            <a:avLst/>
          </a:prstGeom>
          <a:solidFill>
            <a:schemeClr val="accent3"/>
          </a:solidFill>
          <a:ln w="12700">
            <a:solidFill>
              <a:schemeClr val="accent3"/>
            </a:solidFill>
            <a:prstDash val="solid"/>
          </a:ln>
        </p:spPr>
      </p:sp>
      <p:sp>
        <p:nvSpPr>
          <p:cNvPr id="10" name="Drill-down title"/>
          <p:cNvSpPr txBox="1"/>
          <p:nvPr/>
        </p:nvSpPr>
        <p:spPr>
          <a:xfrm>
            <a:off x="2788920" y="1554480"/>
            <a:ext cx="2103120" cy="548640"/>
          </a:xfrm>
          <a:prstGeom prst="rect">
            <a:avLst/>
          </a:prstGeom>
          <a:noFill/>
          <a:ln/>
        </p:spPr>
        <p:txBody>
          <a:bodyPr wrap="square" lIns="0" tIns="0" rIns="0" bIns="0" rtlCol="0" anchor="ctr"/>
          <a:lstStyle/>
          <a:p>
            <a:pPr marL="0" indent="0" algn="ctr">
              <a:buNone/>
            </a:pPr>
            <a:r>
              <a:rPr lang="en-US" sz="1600" b="1" dirty="0">
                <a:solidFill>
                  <a:schemeClr val="bg1"/>
                </a:solidFill>
              </a:rPr>
              <a:t>Clustering</a:t>
            </a:r>
            <a:endParaRPr lang="en-US" sz="1600" dirty="0"/>
          </a:p>
        </p:txBody>
      </p:sp>
      <p:sp>
        <p:nvSpPr>
          <p:cNvPr id="11" name="Drill-down desc"/>
          <p:cNvSpPr txBox="1"/>
          <p:nvPr/>
        </p:nvSpPr>
        <p:spPr>
          <a:xfrm>
            <a:off x="2926080" y="2240280"/>
            <a:ext cx="1828800" cy="1005840"/>
          </a:xfrm>
          <a:prstGeom prst="rect">
            <a:avLst/>
          </a:prstGeom>
          <a:noFill/>
          <a:ln/>
        </p:spPr>
        <p:txBody>
          <a:bodyPr wrap="square" lIns="0" tIns="0" rIns="0" bIns="0" rtlCol="0" anchor="t"/>
          <a:lstStyle/>
          <a:p>
            <a:pPr marL="0" indent="0">
              <a:buNone/>
            </a:pPr>
            <a:r>
              <a:rPr lang="en-US" sz="1200" dirty="0">
                <a:solidFill>
                  <a:schemeClr val="tx1"/>
                </a:solidFill>
              </a:rPr>
              <a:t>Group cities by pollution profile.</a:t>
            </a:r>
            <a:endParaRPr lang="en-US" sz="1200" dirty="0"/>
          </a:p>
        </p:txBody>
      </p:sp>
      <p:sp>
        <p:nvSpPr>
          <p:cNvPr id="12" name="Drill-down placeholder"/>
          <p:cNvSpPr txBox="1"/>
          <p:nvPr/>
        </p:nvSpPr>
        <p:spPr>
          <a:xfrm>
            <a:off x="2926080" y="3337560"/>
            <a:ext cx="1828800" cy="2560320"/>
          </a:xfrm>
          <a:prstGeom prst="rect">
            <a:avLst/>
          </a:prstGeom>
          <a:noFill/>
          <a:ln/>
        </p:spPr>
        <p:txBody>
          <a:bodyPr wrap="square" lIns="0" tIns="0" rIns="0" bIns="0" rtlCol="0" anchor="t"/>
          <a:lstStyle/>
          <a:p>
            <a:pPr marL="0" indent="0">
              <a:buNone/>
            </a:pPr>
            <a:r>
              <a:rPr lang="en-US" sz="1200" b="1" dirty="0">
                <a:solidFill>
                  <a:schemeClr val="tx2"/>
                </a:solidFill>
              </a:rPr>
              <a:t>Method</a:t>
            </a:r>
            <a:endParaRPr lang="en-US" sz="1200" dirty="0"/>
          </a:p>
          <a:p>
            <a:pPr marL="0" indent="0">
              <a:buNone/>
            </a:pPr>
            <a:r>
              <a:rPr lang="en-US" sz="1200" dirty="0">
                <a:solidFill>
                  <a:schemeClr val="accent6"/>
                </a:solidFill>
              </a:rPr>
              <a:t>K-Means on pollutant mix, seasonality and mixing sensitivity</a:t>
            </a:r>
            <a:endParaRPr lang="en-US" sz="1200" dirty="0"/>
          </a:p>
          <a:p>
            <a:pPr marL="0" indent="0">
              <a:buNone/>
            </a:pPr>
            <a:r>
              <a:rPr lang="en-US" sz="1200" dirty="0">
                <a:solidFill>
                  <a:schemeClr val="accent6"/>
                </a:solidFill>
              </a:rPr>
              <a:t xml:space="preserve"> </a:t>
            </a:r>
            <a:endParaRPr lang="en-US" sz="1200" dirty="0"/>
          </a:p>
          <a:p>
            <a:pPr marL="0" indent="0">
              <a:buNone/>
            </a:pPr>
            <a:r>
              <a:rPr lang="en-US" sz="1200" b="1" dirty="0">
                <a:solidFill>
                  <a:schemeClr val="tx2"/>
                </a:solidFill>
              </a:rPr>
              <a:t>Headline</a:t>
            </a:r>
            <a:endParaRPr lang="en-US" sz="1200" dirty="0"/>
          </a:p>
          <a:p>
            <a:pPr marL="0" indent="0">
              <a:buNone/>
            </a:pPr>
            <a:r>
              <a:rPr lang="en-US" sz="1200" dirty="0">
                <a:solidFill>
                  <a:schemeClr val="accent6"/>
                </a:solidFill>
              </a:rPr>
              <a:t>3 clusters; smog belt = Delhi, Gurugram, Lucknow, Patna</a:t>
            </a:r>
            <a:endParaRPr lang="en-US" sz="1200" dirty="0"/>
          </a:p>
        </p:txBody>
      </p:sp>
      <p:sp>
        <p:nvSpPr>
          <p:cNvPr id="13" name="Slice card"/>
          <p:cNvSpPr/>
          <p:nvPr/>
        </p:nvSpPr>
        <p:spPr>
          <a:xfrm>
            <a:off x="5029200" y="1554480"/>
            <a:ext cx="2103120" cy="4480560"/>
          </a:xfrm>
          <a:prstGeom prst="rect">
            <a:avLst/>
          </a:prstGeom>
          <a:solidFill>
            <a:schemeClr val="bg2"/>
          </a:solidFill>
          <a:ln w="12700">
            <a:solidFill>
              <a:schemeClr val="bg2"/>
            </a:solidFill>
            <a:prstDash val="solid"/>
          </a:ln>
        </p:spPr>
      </p:sp>
      <p:sp>
        <p:nvSpPr>
          <p:cNvPr id="14" name="Slice header"/>
          <p:cNvSpPr/>
          <p:nvPr/>
        </p:nvSpPr>
        <p:spPr>
          <a:xfrm>
            <a:off x="5029200" y="1554480"/>
            <a:ext cx="2103120" cy="548640"/>
          </a:xfrm>
          <a:prstGeom prst="rect">
            <a:avLst/>
          </a:prstGeom>
          <a:solidFill>
            <a:schemeClr val="accent2"/>
          </a:solidFill>
          <a:ln w="12700">
            <a:solidFill>
              <a:schemeClr val="accent2"/>
            </a:solidFill>
            <a:prstDash val="solid"/>
          </a:ln>
        </p:spPr>
      </p:sp>
      <p:sp>
        <p:nvSpPr>
          <p:cNvPr id="15" name="Slice title"/>
          <p:cNvSpPr txBox="1"/>
          <p:nvPr/>
        </p:nvSpPr>
        <p:spPr>
          <a:xfrm>
            <a:off x="5029200" y="1554480"/>
            <a:ext cx="2103120" cy="548640"/>
          </a:xfrm>
          <a:prstGeom prst="rect">
            <a:avLst/>
          </a:prstGeom>
          <a:noFill/>
          <a:ln/>
        </p:spPr>
        <p:txBody>
          <a:bodyPr wrap="square" lIns="0" tIns="0" rIns="0" bIns="0" rtlCol="0" anchor="ctr"/>
          <a:lstStyle/>
          <a:p>
            <a:pPr marL="0" indent="0" algn="ctr">
              <a:buNone/>
            </a:pPr>
            <a:r>
              <a:rPr lang="en-US" sz="1600" b="1" dirty="0">
                <a:solidFill>
                  <a:schemeClr val="bg1"/>
                </a:solidFill>
              </a:rPr>
              <a:t>Association Rules</a:t>
            </a:r>
            <a:endParaRPr lang="en-US" sz="1600" dirty="0"/>
          </a:p>
        </p:txBody>
      </p:sp>
      <p:sp>
        <p:nvSpPr>
          <p:cNvPr id="16" name="Slice desc"/>
          <p:cNvSpPr txBox="1"/>
          <p:nvPr/>
        </p:nvSpPr>
        <p:spPr>
          <a:xfrm>
            <a:off x="5166360" y="2240280"/>
            <a:ext cx="1828800" cy="1005840"/>
          </a:xfrm>
          <a:prstGeom prst="rect">
            <a:avLst/>
          </a:prstGeom>
          <a:noFill/>
          <a:ln/>
        </p:spPr>
        <p:txBody>
          <a:bodyPr wrap="square" lIns="0" tIns="0" rIns="0" bIns="0" rtlCol="0" anchor="t"/>
          <a:lstStyle/>
          <a:p>
            <a:pPr marL="0" indent="0">
              <a:buNone/>
            </a:pPr>
            <a:r>
              <a:rPr lang="en-US" sz="1200" dirty="0">
                <a:solidFill>
                  <a:schemeClr val="tx1"/>
                </a:solidFill>
              </a:rPr>
              <a:t>Which conditions bring bad air?</a:t>
            </a:r>
            <a:endParaRPr lang="en-US" sz="1200" dirty="0"/>
          </a:p>
        </p:txBody>
      </p:sp>
      <p:sp>
        <p:nvSpPr>
          <p:cNvPr id="17" name="Slice placeholder"/>
          <p:cNvSpPr txBox="1"/>
          <p:nvPr/>
        </p:nvSpPr>
        <p:spPr>
          <a:xfrm>
            <a:off x="5166360" y="3337560"/>
            <a:ext cx="1828800" cy="2560320"/>
          </a:xfrm>
          <a:prstGeom prst="rect">
            <a:avLst/>
          </a:prstGeom>
          <a:noFill/>
          <a:ln/>
        </p:spPr>
        <p:txBody>
          <a:bodyPr wrap="square" lIns="0" tIns="0" rIns="0" bIns="0" rtlCol="0" anchor="t"/>
          <a:lstStyle/>
          <a:p>
            <a:pPr marL="0" indent="0">
              <a:buNone/>
            </a:pPr>
            <a:r>
              <a:rPr lang="en-US" sz="1200" b="1" dirty="0">
                <a:solidFill>
                  <a:schemeClr val="tx2"/>
                </a:solidFill>
              </a:rPr>
              <a:t>Method</a:t>
            </a:r>
            <a:endParaRPr lang="en-US" sz="1200" dirty="0"/>
          </a:p>
          <a:p>
            <a:pPr marL="0" indent="0">
              <a:buNone/>
            </a:pPr>
            <a:r>
              <a:rPr lang="en-US" sz="1200" dirty="0">
                <a:solidFill>
                  <a:schemeClr val="accent6"/>
                </a:solidFill>
              </a:rPr>
              <a:t>FP-Growth per region: weather, season, event → Unhealthy</a:t>
            </a:r>
            <a:endParaRPr lang="en-US" sz="1200" dirty="0"/>
          </a:p>
          <a:p>
            <a:pPr marL="0" indent="0">
              <a:buNone/>
            </a:pPr>
            <a:r>
              <a:rPr lang="en-US" sz="1200" dirty="0">
                <a:solidFill>
                  <a:schemeClr val="accent6"/>
                </a:solidFill>
              </a:rPr>
              <a:t xml:space="preserve"> </a:t>
            </a:r>
            <a:endParaRPr lang="en-US" sz="1200" dirty="0"/>
          </a:p>
          <a:p>
            <a:pPr marL="0" indent="0">
              <a:buNone/>
            </a:pPr>
            <a:r>
              <a:rPr lang="en-US" sz="1200" b="1" dirty="0">
                <a:solidFill>
                  <a:schemeClr val="tx2"/>
                </a:solidFill>
              </a:rPr>
              <a:t>Headline</a:t>
            </a:r>
            <a:endParaRPr lang="en-US" sz="1200" dirty="0"/>
          </a:p>
          <a:p>
            <a:pPr marL="0" indent="0">
              <a:buNone/>
            </a:pPr>
            <a:r>
              <a:rPr lang="en-US" sz="1200" dirty="0">
                <a:solidFill>
                  <a:schemeClr val="accent6"/>
                </a:solidFill>
              </a:rPr>
              <a:t>North: stubble + low mixing → 83% unhealthy</a:t>
            </a:r>
            <a:endParaRPr lang="en-US" sz="1200" dirty="0"/>
          </a:p>
        </p:txBody>
      </p:sp>
      <p:sp>
        <p:nvSpPr>
          <p:cNvPr id="18" name="Dice card"/>
          <p:cNvSpPr/>
          <p:nvPr/>
        </p:nvSpPr>
        <p:spPr>
          <a:xfrm>
            <a:off x="7269480" y="1554480"/>
            <a:ext cx="2103120" cy="4480560"/>
          </a:xfrm>
          <a:prstGeom prst="rect">
            <a:avLst/>
          </a:prstGeom>
          <a:solidFill>
            <a:schemeClr val="bg2"/>
          </a:solidFill>
          <a:ln w="12700">
            <a:solidFill>
              <a:schemeClr val="bg2"/>
            </a:solidFill>
            <a:prstDash val="solid"/>
          </a:ln>
        </p:spPr>
      </p:sp>
      <p:sp>
        <p:nvSpPr>
          <p:cNvPr id="19" name="Dice header"/>
          <p:cNvSpPr/>
          <p:nvPr/>
        </p:nvSpPr>
        <p:spPr>
          <a:xfrm>
            <a:off x="7269480" y="1554480"/>
            <a:ext cx="2103120" cy="548640"/>
          </a:xfrm>
          <a:prstGeom prst="rect">
            <a:avLst/>
          </a:prstGeom>
          <a:solidFill>
            <a:schemeClr val="accent4"/>
          </a:solidFill>
          <a:ln w="12700">
            <a:solidFill>
              <a:schemeClr val="accent4"/>
            </a:solidFill>
            <a:prstDash val="solid"/>
          </a:ln>
        </p:spPr>
      </p:sp>
      <p:sp>
        <p:nvSpPr>
          <p:cNvPr id="20" name="Dice title"/>
          <p:cNvSpPr txBox="1"/>
          <p:nvPr/>
        </p:nvSpPr>
        <p:spPr>
          <a:xfrm>
            <a:off x="7269480" y="1554480"/>
            <a:ext cx="2103120" cy="548640"/>
          </a:xfrm>
          <a:prstGeom prst="rect">
            <a:avLst/>
          </a:prstGeom>
          <a:noFill/>
          <a:ln/>
        </p:spPr>
        <p:txBody>
          <a:bodyPr wrap="square" lIns="0" tIns="0" rIns="0" bIns="0" rtlCol="0" anchor="ctr"/>
          <a:lstStyle/>
          <a:p>
            <a:pPr marL="0" indent="0" algn="ctr">
              <a:buNone/>
            </a:pPr>
            <a:r>
              <a:rPr lang="en-US" sz="1600" b="1" dirty="0">
                <a:solidFill>
                  <a:schemeClr val="bg1"/>
                </a:solidFill>
              </a:rPr>
              <a:t>Prediction</a:t>
            </a:r>
            <a:endParaRPr lang="en-US" sz="1600" dirty="0"/>
          </a:p>
        </p:txBody>
      </p:sp>
      <p:sp>
        <p:nvSpPr>
          <p:cNvPr id="21" name="Dice desc"/>
          <p:cNvSpPr txBox="1"/>
          <p:nvPr/>
        </p:nvSpPr>
        <p:spPr>
          <a:xfrm>
            <a:off x="7406640" y="2240280"/>
            <a:ext cx="1828800" cy="1005840"/>
          </a:xfrm>
          <a:prstGeom prst="rect">
            <a:avLst/>
          </a:prstGeom>
          <a:noFill/>
          <a:ln/>
        </p:spPr>
        <p:txBody>
          <a:bodyPr wrap="square" lIns="0" tIns="0" rIns="0" bIns="0" rtlCol="0" anchor="t"/>
          <a:lstStyle/>
          <a:p>
            <a:pPr marL="0" indent="0">
              <a:buNone/>
            </a:pPr>
            <a:r>
              <a:rPr lang="en-US" sz="1200" dirty="0">
                <a:solidFill>
                  <a:schemeClr val="tx1"/>
                </a:solidFill>
              </a:rPr>
              <a:t>Forecast monthly AQI for 2019.</a:t>
            </a:r>
            <a:endParaRPr lang="en-US" sz="1200" dirty="0"/>
          </a:p>
        </p:txBody>
      </p:sp>
      <p:sp>
        <p:nvSpPr>
          <p:cNvPr id="22" name="Dice placeholder"/>
          <p:cNvSpPr txBox="1"/>
          <p:nvPr/>
        </p:nvSpPr>
        <p:spPr>
          <a:xfrm>
            <a:off x="7406640" y="3337560"/>
            <a:ext cx="1828800" cy="2560320"/>
          </a:xfrm>
          <a:prstGeom prst="rect">
            <a:avLst/>
          </a:prstGeom>
          <a:noFill/>
          <a:ln/>
        </p:spPr>
        <p:txBody>
          <a:bodyPr wrap="square" lIns="0" tIns="0" rIns="0" bIns="0" rtlCol="0" anchor="t"/>
          <a:lstStyle/>
          <a:p>
            <a:pPr marL="0" indent="0">
              <a:buNone/>
            </a:pPr>
            <a:r>
              <a:rPr lang="en-US" sz="1200" b="1" dirty="0">
                <a:solidFill>
                  <a:schemeClr val="tx2"/>
                </a:solidFill>
              </a:rPr>
              <a:t>Method</a:t>
            </a:r>
            <a:endParaRPr lang="en-US" sz="1200" dirty="0"/>
          </a:p>
          <a:p>
            <a:pPr marL="0" indent="0">
              <a:buNone/>
            </a:pPr>
            <a:r>
              <a:rPr lang="en-US" sz="1200" dirty="0">
                <a:solidFill>
                  <a:schemeClr val="accent6"/>
                </a:solidFill>
              </a:rPr>
              <a:t>Seasonal naive, Holt-Winters, SARIMA, weather-adjusted</a:t>
            </a:r>
            <a:endParaRPr lang="en-US" sz="1200" dirty="0"/>
          </a:p>
          <a:p>
            <a:pPr marL="0" indent="0">
              <a:buNone/>
            </a:pPr>
            <a:r>
              <a:rPr lang="en-US" sz="1200" dirty="0">
                <a:solidFill>
                  <a:schemeClr val="accent6"/>
                </a:solidFill>
              </a:rPr>
              <a:t xml:space="preserve"> </a:t>
            </a:r>
            <a:endParaRPr lang="en-US" sz="1200" dirty="0"/>
          </a:p>
          <a:p>
            <a:pPr marL="0" indent="0">
              <a:buNone/>
            </a:pPr>
            <a:r>
              <a:rPr lang="en-US" sz="1200" b="1" dirty="0">
                <a:solidFill>
                  <a:schemeClr val="tx2"/>
                </a:solidFill>
              </a:rPr>
              <a:t>Headline</a:t>
            </a:r>
            <a:endParaRPr lang="en-US" sz="1200" dirty="0"/>
          </a:p>
          <a:p>
            <a:pPr marL="0" indent="0">
              <a:buNone/>
            </a:pPr>
            <a:r>
              <a:rPr lang="en-US" sz="1200" dirty="0">
                <a:solidFill>
                  <a:schemeClr val="accent6"/>
                </a:solidFill>
              </a:rPr>
              <a:t>Weather-adjusted MAPE 14.2% vs 16.8%</a:t>
            </a:r>
            <a:endParaRPr lang="en-US" sz="1200" dirty="0"/>
          </a:p>
        </p:txBody>
      </p:sp>
      <p:sp>
        <p:nvSpPr>
          <p:cNvPr id="23" name="Pivot card"/>
          <p:cNvSpPr/>
          <p:nvPr/>
        </p:nvSpPr>
        <p:spPr>
          <a:xfrm>
            <a:off x="9509760" y="1554480"/>
            <a:ext cx="2103120" cy="4480560"/>
          </a:xfrm>
          <a:prstGeom prst="rect">
            <a:avLst/>
          </a:prstGeom>
          <a:solidFill>
            <a:schemeClr val="bg2"/>
          </a:solidFill>
          <a:ln w="12700">
            <a:solidFill>
              <a:schemeClr val="bg2"/>
            </a:solidFill>
            <a:prstDash val="solid"/>
          </a:ln>
        </p:spPr>
      </p:sp>
      <p:sp>
        <p:nvSpPr>
          <p:cNvPr id="24" name="Pivot header"/>
          <p:cNvSpPr/>
          <p:nvPr/>
        </p:nvSpPr>
        <p:spPr>
          <a:xfrm>
            <a:off x="9509760" y="1554480"/>
            <a:ext cx="2103120" cy="548640"/>
          </a:xfrm>
          <a:prstGeom prst="rect">
            <a:avLst/>
          </a:prstGeom>
          <a:solidFill>
            <a:schemeClr val="accent5"/>
          </a:solidFill>
          <a:ln w="12700">
            <a:solidFill>
              <a:schemeClr val="accent5"/>
            </a:solidFill>
            <a:prstDash val="solid"/>
          </a:ln>
        </p:spPr>
      </p:sp>
      <p:sp>
        <p:nvSpPr>
          <p:cNvPr id="25" name="Pivot title"/>
          <p:cNvSpPr txBox="1"/>
          <p:nvPr/>
        </p:nvSpPr>
        <p:spPr>
          <a:xfrm>
            <a:off x="9509760" y="1554480"/>
            <a:ext cx="2103120" cy="548640"/>
          </a:xfrm>
          <a:prstGeom prst="rect">
            <a:avLst/>
          </a:prstGeom>
          <a:noFill/>
          <a:ln/>
        </p:spPr>
        <p:txBody>
          <a:bodyPr wrap="square" lIns="0" tIns="0" rIns="0" bIns="0" rtlCol="0" anchor="ctr"/>
          <a:lstStyle/>
          <a:p>
            <a:pPr marL="0" indent="0" algn="ctr">
              <a:buNone/>
            </a:pPr>
            <a:r>
              <a:rPr lang="en-US" sz="1600" b="1" dirty="0">
                <a:solidFill>
                  <a:schemeClr val="bg1"/>
                </a:solidFill>
              </a:rPr>
              <a:t>Natural Experiments</a:t>
            </a:r>
            <a:endParaRPr lang="en-US" sz="1600" dirty="0"/>
          </a:p>
        </p:txBody>
      </p:sp>
      <p:sp>
        <p:nvSpPr>
          <p:cNvPr id="26" name="Pivot desc"/>
          <p:cNvSpPr txBox="1"/>
          <p:nvPr/>
        </p:nvSpPr>
        <p:spPr>
          <a:xfrm>
            <a:off x="9646920" y="2240280"/>
            <a:ext cx="1828800" cy="1005840"/>
          </a:xfrm>
          <a:prstGeom prst="rect">
            <a:avLst/>
          </a:prstGeom>
          <a:noFill/>
          <a:ln/>
        </p:spPr>
        <p:txBody>
          <a:bodyPr wrap="square" lIns="0" tIns="0" rIns="0" bIns="0" rtlCol="0" anchor="t"/>
          <a:lstStyle/>
          <a:p>
            <a:pPr marL="0" indent="0">
              <a:buNone/>
            </a:pPr>
            <a:r>
              <a:rPr lang="en-US" sz="1200" dirty="0">
                <a:solidFill>
                  <a:schemeClr val="tx1"/>
                </a:solidFill>
              </a:rPr>
              <a:t>Lockdown and Diwali effects.</a:t>
            </a:r>
            <a:endParaRPr lang="en-US" sz="1200" dirty="0"/>
          </a:p>
        </p:txBody>
      </p:sp>
      <p:sp>
        <p:nvSpPr>
          <p:cNvPr id="27" name="Pivot placeholder"/>
          <p:cNvSpPr txBox="1"/>
          <p:nvPr/>
        </p:nvSpPr>
        <p:spPr>
          <a:xfrm>
            <a:off x="9646920" y="3337560"/>
            <a:ext cx="1828800" cy="2560320"/>
          </a:xfrm>
          <a:prstGeom prst="rect">
            <a:avLst/>
          </a:prstGeom>
          <a:noFill/>
          <a:ln/>
        </p:spPr>
        <p:txBody>
          <a:bodyPr wrap="square" lIns="0" tIns="0" rIns="0" bIns="0" rtlCol="0" anchor="t"/>
          <a:lstStyle/>
          <a:p>
            <a:pPr marL="0" indent="0">
              <a:buNone/>
            </a:pPr>
            <a:r>
              <a:rPr lang="en-US" sz="1200" b="1" dirty="0">
                <a:solidFill>
                  <a:schemeClr val="tx2"/>
                </a:solidFill>
              </a:rPr>
              <a:t>Method</a:t>
            </a:r>
            <a:endParaRPr lang="en-US" sz="1200" dirty="0"/>
          </a:p>
          <a:p>
            <a:pPr marL="0" indent="0">
              <a:buNone/>
            </a:pPr>
            <a:r>
              <a:rPr lang="en-US" sz="1200" dirty="0">
                <a:solidFill>
                  <a:schemeClr val="accent6"/>
                </a:solidFill>
              </a:rPr>
              <a:t>Weather-normalised counterfactual (gradient boosting) + placebo test</a:t>
            </a:r>
            <a:endParaRPr lang="en-US" sz="1200" dirty="0"/>
          </a:p>
          <a:p>
            <a:pPr marL="0" indent="0">
              <a:buNone/>
            </a:pPr>
            <a:r>
              <a:rPr lang="en-US" sz="1200" dirty="0">
                <a:solidFill>
                  <a:schemeClr val="accent6"/>
                </a:solidFill>
              </a:rPr>
              <a:t xml:space="preserve"> </a:t>
            </a:r>
            <a:endParaRPr lang="en-US" sz="1200" dirty="0"/>
          </a:p>
          <a:p>
            <a:pPr marL="0" indent="0">
              <a:buNone/>
            </a:pPr>
            <a:r>
              <a:rPr lang="en-US" sz="1200" b="1" dirty="0">
                <a:solidFill>
                  <a:schemeClr val="tx2"/>
                </a:solidFill>
              </a:rPr>
              <a:t>Headline</a:t>
            </a:r>
            <a:endParaRPr lang="en-US" sz="1200" dirty="0"/>
          </a:p>
          <a:p>
            <a:pPr marL="0" indent="0">
              <a:buNone/>
            </a:pPr>
            <a:r>
              <a:rPr lang="en-US" sz="1200" dirty="0">
                <a:solidFill>
                  <a:schemeClr val="accent6"/>
                </a:solidFill>
              </a:rPr>
              <a:t>Lockdown cut NO2 29% and PM2.5 28%</a:t>
            </a:r>
            <a:endParaRPr lang="en-US" sz="1200" dirty="0"/>
          </a:p>
        </p:txBody>
      </p:sp>
      <p:sp>
        <p:nvSpPr>
          <p:cNvPr id="28"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6</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a:spLocks noGrp="1"/>
          </p:cNvSpPr>
          <p:nvPr>
            <p:ph type="title" idx="102" hasCustomPrompt="1"/>
          </p:nvPr>
        </p:nvSpPr>
        <p:spPr>
          <a:xfrm>
            <a:off x="822960" y="411480"/>
            <a:ext cx="10789920" cy="777240"/>
          </a:xfrm>
          <a:prstGeom prst="rect">
            <a:avLst/>
          </a:prstGeom>
          <a:noFill/>
          <a:ln/>
        </p:spPr>
        <p:txBody>
          <a:bodyPr wrap="square" rtlCol="0" anchor="ctr"/>
          <a:lstStyle/>
          <a:p>
            <a:pPr marL="0" indent="0">
              <a:buNone/>
            </a:pPr>
            <a:r>
              <a:rPr lang="en-US" sz="2800" b="1" dirty="0">
                <a:solidFill>
                  <a:schemeClr val="tx2"/>
                </a:solidFill>
              </a:rPr>
              <a:t>Results: Next-day Risk Classification</a:t>
            </a:r>
            <a:endParaRPr lang="en-US" sz="28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7</a:t>
            </a:fld>
            <a:endParaRPr lang="en-US"/>
          </a:p>
        </p:txBody>
      </p:sp>
      <p:graphicFrame>
        <p:nvGraphicFramePr>
          <p:cNvPr id="26" name="Chart models"/>
          <p:cNvGraphicFramePr>
            <a:graphicFrameLocks noGrp="1"/>
          </p:cNvGraphicFramePr>
          <p:nvPr/>
        </p:nvGraphicFramePr>
        <p:xfrm>
          <a:off x="548640" y="1463040"/>
          <a:ext cx="5760720" cy="3429000"/>
        </p:xfrm>
        <a:graphic>
          <a:graphicData uri="http://schemas.openxmlformats.org/drawingml/2006/chart">
            <c:chart xmlns:c="http://schemas.openxmlformats.org/drawingml/2006/chart" r:id="rId2"/>
          </a:graphicData>
        </a:graphic>
      </p:graphicFrame>
      <p:graphicFrame>
        <p:nvGraphicFramePr>
          <p:cNvPr id="27" name="Chart shap"/>
          <p:cNvGraphicFramePr>
            <a:graphicFrameLocks noGrp="1"/>
          </p:cNvGraphicFramePr>
          <p:nvPr/>
        </p:nvGraphicFramePr>
        <p:xfrm>
          <a:off x="6492240" y="1463040"/>
          <a:ext cx="5120640" cy="3429000"/>
        </p:xfrm>
        <a:graphic>
          <a:graphicData uri="http://schemas.openxmlformats.org/drawingml/2006/chart">
            <c:chart xmlns:c="http://schemas.openxmlformats.org/drawingml/2006/chart" r:id="rId3"/>
          </a:graphicData>
        </a:graphic>
      </p:graphicFrame>
      <p:sp>
        <p:nvSpPr>
          <p:cNvPr id="28" name="TextBox 27"/>
          <p:cNvSpPr txBox="1"/>
          <p:nvPr/>
        </p:nvSpPr>
        <p:spPr>
          <a:xfrm>
            <a:off x="548640" y="5074920"/>
            <a:ext cx="11064240" cy="1097280"/>
          </a:xfrm>
          <a:prstGeom prst="rect">
            <a:avLst/>
          </a:prstGeom>
          <a:noFill/>
        </p:spPr>
        <p:txBody>
          <a:bodyPr wrap="square" anchor="t" lIns="0" rIns="0" tIns="0" bIns="0">
            <a:spAutoFit/>
          </a:bodyPr>
          <a:lstStyle/>
          <a:p>
            <a:pPr algn="l">
              <a:spcAft>
                <a:spcPts val="400"/>
              </a:spcAft>
            </a:pPr>
            <a:r>
              <a:rPr sz="1300" b="0">
                <a:solidFill>
                  <a:srgbClr val="111111"/>
                </a:solidFill>
              </a:rPr>
              <a:t>Persistence (tomorrow = today) is a strong baseline: F1 0.78. Random Forest reaches 0.83 and gets 35% of the change days right, where persistence gets none.</a:t>
            </a:r>
          </a:p>
          <a:p>
            <a:pPr algn="l">
              <a:spcAft>
                <a:spcPts val="400"/>
              </a:spcAft>
            </a:pPr>
            <a:r>
              <a:rPr sz="1300" b="0">
                <a:solidFill>
                  <a:srgbClr val="737373"/>
                </a:solidFill>
              </a:rPr>
              <a:t>Adding weather did not help next-day prediction: today's pollution already reflects today's weather. Weather pays off in the counterfactual analysis instead (slides 17–18).</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a:spLocks noGrp="1"/>
          </p:cNvSpPr>
          <p:nvPr>
            <p:ph type="title" idx="102" hasCustomPrompt="1"/>
          </p:nvPr>
        </p:nvSpPr>
        <p:spPr>
          <a:xfrm>
            <a:off x="822960" y="411480"/>
            <a:ext cx="10789920" cy="777240"/>
          </a:xfrm>
          <a:prstGeom prst="rect">
            <a:avLst/>
          </a:prstGeom>
          <a:noFill/>
          <a:ln/>
        </p:spPr>
        <p:txBody>
          <a:bodyPr wrap="square" rtlCol="0" anchor="ctr"/>
          <a:lstStyle/>
          <a:p>
            <a:pPr marL="0" indent="0">
              <a:buNone/>
            </a:pPr>
            <a:r>
              <a:rPr lang="en-US" sz="2800" b="1" dirty="0">
                <a:solidFill>
                  <a:schemeClr val="tx2"/>
                </a:solidFill>
              </a:rPr>
              <a:t>Results: City Pollution Profiles</a:t>
            </a:r>
            <a:endParaRPr lang="en-US" sz="28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7</a:t>
            </a:fld>
            <a:endParaRPr lang="en-US"/>
          </a:p>
        </p:txBody>
      </p:sp>
      <p:graphicFrame>
        <p:nvGraphicFramePr>
          <p:cNvPr id="26" name="Chart clusters"/>
          <p:cNvGraphicFramePr>
            <a:graphicFrameLocks noGrp="1"/>
          </p:cNvGraphicFramePr>
          <p:nvPr/>
        </p:nvGraphicFramePr>
        <p:xfrm>
          <a:off x="548640" y="1463040"/>
          <a:ext cx="6583680" cy="4663440"/>
        </p:xfrm>
        <a:graphic>
          <a:graphicData uri="http://schemas.openxmlformats.org/drawingml/2006/chart">
            <c:chart xmlns:c="http://schemas.openxmlformats.org/drawingml/2006/chart" r:id="rId2"/>
          </a:graphicData>
        </a:graphic>
      </p:graphicFrame>
      <p:sp>
        <p:nvSpPr>
          <p:cNvPr id="4" name="Smog belt card"/>
          <p:cNvSpPr/>
          <p:nvPr/>
        </p:nvSpPr>
        <p:spPr>
          <a:xfrm>
            <a:off x="7406640" y="1463040"/>
            <a:ext cx="4206240" cy="1463040"/>
          </a:xfrm>
          <a:prstGeom prst="rect">
            <a:avLst/>
          </a:prstGeom>
          <a:solidFill>
            <a:schemeClr val="bg2"/>
          </a:solidFill>
          <a:ln w="12700">
            <a:solidFill>
              <a:schemeClr val="bg2"/>
            </a:solidFill>
            <a:prstDash val="solid"/>
          </a:ln>
        </p:spPr>
      </p:sp>
      <p:sp>
        <p:nvSpPr>
          <p:cNvPr id="5" name="Smog belt accent"/>
          <p:cNvSpPr/>
          <p:nvPr/>
        </p:nvSpPr>
        <p:spPr>
          <a:xfrm>
            <a:off x="7406640" y="1463040"/>
            <a:ext cx="4206240" cy="73152"/>
          </a:xfrm>
          <a:prstGeom prst="rect">
            <a:avLst/>
          </a:prstGeom>
          <a:solidFill>
            <a:schemeClr val="accent1"/>
          </a:solidFill>
          <a:ln w="12700">
            <a:solidFill>
              <a:schemeClr val="accent1"/>
            </a:solidFill>
            <a:prstDash val="solid"/>
          </a:ln>
        </p:spPr>
      </p:sp>
      <p:sp>
        <p:nvSpPr>
          <p:cNvPr id="6" name="Smog belt head"/>
          <p:cNvSpPr txBox="1"/>
          <p:nvPr/>
        </p:nvSpPr>
        <p:spPr>
          <a:xfrm>
            <a:off x="7589519" y="1645920"/>
            <a:ext cx="3840479" cy="365760"/>
          </a:xfrm>
          <a:prstGeom prst="rect">
            <a:avLst/>
          </a:prstGeom>
          <a:noFill/>
          <a:ln/>
        </p:spPr>
        <p:txBody>
          <a:bodyPr wrap="square" lIns="0" tIns="0" rIns="0" bIns="0" rtlCol="0" anchor="ctr"/>
          <a:lstStyle/>
          <a:p>
            <a:pPr marL="0" indent="0">
              <a:buNone/>
            </a:pPr>
            <a:r>
              <a:rPr lang="en-US" sz="1600" b="1" dirty="0">
                <a:solidFill>
                  <a:schemeClr val="tx2"/>
                </a:solidFill>
              </a:rPr>
              <a:t>Smog belt</a:t>
            </a:r>
            <a:endParaRPr lang="en-US" sz="1600" dirty="0"/>
          </a:p>
        </p:txBody>
      </p:sp>
      <p:sp>
        <p:nvSpPr>
          <p:cNvPr id="7" name="Smog belt body"/>
          <p:cNvSpPr txBox="1"/>
          <p:nvPr/>
        </p:nvSpPr>
        <p:spPr>
          <a:xfrm>
            <a:off x="7589519" y="2103120"/>
            <a:ext cx="3840479" cy="6858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Delhi, Gurugram, Lucknow, Patna</a:t>
            </a:r>
            <a:endParaRPr lang="en-US" sz="1300" dirty="0"/>
          </a:p>
          <a:p>
            <a:pPr marL="342900" indent="-342900">
              <a:spcAft>
                <a:spcPts val="600"/>
              </a:spcAft>
              <a:buSzPct val="100000"/>
              <a:buChar char="•"/>
            </a:pPr>
            <a:r>
              <a:rPr lang="en-US" sz="1300" dirty="0">
                <a:solidFill>
                  <a:schemeClr val="tx1"/>
                </a:solidFill>
              </a:rPr>
              <a:t>PM2.5 90 · NO2 31 · SO2 10 · unhealthy 50%</a:t>
            </a:r>
            <a:endParaRPr lang="en-US" sz="1300" dirty="0"/>
          </a:p>
        </p:txBody>
      </p:sp>
      <p:sp>
        <p:nvSpPr>
          <p:cNvPr id="4" name="Moderate urban card"/>
          <p:cNvSpPr/>
          <p:nvPr/>
        </p:nvSpPr>
        <p:spPr>
          <a:xfrm>
            <a:off x="7406640" y="3063240"/>
            <a:ext cx="4206240" cy="1463040"/>
          </a:xfrm>
          <a:prstGeom prst="rect">
            <a:avLst/>
          </a:prstGeom>
          <a:solidFill>
            <a:schemeClr val="bg2"/>
          </a:solidFill>
          <a:ln w="12700">
            <a:solidFill>
              <a:schemeClr val="bg2"/>
            </a:solidFill>
            <a:prstDash val="solid"/>
          </a:ln>
        </p:spPr>
      </p:sp>
      <p:sp>
        <p:nvSpPr>
          <p:cNvPr id="5" name="Moderate urban accent"/>
          <p:cNvSpPr/>
          <p:nvPr/>
        </p:nvSpPr>
        <p:spPr>
          <a:xfrm>
            <a:off x="7406640" y="3063240"/>
            <a:ext cx="4206240" cy="73152"/>
          </a:xfrm>
          <a:prstGeom prst="rect">
            <a:avLst/>
          </a:prstGeom>
          <a:solidFill>
            <a:schemeClr val="accent1"/>
          </a:solidFill>
          <a:ln w="12700">
            <a:solidFill>
              <a:schemeClr val="accent1"/>
            </a:solidFill>
            <a:prstDash val="solid"/>
          </a:ln>
        </p:spPr>
      </p:sp>
      <p:sp>
        <p:nvSpPr>
          <p:cNvPr id="6" name="Moderate urban head"/>
          <p:cNvSpPr txBox="1"/>
          <p:nvPr/>
        </p:nvSpPr>
        <p:spPr>
          <a:xfrm>
            <a:off x="7589519" y="3246120"/>
            <a:ext cx="3840479" cy="365760"/>
          </a:xfrm>
          <a:prstGeom prst="rect">
            <a:avLst/>
          </a:prstGeom>
          <a:noFill/>
          <a:ln/>
        </p:spPr>
        <p:txBody>
          <a:bodyPr wrap="square" lIns="0" tIns="0" rIns="0" bIns="0" rtlCol="0" anchor="ctr"/>
          <a:lstStyle/>
          <a:p>
            <a:pPr marL="0" indent="0">
              <a:buNone/>
            </a:pPr>
            <a:r>
              <a:rPr lang="en-US" sz="1600" b="1" dirty="0">
                <a:solidFill>
                  <a:schemeClr val="tx2"/>
                </a:solidFill>
              </a:rPr>
              <a:t>Moderate urban</a:t>
            </a:r>
            <a:endParaRPr lang="en-US" sz="1600" dirty="0"/>
          </a:p>
        </p:txBody>
      </p:sp>
      <p:sp>
        <p:nvSpPr>
          <p:cNvPr id="7" name="Moderate urban body"/>
          <p:cNvSpPr txBox="1"/>
          <p:nvPr/>
        </p:nvSpPr>
        <p:spPr>
          <a:xfrm>
            <a:off x="7589519" y="3703320"/>
            <a:ext cx="3840479" cy="6858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16 cities, incl. Ahmedabad, Bengaluru, Chennai, Hyderabad, Jaipur, Kolkata, Mumbai, Shillong</a:t>
            </a:r>
            <a:endParaRPr lang="en-US" sz="1300" dirty="0"/>
          </a:p>
          <a:p>
            <a:pPr marL="342900" indent="-342900">
              <a:spcAft>
                <a:spcPts val="600"/>
              </a:spcAft>
              <a:buSzPct val="100000"/>
              <a:buChar char="•"/>
            </a:pPr>
            <a:r>
              <a:rPr lang="en-US" sz="1300" dirty="0">
                <a:solidFill>
                  <a:schemeClr val="tx1"/>
                </a:solidFill>
              </a:rPr>
              <a:t>PM2.5 38 · NO2 21 · SO2 10 · unhealthy 7%</a:t>
            </a:r>
            <a:endParaRPr lang="en-US" sz="1300" dirty="0"/>
          </a:p>
        </p:txBody>
      </p:sp>
      <p:sp>
        <p:nvSpPr>
          <p:cNvPr id="4" name="Low-traffic, SO2-heavy card"/>
          <p:cNvSpPr/>
          <p:nvPr/>
        </p:nvSpPr>
        <p:spPr>
          <a:xfrm>
            <a:off x="7406640" y="4663440"/>
            <a:ext cx="4206240" cy="1463040"/>
          </a:xfrm>
          <a:prstGeom prst="rect">
            <a:avLst/>
          </a:prstGeom>
          <a:solidFill>
            <a:schemeClr val="bg2"/>
          </a:solidFill>
          <a:ln w="12700">
            <a:solidFill>
              <a:schemeClr val="bg2"/>
            </a:solidFill>
            <a:prstDash val="solid"/>
          </a:ln>
        </p:spPr>
      </p:sp>
      <p:sp>
        <p:nvSpPr>
          <p:cNvPr id="5" name="Low-traffic, SO2-heavy accent"/>
          <p:cNvSpPr/>
          <p:nvPr/>
        </p:nvSpPr>
        <p:spPr>
          <a:xfrm>
            <a:off x="7406640" y="4663440"/>
            <a:ext cx="4206240" cy="73152"/>
          </a:xfrm>
          <a:prstGeom prst="rect">
            <a:avLst/>
          </a:prstGeom>
          <a:solidFill>
            <a:schemeClr val="accent1"/>
          </a:solidFill>
          <a:ln w="12700">
            <a:solidFill>
              <a:schemeClr val="accent1"/>
            </a:solidFill>
            <a:prstDash val="solid"/>
          </a:ln>
        </p:spPr>
      </p:sp>
      <p:sp>
        <p:nvSpPr>
          <p:cNvPr id="6" name="Low-traffic, SO2-heavy head"/>
          <p:cNvSpPr txBox="1"/>
          <p:nvPr/>
        </p:nvSpPr>
        <p:spPr>
          <a:xfrm>
            <a:off x="7589519" y="4846320"/>
            <a:ext cx="3840479" cy="365760"/>
          </a:xfrm>
          <a:prstGeom prst="rect">
            <a:avLst/>
          </a:prstGeom>
          <a:noFill/>
          <a:ln/>
        </p:spPr>
        <p:txBody>
          <a:bodyPr wrap="square" lIns="0" tIns="0" rIns="0" bIns="0" rtlCol="0" anchor="ctr"/>
          <a:lstStyle/>
          <a:p>
            <a:pPr marL="0" indent="0">
              <a:buNone/>
            </a:pPr>
            <a:r>
              <a:rPr lang="en-US" sz="1600" b="1" dirty="0">
                <a:solidFill>
                  <a:schemeClr val="tx2"/>
                </a:solidFill>
              </a:rPr>
              <a:t>Low-traffic, SO2-heavy</a:t>
            </a:r>
            <a:endParaRPr lang="en-US" sz="1600" dirty="0"/>
          </a:p>
        </p:txBody>
      </p:sp>
      <p:sp>
        <p:nvSpPr>
          <p:cNvPr id="7" name="Low-traffic, SO2-heavy body"/>
          <p:cNvSpPr txBox="1"/>
          <p:nvPr/>
        </p:nvSpPr>
        <p:spPr>
          <a:xfrm>
            <a:off x="7589519" y="5303520"/>
            <a:ext cx="3840479" cy="6858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Aizawl, Ernakulam, Guwahati, Jorapokhar, Kochi, Talcher</a:t>
            </a:r>
            <a:endParaRPr lang="en-US" sz="1300" dirty="0"/>
          </a:p>
          <a:p>
            <a:pPr marL="342900" indent="-342900">
              <a:spcAft>
                <a:spcPts val="600"/>
              </a:spcAft>
              <a:buSzPct val="100000"/>
              <a:buChar char="•"/>
            </a:pPr>
            <a:r>
              <a:rPr lang="en-US" sz="1300" dirty="0">
                <a:solidFill>
                  <a:schemeClr val="tx1"/>
                </a:solidFill>
              </a:rPr>
              <a:t>PM2.5 34 · NO2 7 · SO2 16 · unhealthy 11%</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a:spLocks noGrp="1"/>
          </p:cNvSpPr>
          <p:nvPr>
            <p:ph type="title" idx="102" hasCustomPrompt="1"/>
          </p:nvPr>
        </p:nvSpPr>
        <p:spPr>
          <a:xfrm>
            <a:off x="822960" y="411480"/>
            <a:ext cx="10789920" cy="777240"/>
          </a:xfrm>
          <a:prstGeom prst="rect">
            <a:avLst/>
          </a:prstGeom>
          <a:noFill/>
          <a:ln/>
        </p:spPr>
        <p:txBody>
          <a:bodyPr wrap="square" rtlCol="0" anchor="ctr"/>
          <a:lstStyle/>
          <a:p>
            <a:pPr marL="0" indent="0">
              <a:buNone/>
            </a:pPr>
            <a:r>
              <a:rPr lang="en-US" sz="2800" b="1" dirty="0">
                <a:solidFill>
                  <a:schemeClr val="tx2"/>
                </a:solidFill>
              </a:rPr>
              <a:t>Results: Association Rules</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3803904"/>
        </p:xfrm>
        <a:graphic>
          <a:graphicData uri="http://schemas.openxmlformats.org/drawingml/2006/table">
            <a:tbl>
              <a:tblPr/>
              <a:tblGrid>
                <a:gridCol w="137160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475488">
                <a:tc>
                  <a:txBody>
                    <a:bodyPr/>
                    <a:lstStyle/>
                    <a:p>
                      <a:pPr marL="0" indent="0">
                        <a:buNone/>
                      </a:pPr>
                      <a:r>
                        <a:rPr lang="en-US" sz="1300" b="1" dirty="0">
                          <a:solidFill>
                            <a:srgbClr val="FFFFFF"/>
                          </a:solidFill>
                        </a:rPr>
                        <a:t>Region</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0000"/>
                    </a:solidFill>
                  </a:tcPr>
                </a:tc>
                <a:tc>
                  <a:txBody>
                    <a:bodyPr/>
                    <a:lstStyle/>
                    <a:p>
                      <a:pPr marL="0" indent="0">
                        <a:buNone/>
                      </a:pPr>
                      <a:r>
                        <a:rPr lang="en-US" sz="1300" b="1" dirty="0">
                          <a:solidFill>
                            <a:srgbClr val="FFFFFF"/>
                          </a:solidFill>
                        </a:rPr>
                        <a:t>Rule (FP-Growth)</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0000"/>
                    </a:solidFill>
                  </a:tcPr>
                </a:tc>
                <a:tc>
                  <a:txBody>
                    <a:bodyPr/>
                    <a:lstStyle/>
                    <a:p>
                      <a:pPr marL="0" indent="0">
                        <a:buNone/>
                      </a:pPr>
                      <a:r>
                        <a:rPr lang="en-US" sz="1300" b="1" dirty="0">
                          <a:solidFill>
                            <a:srgbClr val="FFFFFF"/>
                          </a:solidFill>
                        </a:rPr>
                        <a:t>Confidence (base rate)</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0000"/>
                    </a:solidFill>
                  </a:tcPr>
                </a:tc>
                <a:tc>
                  <a:txBody>
                    <a:bodyPr/>
                    <a:lstStyle/>
                    <a:p>
                      <a:pPr marL="0" indent="0">
                        <a:buNone/>
                      </a:pPr>
                      <a:r>
                        <a:rPr lang="en-US" sz="1300" b="1" dirty="0">
                          <a:solidFill>
                            <a:srgbClr val="FFFFFF"/>
                          </a:solidFill>
                        </a:rPr>
                        <a:t>Lift</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475488">
                <a:tc>
                  <a:txBody>
                    <a:bodyPr/>
                    <a:lstStyle/>
                    <a:p>
                      <a:pPr marL="0" indent="0">
                        <a:buNone/>
                      </a:pPr>
                      <a:r>
                        <a:rPr lang="en-US" sz="1300" dirty="0">
                          <a:solidFill>
                            <a:srgbClr val="000000"/>
                          </a:solidFill>
                        </a:rPr>
                        <a:t>North</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Stubble burning + Mixing=Low + Temp=Mild → Unhealthy</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83% (39%)</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2.0</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buNone/>
                      </a:pPr>
                      <a:r>
                        <a:rPr lang="en-US" sz="1300" dirty="0">
                          <a:solidFill>
                            <a:srgbClr val="000000"/>
                          </a:solidFill>
                        </a:rPr>
                        <a:t>East</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Mixing=Low + Rain=Dry + Temp=Cold → Unhealthy</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81% (26%)</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2.3</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buNone/>
                      </a:pPr>
                      <a:r>
                        <a:rPr lang="en-US" sz="1300" dirty="0">
                          <a:solidFill>
                            <a:srgbClr val="000000"/>
                          </a:solidFill>
                        </a:rPr>
                        <a:t>North-East</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Rain=Dry + Season=Winter + Temp=Mild → Unhealthy</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91% (14%)</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5.5</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buNone/>
                      </a:pPr>
                      <a:r>
                        <a:rPr lang="en-US" sz="1300" dirty="0">
                          <a:solidFill>
                            <a:srgbClr val="000000"/>
                          </a:solidFill>
                        </a:rPr>
                        <a:t>Central</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Day=Weekend + Mixing=Medium + Season=Post-monsoon → Unhealthy</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55% (12%)</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4.3</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475488">
                <a:tc>
                  <a:txBody>
                    <a:bodyPr/>
                    <a:lstStyle/>
                    <a:p>
                      <a:pPr marL="0" indent="0">
                        <a:buNone/>
                      </a:pPr>
                      <a:r>
                        <a:rPr lang="en-US" sz="1300" dirty="0">
                          <a:solidFill>
                            <a:srgbClr val="000000"/>
                          </a:solidFill>
                        </a:rPr>
                        <a:t>West</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Normal + Mixing=High + Rain=Dry → Unhealthy</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52% (6%)</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2.5</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r h="475488">
                <a:tc>
                  <a:txBody>
                    <a:bodyPr/>
                    <a:lstStyle/>
                    <a:p>
                      <a:pPr marL="0" indent="0">
                        <a:buNone/>
                      </a:pPr>
                      <a:r>
                        <a:rPr lang="en-US" sz="1300" dirty="0">
                          <a:solidFill>
                            <a:srgbClr val="000000"/>
                          </a:solidFill>
                        </a:rPr>
                        <a:t>North</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CO=High + PM10=High → PM2.5=High</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96%</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1.2</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6"/>
                  </a:ext>
                </a:extLst>
              </a:tr>
              <a:tr h="475488">
                <a:tc>
                  <a:txBody>
                    <a:bodyPr/>
                    <a:lstStyle/>
                    <a:p>
                      <a:pPr marL="0" indent="0">
                        <a:buNone/>
                      </a:pPr>
                      <a:r>
                        <a:rPr lang="en-US" sz="1300" dirty="0">
                          <a:solidFill>
                            <a:srgbClr val="000000"/>
                          </a:solidFill>
                        </a:rPr>
                        <a:t>East</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NO2=High → PM2.5=High</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86%</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buNone/>
                      </a:pPr>
                      <a:r>
                        <a:rPr lang="en-US" sz="1300" dirty="0">
                          <a:solidFill>
                            <a:srgbClr val="000000"/>
                          </a:solidFill>
                        </a:rPr>
                        <a:t>1.3</a:t>
                      </a:r>
                      <a:endParaRPr lang="en-US" sz="1300" dirty="0"/>
                    </a:p>
                  </a:txBody>
                  <a:tcPr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3" name="Hint"/>
          <p:cNvSpPr txBox="1"/>
          <p:nvPr/>
        </p:nvSpPr>
        <p:spPr>
          <a:xfrm>
            <a:off x="548640" y="5669280"/>
            <a:ext cx="11064240" cy="365760"/>
          </a:xfrm>
          <a:prstGeom prst="rect">
            <a:avLst/>
          </a:prstGeom>
          <a:noFill/>
          <a:ln/>
        </p:spPr>
        <p:txBody>
          <a:bodyPr wrap="square" lIns="0" tIns="0" rIns="0" bIns="0" rtlCol="0" anchor="ctr"/>
          <a:lstStyle/>
          <a:p>
            <a:pPr marL="0" indent="0">
              <a:buNone/>
            </a:pPr>
            <a:r>
              <a:rPr lang="en-US" sz="1200" i="1" dirty="0">
                <a:solidFill>
                  <a:schemeClr val="accent6"/>
                </a:solidFill>
              </a:rPr>
              <a:t>Rows 1–5: context rules (no pollutant readings allowed on the left, since AQI is computed from them). Rows 6–7: co-pollution rules, which pollutants exceed standards together.</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3</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a:spLocks noGrp="1"/>
          </p:cNvSpPr>
          <p:nvPr>
            <p:ph type="title" idx="102" hasCustomPrompt="1"/>
          </p:nvPr>
        </p:nvSpPr>
        <p:spPr>
          <a:xfrm>
            <a:off x="822960" y="411480"/>
            <a:ext cx="10789920" cy="777240"/>
          </a:xfrm>
          <a:prstGeom prst="rect">
            <a:avLst/>
          </a:prstGeom>
          <a:noFill/>
          <a:ln/>
        </p:spPr>
        <p:txBody>
          <a:bodyPr wrap="square" rtlCol="0" anchor="ctr"/>
          <a:lstStyle/>
          <a:p>
            <a:pPr marL="0" indent="0">
              <a:buNone/>
            </a:pPr>
            <a:r>
              <a:rPr lang="en-US" sz="2800" b="1" dirty="0">
                <a:solidFill>
                  <a:schemeClr val="tx2"/>
                </a:solidFill>
              </a:rPr>
              <a:t>Results: Forecasting Monthly AQI</a:t>
            </a:r>
            <a:endParaRPr lang="en-US" sz="28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7</a:t>
            </a:fld>
            <a:endParaRPr lang="en-US"/>
          </a:p>
        </p:txBody>
      </p:sp>
      <p:graphicFrame>
        <p:nvGraphicFramePr>
          <p:cNvPr id="26" name="Chart mape"/>
          <p:cNvGraphicFramePr>
            <a:graphicFrameLocks noGrp="1"/>
          </p:cNvGraphicFramePr>
          <p:nvPr/>
        </p:nvGraphicFramePr>
        <p:xfrm>
          <a:off x="548640" y="1463040"/>
          <a:ext cx="4937760" cy="3566160"/>
        </p:xfrm>
        <a:graphic>
          <a:graphicData uri="http://schemas.openxmlformats.org/drawingml/2006/chart">
            <c:chart xmlns:c="http://schemas.openxmlformats.org/drawingml/2006/chart" r:id="rId2"/>
          </a:graphicData>
        </a:graphic>
      </p:graphicFrame>
      <p:graphicFrame>
        <p:nvGraphicFramePr>
          <p:cNvPr id="27" name="Chart delhi"/>
          <p:cNvGraphicFramePr>
            <a:graphicFrameLocks noGrp="1"/>
          </p:cNvGraphicFramePr>
          <p:nvPr/>
        </p:nvGraphicFramePr>
        <p:xfrm>
          <a:off x="5760720" y="1463040"/>
          <a:ext cx="5852160" cy="3566160"/>
        </p:xfrm>
        <a:graphic>
          <a:graphicData uri="http://schemas.openxmlformats.org/drawingml/2006/chart">
            <c:chart xmlns:c="http://schemas.openxmlformats.org/drawingml/2006/chart" r:id="rId3"/>
          </a:graphicData>
        </a:graphic>
      </p:graphicFrame>
      <p:sp>
        <p:nvSpPr>
          <p:cNvPr id="28" name="TextBox 27"/>
          <p:cNvSpPr txBox="1"/>
          <p:nvPr/>
        </p:nvSpPr>
        <p:spPr>
          <a:xfrm>
            <a:off x="548640" y="5212080"/>
            <a:ext cx="11064240" cy="914400"/>
          </a:xfrm>
          <a:prstGeom prst="rect">
            <a:avLst/>
          </a:prstGeom>
          <a:noFill/>
        </p:spPr>
        <p:txBody>
          <a:bodyPr wrap="square" anchor="t" lIns="0" rIns="0" tIns="0" bIns="0">
            <a:spAutoFit/>
          </a:bodyPr>
          <a:lstStyle/>
          <a:p>
            <a:pPr algn="l">
              <a:spcAft>
                <a:spcPts val="400"/>
              </a:spcAft>
            </a:pPr>
            <a:r>
              <a:rPr sz="1300" b="0">
                <a:solidFill>
                  <a:srgbClr val="111111"/>
                </a:solidFill>
              </a:rPr>
              <a:t>History is short (most cities start 2017–19), so Holt-Winters and SARIMA lose to the naive baseline. Adjusting last year's value for this year's weather wins in 12 of 14 cities.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a:spLocks noGrp="1"/>
          </p:cNvSpPr>
          <p:nvPr>
            <p:ph type="title" idx="102" hasCustomPrompt="1"/>
          </p:nvPr>
        </p:nvSpPr>
        <p:spPr>
          <a:xfrm>
            <a:off x="822960" y="411480"/>
            <a:ext cx="10789920" cy="777240"/>
          </a:xfrm>
          <a:prstGeom prst="rect">
            <a:avLst/>
          </a:prstGeom>
          <a:noFill/>
          <a:ln/>
        </p:spPr>
        <p:txBody>
          <a:bodyPr wrap="square" rtlCol="0" anchor="ctr"/>
          <a:lstStyle/>
          <a:p>
            <a:pPr marL="0" indent="0">
              <a:buNone/>
            </a:pPr>
            <a:r>
              <a:rPr lang="en-US" sz="2800" b="1" dirty="0">
                <a:solidFill>
                  <a:schemeClr val="tx2"/>
                </a:solidFill>
              </a:rPr>
              <a:t>Natural Experiment 1: COVID Lockdown</a:t>
            </a:r>
            <a:endParaRPr lang="en-US" sz="28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7</a:t>
            </a:fld>
            <a:endParaRPr lang="en-US"/>
          </a:p>
        </p:txBody>
      </p:sp>
      <p:graphicFrame>
        <p:nvGraphicFramePr>
          <p:cNvPr id="26" name="Chart lockdown"/>
          <p:cNvGraphicFramePr>
            <a:graphicFrameLocks noGrp="1"/>
          </p:cNvGraphicFramePr>
          <p:nvPr/>
        </p:nvGraphicFramePr>
        <p:xfrm>
          <a:off x="548640" y="1463040"/>
          <a:ext cx="5120640" cy="3291840"/>
        </p:xfrm>
        <a:graphic>
          <a:graphicData uri="http://schemas.openxmlformats.org/drawingml/2006/chart">
            <c:chart xmlns:c="http://schemas.openxmlformats.org/drawingml/2006/chart" r:id="rId2"/>
          </a:graphicData>
        </a:graphic>
      </p:graphicFrame>
      <p:graphicFrame>
        <p:nvGraphicFramePr>
          <p:cNvPr id="27" name="Chart lockdown cities"/>
          <p:cNvGraphicFramePr>
            <a:graphicFrameLocks noGrp="1"/>
          </p:cNvGraphicFramePr>
          <p:nvPr/>
        </p:nvGraphicFramePr>
        <p:xfrm>
          <a:off x="5943600" y="1463040"/>
          <a:ext cx="5669280" cy="4663440"/>
        </p:xfrm>
        <a:graphic>
          <a:graphicData uri="http://schemas.openxmlformats.org/drawingml/2006/chart">
            <c:chart xmlns:c="http://schemas.openxmlformats.org/drawingml/2006/chart" r:id="rId3"/>
          </a:graphicData>
        </a:graphic>
      </p:graphicFrame>
      <p:sp>
        <p:nvSpPr>
          <p:cNvPr id="28" name="TextBox 27"/>
          <p:cNvSpPr txBox="1"/>
          <p:nvPr/>
        </p:nvSpPr>
        <p:spPr>
          <a:xfrm>
            <a:off x="548640" y="4937760"/>
            <a:ext cx="5120640" cy="1234440"/>
          </a:xfrm>
          <a:prstGeom prst="rect">
            <a:avLst/>
          </a:prstGeom>
          <a:noFill/>
        </p:spPr>
        <p:txBody>
          <a:bodyPr wrap="square" anchor="t" lIns="0" rIns="0" tIns="0" bIns="0">
            <a:spAutoFit/>
          </a:bodyPr>
          <a:lstStyle/>
          <a:p>
            <a:pPr algn="l">
              <a:spcAft>
                <a:spcPts val="400"/>
              </a:spcAft>
            </a:pPr>
            <a:r>
              <a:rPr sz="1300" b="0">
                <a:solidFill>
                  <a:srgbClr val="111111"/>
                </a:solidFill>
              </a:rPr>
              <a:t>Traffic NO2 fell 29% and PM2.5 28% once weather is accounted for. The placebo year moves only -1% and -4%.</a:t>
            </a:r>
          </a:p>
          <a:p>
            <a:pPr algn="l">
              <a:spcAft>
                <a:spcPts val="400"/>
              </a:spcAft>
            </a:pPr>
            <a:r>
              <a:rPr sz="1300" b="0">
                <a:solidFill>
                  <a:srgbClr val="737373"/>
                </a:solidFill>
              </a:rPr>
              <a:t>Coal and mining towns (black bars) got dirtier: industry kept running.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a:spLocks noGrp="1"/>
          </p:cNvSpPr>
          <p:nvPr>
            <p:ph type="title" idx="102" hasCustomPrompt="1"/>
          </p:nvPr>
        </p:nvSpPr>
        <p:spPr>
          <a:xfrm>
            <a:off x="822960" y="411480"/>
            <a:ext cx="10789920" cy="777240"/>
          </a:xfrm>
          <a:prstGeom prst="rect">
            <a:avLst/>
          </a:prstGeom>
          <a:noFill/>
          <a:ln/>
        </p:spPr>
        <p:txBody>
          <a:bodyPr wrap="square" rtlCol="0" anchor="ctr"/>
          <a:lstStyle/>
          <a:p>
            <a:pPr marL="0" indent="0">
              <a:buNone/>
            </a:pPr>
            <a:r>
              <a:rPr lang="en-US" sz="2800" b="1" dirty="0">
                <a:solidFill>
                  <a:schemeClr val="tx2"/>
                </a:solidFill>
              </a:rPr>
              <a:t>Natural Experiment 2: Diwali Fireworks</a:t>
            </a:r>
            <a:endParaRPr lang="en-US" sz="28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7</a:t>
            </a:fld>
            <a:endParaRPr lang="en-US"/>
          </a:p>
        </p:txBody>
      </p:sp>
      <p:graphicFrame>
        <p:nvGraphicFramePr>
          <p:cNvPr id="26" name="Chart diwali"/>
          <p:cNvGraphicFramePr>
            <a:graphicFrameLocks noGrp="1"/>
          </p:cNvGraphicFramePr>
          <p:nvPr/>
        </p:nvGraphicFramePr>
        <p:xfrm>
          <a:off x="548640" y="1463040"/>
          <a:ext cx="6400800" cy="4663440"/>
        </p:xfrm>
        <a:graphic>
          <a:graphicData uri="http://schemas.openxmlformats.org/drawingml/2006/chart">
            <c:chart xmlns:c="http://schemas.openxmlformats.org/drawingml/2006/chart" r:id="rId2"/>
          </a:graphicData>
        </a:graphic>
      </p:graphicFrame>
      <p:sp>
        <p:nvSpPr>
          <p:cNvPr id="4" name="Diwali card"/>
          <p:cNvSpPr/>
          <p:nvPr/>
        </p:nvSpPr>
        <p:spPr>
          <a:xfrm>
            <a:off x="7223760" y="1463040"/>
            <a:ext cx="4389120" cy="4663440"/>
          </a:xfrm>
          <a:prstGeom prst="rect">
            <a:avLst/>
          </a:prstGeom>
          <a:solidFill>
            <a:schemeClr val="bg2"/>
          </a:solidFill>
          <a:ln w="12700">
            <a:solidFill>
              <a:schemeClr val="bg2"/>
            </a:solidFill>
            <a:prstDash val="solid"/>
          </a:ln>
        </p:spPr>
      </p:sp>
      <p:sp>
        <p:nvSpPr>
          <p:cNvPr id="5" name="Diwali accent"/>
          <p:cNvSpPr/>
          <p:nvPr/>
        </p:nvSpPr>
        <p:spPr>
          <a:xfrm>
            <a:off x="7223760" y="1463040"/>
            <a:ext cx="4389120" cy="73152"/>
          </a:xfrm>
          <a:prstGeom prst="rect">
            <a:avLst/>
          </a:prstGeom>
          <a:solidFill>
            <a:schemeClr val="accent1"/>
          </a:solidFill>
          <a:ln w="12700">
            <a:solidFill>
              <a:schemeClr val="accent1"/>
            </a:solidFill>
            <a:prstDash val="solid"/>
          </a:ln>
        </p:spPr>
      </p:sp>
      <p:sp>
        <p:nvSpPr>
          <p:cNvPr id="6" name="Diwali head"/>
          <p:cNvSpPr txBox="1"/>
          <p:nvPr/>
        </p:nvSpPr>
        <p:spPr>
          <a:xfrm>
            <a:off x="7406640" y="1645920"/>
            <a:ext cx="4023359" cy="365760"/>
          </a:xfrm>
          <a:prstGeom prst="rect">
            <a:avLst/>
          </a:prstGeom>
          <a:noFill/>
          <a:ln/>
        </p:spPr>
        <p:txBody>
          <a:bodyPr wrap="square" lIns="0" tIns="0" rIns="0" bIns="0" rtlCol="0" anchor="ctr"/>
          <a:lstStyle/>
          <a:p>
            <a:pPr marL="0" indent="0">
              <a:buNone/>
            </a:pPr>
            <a:r>
              <a:rPr lang="en-US" sz="1600" b="1" dirty="0">
                <a:solidFill>
                  <a:schemeClr val="tx2"/>
                </a:solidFill>
              </a:rPr>
              <a:t>What the weather adjustment reveals</a:t>
            </a:r>
            <a:endParaRPr lang="en-US" sz="1600" dirty="0"/>
          </a:p>
        </p:txBody>
      </p:sp>
      <p:sp>
        <p:nvSpPr>
          <p:cNvPr id="7" name="Diwali body"/>
          <p:cNvSpPr txBox="1"/>
          <p:nvPr/>
        </p:nvSpPr>
        <p:spPr>
          <a:xfrm>
            <a:off x="7406640" y="2103120"/>
            <a:ext cx="4023359" cy="38862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2017: firecracker sales suspended in Delhi-NCR.</a:t>
            </a:r>
            <a:endParaRPr lang="en-US" sz="1300" dirty="0"/>
          </a:p>
          <a:p>
            <a:pPr marL="342900" indent="-342900">
              <a:spcAft>
                <a:spcPts val="600"/>
              </a:spcAft>
              <a:buSzPct val="100000"/>
              <a:buChar char="•"/>
            </a:pPr>
            <a:r>
              <a:rPr lang="en-US" sz="1300" dirty="0">
                <a:solidFill>
                  <a:schemeClr val="tx1"/>
                </a:solidFill>
              </a:rPr>
              <a:t>Raw PM2.5 fell from 395 (2016) to 301, which looks like the ban worked.</a:t>
            </a:r>
            <a:endParaRPr lang="en-US" sz="1300" dirty="0"/>
          </a:p>
          <a:p>
            <a:pPr marL="342900" indent="-342900">
              <a:spcAft>
                <a:spcPts val="600"/>
              </a:spcAft>
              <a:buSzPct val="100000"/>
              <a:buChar char="•"/>
            </a:pPr>
            <a:r>
              <a:rPr lang="en-US" sz="1300" dirty="0">
                <a:solidFill>
                  <a:schemeClr val="tx1"/>
                </a:solidFill>
              </a:rPr>
              <a:t>But 2017 had favourable weather: the expected level was only 134. Weather-adjusted excess rose to +126%.</a:t>
            </a:r>
            <a:endParaRPr lang="en-US" sz="1300" dirty="0"/>
          </a:p>
          <a:p>
            <a:pPr marL="342900" indent="-342900">
              <a:spcAft>
                <a:spcPts val="600"/>
              </a:spcAft>
              <a:buSzPct val="100000"/>
              <a:buChar char="•"/>
            </a:pPr>
            <a:r>
              <a:rPr lang="en-US" sz="1300" dirty="0">
                <a:solidFill>
                  <a:schemeClr val="tx1"/>
                </a:solidFill>
              </a:rPr>
              <a:t>2018–19 (green crackers, 8–10 pm): Delhi excess fell to about +45%.</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a:spLocks noGrp="1"/>
          </p:cNvSpPr>
          <p:nvPr>
            <p:ph type="title" idx="102" hasCustomPrompt="1"/>
          </p:nvPr>
        </p:nvSpPr>
        <p:spPr>
          <a:xfrm>
            <a:off x="822960" y="411480"/>
            <a:ext cx="10789920" cy="777240"/>
          </a:xfrm>
          <a:prstGeom prst="rect">
            <a:avLst/>
          </a:prstGeom>
          <a:noFill/>
          <a:ln/>
        </p:spPr>
        <p:txBody>
          <a:bodyPr wrap="square" rtlCol="0" anchor="ctr"/>
          <a:lstStyle/>
          <a:p>
            <a:pPr marL="0" indent="0">
              <a:buNone/>
            </a:pPr>
            <a:r>
              <a:rPr lang="en-US" sz="2800" b="1" dirty="0">
                <a:solidFill>
                  <a:schemeClr val="tx2"/>
                </a:solidFill>
              </a:rPr>
              <a:t>Dashboard, Demo &amp; Repository</a:t>
            </a:r>
            <a:endParaRPr lang="en-US" sz="2800" dirty="0"/>
          </a:p>
        </p:txBody>
      </p:sp>
      <p:sp>
        <p:nvSpPr>
          <p:cNvPr id="3" name="Fact card"/>
          <p:cNvSpPr/>
          <p:nvPr/>
        </p:nvSpPr>
        <p:spPr>
          <a:xfrm>
            <a:off x="548640" y="1554480"/>
            <a:ext cx="3566160" cy="4480560"/>
          </a:xfrm>
          <a:prstGeom prst="rect">
            <a:avLst/>
          </a:prstGeom>
          <a:solidFill>
            <a:schemeClr val="bg2"/>
          </a:solidFill>
          <a:ln w="12700">
            <a:solidFill>
              <a:schemeClr val="bg2"/>
            </a:solidFill>
            <a:prstDash val="solid"/>
          </a:ln>
        </p:spPr>
      </p:sp>
      <p:sp>
        <p:nvSpPr>
          <p:cNvPr id="4" name="Fact accent"/>
          <p:cNvSpPr/>
          <p:nvPr/>
        </p:nvSpPr>
        <p:spPr>
          <a:xfrm>
            <a:off x="548640" y="1554480"/>
            <a:ext cx="3566160" cy="73152"/>
          </a:xfrm>
          <a:prstGeom prst="rect">
            <a:avLst/>
          </a:prstGeom>
          <a:solidFill>
            <a:schemeClr val="tx2"/>
          </a:solidFill>
          <a:ln w="12700">
            <a:solidFill>
              <a:schemeClr val="tx2"/>
            </a:solidFill>
            <a:prstDash val="solid"/>
          </a:ln>
        </p:spPr>
      </p:sp>
      <p:sp>
        <p:nvSpPr>
          <p:cNvPr id="5" name="Fact head"/>
          <p:cNvSpPr txBox="1"/>
          <p:nvPr/>
        </p:nvSpPr>
        <p:spPr>
          <a:xfrm>
            <a:off x="731520" y="1783080"/>
            <a:ext cx="3200400" cy="365760"/>
          </a:xfrm>
          <a:prstGeom prst="rect">
            <a:avLst/>
          </a:prstGeom>
          <a:noFill/>
          <a:ln/>
        </p:spPr>
        <p:txBody>
          <a:bodyPr wrap="square" lIns="0" tIns="0" rIns="0" bIns="0" rtlCol="0" anchor="ctr"/>
          <a:lstStyle/>
          <a:p>
            <a:pPr marL="0" indent="0">
              <a:buNone/>
            </a:pPr>
            <a:r>
              <a:rPr lang="en-US" sz="1600" b="1" dirty="0">
                <a:solidFill>
                  <a:schemeClr val="tx2"/>
                </a:solidFill>
              </a:rPr>
              <a:t>Streamlit Dashboard (10 tabs)</a:t>
            </a:r>
            <a:endParaRPr lang="en-US" sz="1600" dirty="0"/>
          </a:p>
        </p:txBody>
      </p:sp>
      <p:sp>
        <p:nvSpPr>
          <p:cNvPr id="6" name="Fact body"/>
          <p:cNvSpPr txBox="1"/>
          <p:nvPr/>
        </p:nvSpPr>
        <p:spPr>
          <a:xfrm>
            <a:off x="731520" y="2286000"/>
            <a:ext cx="3200400" cy="35661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Overview: KPIs and India map</a:t>
            </a:r>
            <a:endParaRPr lang="en-US" sz="1300" dirty="0"/>
          </a:p>
          <a:p>
            <a:pPr marL="342900" indent="-342900">
              <a:spcAft>
                <a:spcPts val="600"/>
              </a:spcAft>
              <a:buSzPct val="100000"/>
              <a:buChar char="•"/>
            </a:pPr>
            <a:r>
              <a:rPr lang="en-US" sz="1300" dirty="0">
                <a:solidFill>
                  <a:schemeClr val="tx1"/>
                </a:solidFill>
              </a:rPr>
              <a:t>OLAP explorer: all 9 queries live</a:t>
            </a:r>
            <a:endParaRPr lang="en-US" sz="1300" dirty="0"/>
          </a:p>
          <a:p>
            <a:pPr marL="342900" indent="-342900">
              <a:spcAft>
                <a:spcPts val="600"/>
              </a:spcAft>
              <a:buSzPct val="100000"/>
              <a:buChar char="•"/>
            </a:pPr>
            <a:r>
              <a:rPr lang="en-US" sz="1300" dirty="0">
                <a:solidFill>
                  <a:schemeClr val="tx1"/>
                </a:solidFill>
              </a:rPr>
              <a:t>Stations heatmap and weather explorer</a:t>
            </a:r>
            <a:endParaRPr lang="en-US" sz="1300" dirty="0"/>
          </a:p>
          <a:p>
            <a:pPr marL="342900" indent="-342900">
              <a:spcAft>
                <a:spcPts val="600"/>
              </a:spcAft>
              <a:buSzPct val="100000"/>
              <a:buChar char="•"/>
            </a:pPr>
            <a:r>
              <a:rPr lang="en-US" sz="1300" dirty="0">
                <a:solidFill>
                  <a:schemeClr val="tx1"/>
                </a:solidFill>
              </a:rPr>
              <a:t>Tomorrow's risk with SHAP</a:t>
            </a:r>
            <a:endParaRPr lang="en-US" sz="1300" dirty="0"/>
          </a:p>
          <a:p>
            <a:pPr marL="342900" indent="-342900">
              <a:spcAft>
                <a:spcPts val="600"/>
              </a:spcAft>
              <a:buSzPct val="100000"/>
              <a:buChar char="•"/>
            </a:pPr>
            <a:r>
              <a:rPr lang="en-US" sz="1300" dirty="0">
                <a:solidFill>
                  <a:schemeClr val="tx1"/>
                </a:solidFill>
              </a:rPr>
              <a:t>Clusters, rules and forecasts</a:t>
            </a:r>
            <a:endParaRPr lang="en-US" sz="1300" dirty="0"/>
          </a:p>
          <a:p>
            <a:pPr marL="342900" indent="-342900">
              <a:spcAft>
                <a:spcPts val="600"/>
              </a:spcAft>
              <a:buSzPct val="100000"/>
              <a:buChar char="•"/>
            </a:pPr>
            <a:r>
              <a:rPr lang="en-US" sz="1300" dirty="0">
                <a:solidFill>
                  <a:schemeClr val="tx1"/>
                </a:solidFill>
              </a:rPr>
              <a:t>Lockdown what-if and Diwali</a:t>
            </a:r>
            <a:endParaRPr lang="en-US" sz="1300" dirty="0"/>
          </a:p>
        </p:txBody>
      </p:sp>
      <p:sp>
        <p:nvSpPr>
          <p:cNvPr id="7" name="Dims card"/>
          <p:cNvSpPr/>
          <p:nvPr/>
        </p:nvSpPr>
        <p:spPr>
          <a:xfrm>
            <a:off x="4315968" y="1554480"/>
            <a:ext cx="3566160" cy="4480560"/>
          </a:xfrm>
          <a:prstGeom prst="rect">
            <a:avLst/>
          </a:prstGeom>
          <a:solidFill>
            <a:schemeClr val="bg2"/>
          </a:solidFill>
          <a:ln w="12700">
            <a:solidFill>
              <a:schemeClr val="bg2"/>
            </a:solidFill>
            <a:prstDash val="solid"/>
          </a:ln>
        </p:spPr>
      </p:sp>
      <p:sp>
        <p:nvSpPr>
          <p:cNvPr id="8" name="Dims accent"/>
          <p:cNvSpPr/>
          <p:nvPr/>
        </p:nvSpPr>
        <p:spPr>
          <a:xfrm>
            <a:off x="4315968" y="1554480"/>
            <a:ext cx="3566160" cy="73152"/>
          </a:xfrm>
          <a:prstGeom prst="rect">
            <a:avLst/>
          </a:prstGeom>
          <a:solidFill>
            <a:schemeClr val="accent1"/>
          </a:solidFill>
          <a:ln w="12700">
            <a:solidFill>
              <a:schemeClr val="accent1"/>
            </a:solidFill>
            <a:prstDash val="solid"/>
          </a:ln>
        </p:spPr>
      </p:sp>
      <p:sp>
        <p:nvSpPr>
          <p:cNvPr id="9" name="Dims head"/>
          <p:cNvSpPr txBox="1"/>
          <p:nvPr/>
        </p:nvSpPr>
        <p:spPr>
          <a:xfrm>
            <a:off x="4498848" y="1783080"/>
            <a:ext cx="3200400" cy="365760"/>
          </a:xfrm>
          <a:prstGeom prst="rect">
            <a:avLst/>
          </a:prstGeom>
          <a:noFill/>
          <a:ln/>
        </p:spPr>
        <p:txBody>
          <a:bodyPr wrap="square" lIns="0" tIns="0" rIns="0" bIns="0" rtlCol="0" anchor="ctr"/>
          <a:lstStyle/>
          <a:p>
            <a:pPr marL="0" indent="0">
              <a:buNone/>
            </a:pPr>
            <a:r>
              <a:rPr lang="en-US" sz="1600" b="1" dirty="0">
                <a:solidFill>
                  <a:schemeClr val="tx2"/>
                </a:solidFill>
              </a:rPr>
              <a:t>Demo Flow</a:t>
            </a:r>
            <a:endParaRPr lang="en-US" sz="1600" dirty="0"/>
          </a:p>
        </p:txBody>
      </p:sp>
      <p:sp>
        <p:nvSpPr>
          <p:cNvPr id="10" name="Dims body"/>
          <p:cNvSpPr txBox="1"/>
          <p:nvPr/>
        </p:nvSpPr>
        <p:spPr>
          <a:xfrm>
            <a:off x="4498848" y="2286000"/>
            <a:ext cx="3200400" cy="35661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python src/run_all.py: warehouse plus all mining in one go.</a:t>
            </a:r>
            <a:endParaRPr lang="en-US" sz="1300" dirty="0"/>
          </a:p>
          <a:p>
            <a:pPr marL="342900" indent="-342900">
              <a:spcAft>
                <a:spcPts val="600"/>
              </a:spcAft>
              <a:buSzPct val="100000"/>
              <a:buChar char="•"/>
            </a:pPr>
            <a:r>
              <a:rPr lang="en-US" sz="1300" dirty="0">
                <a:solidFill>
                  <a:schemeClr val="tx1"/>
                </a:solidFill>
              </a:rPr>
              <a:t>Run the OLAP queries, then drill Delhi down to stations.</a:t>
            </a:r>
            <a:endParaRPr lang="en-US" sz="1300" dirty="0"/>
          </a:p>
          <a:p>
            <a:pPr marL="342900" indent="-342900">
              <a:spcAft>
                <a:spcPts val="600"/>
              </a:spcAft>
              <a:buSzPct val="100000"/>
              <a:buChar char="•"/>
            </a:pPr>
            <a:r>
              <a:rPr lang="en-US" sz="1300" dirty="0">
                <a:solidFill>
                  <a:schemeClr val="tx1"/>
                </a:solidFill>
              </a:rPr>
              <a:t>Dice on weather: calm, low-mixing winter days.</a:t>
            </a:r>
            <a:endParaRPr lang="en-US" sz="1300" dirty="0"/>
          </a:p>
          <a:p>
            <a:pPr marL="342900" indent="-342900">
              <a:spcAft>
                <a:spcPts val="600"/>
              </a:spcAft>
              <a:buSzPct val="100000"/>
              <a:buChar char="•"/>
            </a:pPr>
            <a:r>
              <a:rPr lang="en-US" sz="1300" dirty="0">
                <a:solidFill>
                  <a:schemeClr val="tx1"/>
                </a:solidFill>
              </a:rPr>
              <a:t>Show the rules and the clusters.</a:t>
            </a:r>
            <a:endParaRPr lang="en-US" sz="1300" dirty="0"/>
          </a:p>
          <a:p>
            <a:pPr marL="342900" indent="-342900">
              <a:spcAft>
                <a:spcPts val="600"/>
              </a:spcAft>
              <a:buSzPct val="100000"/>
              <a:buChar char="•"/>
            </a:pPr>
            <a:r>
              <a:rPr lang="en-US" sz="1300" dirty="0">
                <a:solidFill>
                  <a:schemeClr val="tx1"/>
                </a:solidFill>
              </a:rPr>
              <a:t>End on the lockdown and Diwali counterfactuals.</a:t>
            </a:r>
            <a:endParaRPr lang="en-US" sz="1300" dirty="0"/>
          </a:p>
        </p:txBody>
      </p:sp>
      <p:sp>
        <p:nvSpPr>
          <p:cNvPr id="11" name="ETL card"/>
          <p:cNvSpPr/>
          <p:nvPr/>
        </p:nvSpPr>
        <p:spPr>
          <a:xfrm>
            <a:off x="8083296" y="1554480"/>
            <a:ext cx="3566160" cy="4480560"/>
          </a:xfrm>
          <a:prstGeom prst="rect">
            <a:avLst/>
          </a:prstGeom>
          <a:solidFill>
            <a:schemeClr val="bg2"/>
          </a:solidFill>
          <a:ln w="12700">
            <a:solidFill>
              <a:schemeClr val="bg2"/>
            </a:solidFill>
            <a:prstDash val="solid"/>
          </a:ln>
        </p:spPr>
      </p:sp>
      <p:sp>
        <p:nvSpPr>
          <p:cNvPr id="12" name="ETL accent"/>
          <p:cNvSpPr/>
          <p:nvPr/>
        </p:nvSpPr>
        <p:spPr>
          <a:xfrm>
            <a:off x="8083296" y="1554480"/>
            <a:ext cx="3566160" cy="73152"/>
          </a:xfrm>
          <a:prstGeom prst="rect">
            <a:avLst/>
          </a:prstGeom>
          <a:solidFill>
            <a:schemeClr val="accent2"/>
          </a:solidFill>
          <a:ln w="12700">
            <a:solidFill>
              <a:schemeClr val="accent2"/>
            </a:solidFill>
            <a:prstDash val="solid"/>
          </a:ln>
        </p:spPr>
      </p:sp>
      <p:sp>
        <p:nvSpPr>
          <p:cNvPr id="13" name="ETL head"/>
          <p:cNvSpPr txBox="1"/>
          <p:nvPr/>
        </p:nvSpPr>
        <p:spPr>
          <a:xfrm>
            <a:off x="8266176" y="1783080"/>
            <a:ext cx="3200400" cy="365760"/>
          </a:xfrm>
          <a:prstGeom prst="rect">
            <a:avLst/>
          </a:prstGeom>
          <a:noFill/>
          <a:ln/>
        </p:spPr>
        <p:txBody>
          <a:bodyPr wrap="square" lIns="0" tIns="0" rIns="0" bIns="0" rtlCol="0" anchor="ctr"/>
          <a:lstStyle/>
          <a:p>
            <a:pPr marL="0" indent="0">
              <a:buNone/>
            </a:pPr>
            <a:r>
              <a:rPr lang="en-US" sz="1600" b="1" dirty="0">
                <a:solidFill>
                  <a:schemeClr val="tx2"/>
                </a:solidFill>
              </a:rPr>
              <a:t>GitHub Repository</a:t>
            </a:r>
            <a:endParaRPr lang="en-US" sz="1600" dirty="0"/>
          </a:p>
        </p:txBody>
      </p:sp>
      <p:sp>
        <p:nvSpPr>
          <p:cNvPr id="14" name="ETL body"/>
          <p:cNvSpPr txBox="1"/>
          <p:nvPr/>
        </p:nvSpPr>
        <p:spPr>
          <a:xfrm>
            <a:off x="8266176" y="2286000"/>
            <a:ext cx="3200400" cy="35661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hlinkClick r:id="rId2"/>
              </a:rPr>
              <a:t>StutiArya2/breathing-cities-dwdm</a:t>
            </a:r>
            <a:endParaRPr lang="en-US" sz="1300" dirty="0"/>
          </a:p>
          <a:p>
            <a:pPr marL="342900" indent="-342900">
              <a:spcAft>
                <a:spcPts val="600"/>
              </a:spcAft>
              <a:buSzPct val="100000"/>
              <a:buChar char="•"/>
            </a:pPr>
            <a:r>
              <a:rPr lang="en-US" sz="1300" dirty="0">
                <a:solidFill>
                  <a:schemeClr val="tx1"/>
                </a:solidFill>
              </a:rPr>
              <a:t>sql/: 9-table DDL and 9 OLAP queries</a:t>
            </a:r>
            <a:endParaRPr lang="en-US" sz="1300" dirty="0"/>
          </a:p>
          <a:p>
            <a:pPr marL="342900" indent="-342900">
              <a:spcAft>
                <a:spcPts val="600"/>
              </a:spcAft>
              <a:buSzPct val="100000"/>
              <a:buChar char="•"/>
            </a:pPr>
            <a:r>
              <a:rPr lang="en-US" sz="1300" dirty="0">
                <a:solidFill>
                  <a:schemeClr val="tx1"/>
                </a:solidFill>
              </a:rPr>
              <a:t>src/: ETL, weather fetch, 4 mining tasks, 2 experiments</a:t>
            </a:r>
            <a:endParaRPr lang="en-US" sz="1300" dirty="0"/>
          </a:p>
          <a:p>
            <a:pPr marL="342900" indent="-342900">
              <a:spcAft>
                <a:spcPts val="600"/>
              </a:spcAft>
              <a:buSzPct val="100000"/>
              <a:buChar char="•"/>
            </a:pPr>
            <a:r>
              <a:rPr lang="en-US" sz="1300" dirty="0">
                <a:solidFill>
                  <a:schemeClr val="tx1"/>
                </a:solidFill>
              </a:rPr>
              <a:t>dashboard/: Streamlit app</a:t>
            </a:r>
            <a:endParaRPr lang="en-US" sz="1300" dirty="0"/>
          </a:p>
          <a:p>
            <a:pPr marL="342900" indent="-342900">
              <a:spcAft>
                <a:spcPts val="600"/>
              </a:spcAft>
              <a:buSzPct val="100000"/>
              <a:buChar char="•"/>
            </a:pPr>
            <a:r>
              <a:rPr lang="en-US" sz="1300" dirty="0">
                <a:solidFill>
                  <a:schemeClr val="tx1"/>
                </a:solidFill>
              </a:rPr>
              <a:t>README: setup, results and design notes</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5</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1097280" y="822960"/>
            <a:ext cx="9875520" cy="822960"/>
          </a:xfrm>
          <a:prstGeom prst="rect">
            <a:avLst/>
          </a:prstGeom>
          <a:noFill/>
          <a:ln/>
        </p:spPr>
        <p:txBody>
          <a:bodyPr wrap="square" rtlCol="0" anchor="t"/>
          <a:lstStyle/>
          <a:p>
            <a:pPr marL="0" indent="0">
              <a:buNone/>
            </a:pPr>
            <a:r>
              <a:rPr lang="en-US" sz="3800" b="1" dirty="0">
                <a:solidFill>
                  <a:schemeClr val="bg1"/>
                </a:solidFill>
              </a:rPr>
              <a:t>What the Data Says</a:t>
            </a:r>
            <a:endParaRPr lang="en-US" sz="3800" dirty="0"/>
          </a:p>
        </p:txBody>
      </p:sp>
      <p:sp>
        <p:nvSpPr>
          <p:cNvPr id="3" name="Text 1"/>
          <p:cNvSpPr>
            <a:spLocks noGrp="1"/>
          </p:cNvSpPr>
          <p:nvPr>
            <p:ph type="body" idx="102" hasCustomPrompt="1"/>
          </p:nvPr>
        </p:nvSpPr>
        <p:spPr>
          <a:xfrm>
            <a:off x="1097280" y="1691640"/>
            <a:ext cx="9875520" cy="548640"/>
          </a:xfrm>
          <a:prstGeom prst="rect">
            <a:avLst/>
          </a:prstGeom>
          <a:noFill/>
          <a:ln/>
        </p:spPr>
        <p:txBody>
          <a:bodyPr wrap="square" rtlCol="0"/>
          <a:lstStyle/>
          <a:p>
            <a:pPr marL="0" indent="0">
              <a:buNone/>
            </a:pPr>
            <a:r>
              <a:rPr lang="en-US" sz="1800" dirty="0">
                <a:solidFill>
                  <a:schemeClr val="bg2"/>
                </a:solidFill>
              </a:rPr>
              <a:t>Weather decides the bad days. Policy shows up once weather is removed.</a:t>
            </a:r>
            <a:endParaRPr lang="en-US" sz="1800" dirty="0"/>
          </a:p>
        </p:txBody>
      </p:sp>
      <p:sp>
        <p:nvSpPr>
          <p:cNvPr id="4" name="Team details"/>
          <p:cNvSpPr txBox="1"/>
          <p:nvPr/>
        </p:nvSpPr>
        <p:spPr>
          <a:xfrm>
            <a:off x="1097280" y="4937760"/>
            <a:ext cx="9875520" cy="822960"/>
          </a:xfrm>
          <a:prstGeom prst="rect">
            <a:avLst/>
          </a:prstGeom>
          <a:noFill/>
          <a:ln/>
        </p:spPr>
        <p:txBody>
          <a:bodyPr wrap="square" lIns="0" tIns="0" rIns="0" bIns="0" rtlCol="0" anchor="ctr"/>
          <a:lstStyle/>
          <a:p>
            <a:pPr>
              <a:spcAft>
                <a:spcPts val="600"/>
              </a:spcAft>
            </a:pPr>
            <a:r>
              <a:rPr lang="en-US" sz="1400" dirty="0">
                <a:solidFill>
                  <a:schemeClr val="bg2"/>
                </a:solidFill>
              </a:rPr>
              <a:t>Thank you. Questions?</a:t>
            </a:r>
            <a:endParaRPr lang="en-US" sz="1400" dirty="0"/>
          </a:p>
        </p:txBody>
      </p:sp>
      <p:sp>
        <p:nvSpPr>
          <p:cNvPr id="5" name="Stat 1"/>
          <p:cNvSpPr txBox="1"/>
          <p:nvPr/>
        </p:nvSpPr>
        <p:spPr>
          <a:xfrm>
            <a:off x="1097280" y="2606040"/>
            <a:ext cx="2377440" cy="822960"/>
          </a:xfrm>
          <a:prstGeom prst="rect">
            <a:avLst/>
          </a:prstGeom>
          <a:noFill/>
        </p:spPr>
        <p:txBody>
          <a:bodyPr wrap="square" anchor="t" lIns="0" rIns="0" tIns="0" bIns="0">
            <a:spAutoFit/>
          </a:bodyPr>
          <a:lstStyle/>
          <a:p>
            <a:pPr algn="l">
              <a:spcAft>
                <a:spcPts val="400"/>
              </a:spcAft>
            </a:pPr>
            <a:r>
              <a:rPr sz="4000" b="1">
                <a:solidFill>
                  <a:srgbClr val="FFFFFF"/>
                </a:solidFill>
              </a:rPr>
              <a:t>-28%</a:t>
            </a:r>
          </a:p>
        </p:txBody>
      </p:sp>
      <p:sp>
        <p:nvSpPr>
          <p:cNvPr id="6" name="Stat 1 caption"/>
          <p:cNvSpPr txBox="1"/>
          <p:nvPr/>
        </p:nvSpPr>
        <p:spPr>
          <a:xfrm>
            <a:off x="1097280" y="3474720"/>
            <a:ext cx="2286000" cy="1005840"/>
          </a:xfrm>
          <a:prstGeom prst="rect">
            <a:avLst/>
          </a:prstGeom>
          <a:noFill/>
        </p:spPr>
        <p:txBody>
          <a:bodyPr wrap="square" anchor="t" lIns="0" rIns="0" tIns="0" bIns="0">
            <a:spAutoFit/>
          </a:bodyPr>
          <a:lstStyle/>
          <a:p>
            <a:pPr algn="l">
              <a:spcAft>
                <a:spcPts val="400"/>
              </a:spcAft>
            </a:pPr>
            <a:r>
              <a:rPr sz="1300" b="0">
                <a:solidFill>
                  <a:srgbClr val="BFBFBF"/>
                </a:solidFill>
              </a:rPr>
              <a:t>PM2.5 during lockdown, after removing weather (placebo year: -4%)</a:t>
            </a:r>
          </a:p>
        </p:txBody>
      </p:sp>
      <p:sp>
        <p:nvSpPr>
          <p:cNvPr id="7" name="Stat 2"/>
          <p:cNvSpPr txBox="1"/>
          <p:nvPr/>
        </p:nvSpPr>
        <p:spPr>
          <a:xfrm>
            <a:off x="3703320" y="2606040"/>
            <a:ext cx="2377440" cy="822960"/>
          </a:xfrm>
          <a:prstGeom prst="rect">
            <a:avLst/>
          </a:prstGeom>
          <a:noFill/>
        </p:spPr>
        <p:txBody>
          <a:bodyPr wrap="square" anchor="t" lIns="0" rIns="0" tIns="0" bIns="0">
            <a:spAutoFit/>
          </a:bodyPr>
          <a:lstStyle/>
          <a:p>
            <a:pPr algn="l">
              <a:spcAft>
                <a:spcPts val="400"/>
              </a:spcAft>
            </a:pPr>
            <a:r>
              <a:rPr sz="4000" b="1">
                <a:solidFill>
                  <a:srgbClr val="FFFFFF"/>
                </a:solidFill>
              </a:rPr>
              <a:t>83%</a:t>
            </a:r>
          </a:p>
        </p:txBody>
      </p:sp>
      <p:sp>
        <p:nvSpPr>
          <p:cNvPr id="8" name="Stat 2 caption"/>
          <p:cNvSpPr txBox="1"/>
          <p:nvPr/>
        </p:nvSpPr>
        <p:spPr>
          <a:xfrm>
            <a:off x="3703320" y="3474720"/>
            <a:ext cx="2286000" cy="1005840"/>
          </a:xfrm>
          <a:prstGeom prst="rect">
            <a:avLst/>
          </a:prstGeom>
          <a:noFill/>
        </p:spPr>
        <p:txBody>
          <a:bodyPr wrap="square" anchor="t" lIns="0" rIns="0" tIns="0" bIns="0">
            <a:spAutoFit/>
          </a:bodyPr>
          <a:lstStyle/>
          <a:p>
            <a:pPr algn="l">
              <a:spcAft>
                <a:spcPts val="400"/>
              </a:spcAft>
            </a:pPr>
            <a:r>
              <a:rPr sz="1300" b="0">
                <a:solidFill>
                  <a:srgbClr val="BFBFBF"/>
                </a:solidFill>
              </a:rPr>
              <a:t>of North stubble-burning, low-mixing days are unhealthy (base 39%)</a:t>
            </a:r>
          </a:p>
        </p:txBody>
      </p:sp>
      <p:sp>
        <p:nvSpPr>
          <p:cNvPr id="9" name="Stat 3"/>
          <p:cNvSpPr txBox="1"/>
          <p:nvPr/>
        </p:nvSpPr>
        <p:spPr>
          <a:xfrm>
            <a:off x="6309360" y="2606040"/>
            <a:ext cx="2377440" cy="822960"/>
          </a:xfrm>
          <a:prstGeom prst="rect">
            <a:avLst/>
          </a:prstGeom>
          <a:noFill/>
        </p:spPr>
        <p:txBody>
          <a:bodyPr wrap="square" anchor="t" lIns="0" rIns="0" tIns="0" bIns="0">
            <a:spAutoFit/>
          </a:bodyPr>
          <a:lstStyle/>
          <a:p>
            <a:pPr algn="l">
              <a:spcAft>
                <a:spcPts val="400"/>
              </a:spcAft>
            </a:pPr>
            <a:r>
              <a:rPr sz="4000" b="1">
                <a:solidFill>
                  <a:srgbClr val="FFFFFF"/>
                </a:solidFill>
              </a:rPr>
              <a:t>+126%</a:t>
            </a:r>
          </a:p>
        </p:txBody>
      </p:sp>
      <p:sp>
        <p:nvSpPr>
          <p:cNvPr id="10" name="Stat 3 caption"/>
          <p:cNvSpPr txBox="1"/>
          <p:nvPr/>
        </p:nvSpPr>
        <p:spPr>
          <a:xfrm>
            <a:off x="6309360" y="3474720"/>
            <a:ext cx="2286000" cy="1005840"/>
          </a:xfrm>
          <a:prstGeom prst="rect">
            <a:avLst/>
          </a:prstGeom>
          <a:noFill/>
        </p:spPr>
        <p:txBody>
          <a:bodyPr wrap="square" anchor="t" lIns="0" rIns="0" tIns="0" bIns="0">
            <a:spAutoFit/>
          </a:bodyPr>
          <a:lstStyle/>
          <a:p>
            <a:pPr algn="l">
              <a:spcAft>
                <a:spcPts val="400"/>
              </a:spcAft>
            </a:pPr>
            <a:r>
              <a:rPr sz="1300" b="0">
                <a:solidFill>
                  <a:srgbClr val="BFBFBF"/>
                </a:solidFill>
              </a:rPr>
              <a:t>Delhi Diwali excess in 2017, despite the sales ban</a:t>
            </a:r>
          </a:p>
        </p:txBody>
      </p:sp>
      <p:sp>
        <p:nvSpPr>
          <p:cNvPr id="11" name="Stat 4"/>
          <p:cNvSpPr txBox="1"/>
          <p:nvPr/>
        </p:nvSpPr>
        <p:spPr>
          <a:xfrm>
            <a:off x="8915400" y="2606040"/>
            <a:ext cx="2377440" cy="822960"/>
          </a:xfrm>
          <a:prstGeom prst="rect">
            <a:avLst/>
          </a:prstGeom>
          <a:noFill/>
        </p:spPr>
        <p:txBody>
          <a:bodyPr wrap="square" anchor="t" lIns="0" rIns="0" tIns="0" bIns="0">
            <a:spAutoFit/>
          </a:bodyPr>
          <a:lstStyle/>
          <a:p>
            <a:pPr algn="l">
              <a:spcAft>
                <a:spcPts val="400"/>
              </a:spcAft>
            </a:pPr>
            <a:r>
              <a:rPr sz="4000" b="1">
                <a:solidFill>
                  <a:srgbClr val="FFFFFF"/>
                </a:solidFill>
              </a:rPr>
              <a:t>14.2%</a:t>
            </a:r>
          </a:p>
        </p:txBody>
      </p:sp>
      <p:sp>
        <p:nvSpPr>
          <p:cNvPr id="12" name="Stat 4 caption"/>
          <p:cNvSpPr txBox="1"/>
          <p:nvPr/>
        </p:nvSpPr>
        <p:spPr>
          <a:xfrm>
            <a:off x="8915400" y="3474720"/>
            <a:ext cx="2286000" cy="1005840"/>
          </a:xfrm>
          <a:prstGeom prst="rect">
            <a:avLst/>
          </a:prstGeom>
          <a:noFill/>
        </p:spPr>
        <p:txBody>
          <a:bodyPr wrap="square" anchor="t" lIns="0" rIns="0" tIns="0" bIns="0">
            <a:spAutoFit/>
          </a:bodyPr>
          <a:lstStyle/>
          <a:p>
            <a:pPr algn="l">
              <a:spcAft>
                <a:spcPts val="400"/>
              </a:spcAft>
            </a:pPr>
            <a:r>
              <a:rPr sz="1300" b="0">
                <a:solidFill>
                  <a:srgbClr val="BFBFBF"/>
                </a:solidFill>
              </a:rPr>
              <a:t>forecast error with weather adjustment (naive 16.8%)</a:t>
            </a:r>
          </a:p>
        </p:txBody>
      </p:sp>
    </p:spTree>
  </p:cSld>
  <p:clrMapOvr>
    <a:masterClrMapping/>
  </p:clrMapOvr>
</p:sld>
</file>

<file path=ppt/theme/theme1.xml><?xml version="1.0" encoding="utf-8"?>
<a:theme xmlns:a="http://schemas.openxmlformats.org/drawingml/2006/main" name="DWDM Lab BW">
  <a:themeElements>
    <a:clrScheme name="DWDM Lab BW">
      <a:dk1>
        <a:srgbClr val="000000"/>
      </a:dk1>
      <a:lt1>
        <a:srgbClr val="FFFFFF"/>
      </a:lt1>
      <a:dk2>
        <a:srgbClr val="111111"/>
      </a:dk2>
      <a:lt2>
        <a:srgbClr val="F2F2F2"/>
      </a:lt2>
      <a:accent1>
        <a:srgbClr val="1A1A1A"/>
      </a:accent1>
      <a:accent2>
        <a:srgbClr val="4D4D4D"/>
      </a:accent2>
      <a:accent3>
        <a:srgbClr val="333333"/>
      </a:accent3>
      <a:accent4>
        <a:srgbClr val="666666"/>
      </a:accent4>
      <a:accent5>
        <a:srgbClr val="737373"/>
      </a:accent5>
      <a:accent6>
        <a:srgbClr val="595959"/>
      </a:accent6>
      <a:hlink>
        <a:srgbClr val="000000"/>
      </a:hlink>
      <a:folHlink>
        <a:srgbClr val="595959"/>
      </a:folHlink>
    </a:clrScheme>
    <a:fontScheme name="DWDM Lab BW">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1413</Words>
  <Application>Microsoft Office PowerPoint</Application>
  <PresentationFormat>Widescreen</PresentationFormat>
  <Paragraphs>218</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Consolas</vt:lpstr>
      <vt:lpstr>DWDM Lab BW</vt:lpstr>
      <vt:lpstr>[Lab Project Title]</vt:lpstr>
      <vt:lpstr>Dataset Description</vt:lpstr>
      <vt:lpstr>Attribute Summary</vt:lpstr>
      <vt:lpstr>Data Warehouse to be Built — Star Schema</vt:lpstr>
      <vt:lpstr>Warehouse Design &amp; ETL</vt:lpstr>
      <vt:lpstr>Sample OLAP Operations</vt:lpstr>
      <vt:lpstr>Code: Creating the Warehouse (SQL)</vt:lpstr>
      <vt:lpstr>Code: ETL with Python (pandas)</vt:lpstr>
      <vt:lpstr>Code: Sample OLAP Queries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DWDM Lab Project Template</dc:title>
  <dc:subject>PptxGenJS Presentation</dc:subject>
  <dc:creator>PptxGenJS</dc:creator>
  <cp:lastModifiedBy>adrija bhattacharya</cp:lastModifiedBy>
  <cp:revision>2</cp:revision>
  <dcterms:created xsi:type="dcterms:W3CDTF">2026-10-05T17:32:32Z</dcterms:created>
  <dcterms:modified xsi:type="dcterms:W3CDTF">2026-10-05T17:33:34Z</dcterms:modified>
</cp:coreProperties>
</file>