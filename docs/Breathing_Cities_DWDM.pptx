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 id="265" r:id="rId16"/>
    <p:sldId id="266"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48784BA-7B9E-06E5-4CCF-344A2382D4BF}">
          <p14:sldIdLst>
            <p14:sldId id="256"/>
          </p14:sldIdLst>
        </p14:section>
        <p14:section name="Dataset" id="{D79C840E-7269-8AC5-760E-9549C956F552}">
          <p14:sldIdLst>
            <p14:sldId id="257"/>
            <p14:sldId id="258"/>
          </p14:sldIdLst>
        </p14:section>
        <p14:section name="Warehouse" id="{75777074-7AA5-E516-5AE2-16BB8DF60707}">
          <p14:sldIdLst>
            <p14:sldId id="259"/>
            <p14:sldId id="260"/>
          </p14:sldIdLst>
        </p14:section>
        <p14:section name="OLAP" id="{667E24A1-C8BB-2EE4-BD18-DA14152A87F5}">
          <p14:sldIdLst>
            <p14:sldId id="261"/>
          </p14:sldIdLst>
        </p14:section>
        <p14:section name="Code" id="{01E6FDEA-CB28-48CA-68DF-EDB7E400CD34}">
          <p14:sldIdLst>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5457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Breathing Cities builds a data warehouse over six years of CPCB daily air-quality readings for 26 Indian cities (2015 to mid-2020), then mines it for next-day health risk, city pollution profiles, pollutant co-occurrence rules and forecasts. The creative hook: the March 2020 COVID lockdown is a natural experiment, so we forecast the air India would have breathed without it and measure the gap. Code: https://github.com/StutiArya2/breathing-cities-dwdm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Central Pollution Control Board (CPCB) readings compiled by Vopani (Rohan Rao) on Kaggle: https://www.kaggle.com/datasets/rohanrao/air-quality-data-in-india. We use city_day.csv as the main fact source; station_day.csv is available for drill-down below city level. Re-check the row count after download; etl.py prints it together with a checksum.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16 source columns appear here, grouped by pollutant family. City and Date form the composite natural key. City becomes dim_city (with state, region, coordinates and a coastal flag from data/city_meta.csv). Date becomes dim_date. AQI_Bucket becomes dim_aqi_category, recomputed from AQI using CPCB breakpoints so it is never inconsistent.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fact row per city per day. Four dimensions: Date (with season), City (with state and region), AQI Category (CPCB bucket) and Event. Event is a dimension rather than a date attribute because it depends on both date and place: stubble burning only applies to northern cities. station_day.csv can be added later as a finer-grain child fact.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AQI category is recomputed from the AQI value with CPCB breakpoints (0-50 Good up to 401-500 Severe); days without AQI get category key 0 (Unknown). Event priority: lockdown, then Diwali window (day -2 to +3), then stubble burning (15 Oct to 30 Nov, North region only), else Normal. The ETL is re-runnable: it drops and recreates the schema each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Full SQL is on slide 9 and in sql/02_olap_queries.sql; src/olap.py runs each one and saves the result table to outputs/ for the demo. A bonus query compares average AQI across the Event dimension (Normal, Diwali, stubble burning, lockdown).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Condensed from sql/01_create_warehouse.sql, which also adds day_name, month_name, is_weekend, event descriptions and indexes on date_key and event_key. The SQL runs unchanged on MySQL 8 and SQLite.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Condensed from src/etl.py. The real script validates that all 16 source columns exist, prints the missing-value percentage per pollutant, refuses unknown cities, and builds dim_date as a full calendar (every day, including days with no readings).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Shortened from sql/02_olap_queries.sql (the pivot there has all six buckets). Averages are used because pollutant concentrations cannot be summed. Run: python src/olap.py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Classification target is next-day AQI above 200 (CPCB Poor or worse), predicted only from today's data, so there is no leakage. The split is chronological, not random. Clustering works on one profile row per city. Association rules are mined separately per region (the segment) and filtered to rules whose consequent is an AQI bucket. The lockdown what-if is the project's creative angle: the forecast is a counterfactual, and the difference from actual readings estimates the lockdown effect. Results will be reported only after running on the real dataset.</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Run order: pip install -r requirements.txt; python src/etl.py; python src/olap.py; python src/classify.py; python src/cluster.py; python src/associate.py; python src/forecast.py; streamlit run dashboard/app.py. scripts/make_synthetic_data.py creates a fake file with the same columns, only for testing that the code runs.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731520" y="1828800"/>
            <a:ext cx="137160" cy="1463040"/>
          </a:xfrm>
          <a:prstGeom prst="rect">
            <a:avLst/>
          </a:prstGeom>
          <a:solidFill>
            <a:schemeClr val="bg1"/>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457200"/>
            <a:ext cx="109728" cy="685800"/>
          </a:xfrm>
          <a:prstGeom prst="rect">
            <a:avLst/>
          </a:prstGeom>
          <a:solidFill>
            <a:schemeClr val="accent2"/>
          </a:solidFill>
          <a:ln/>
        </p:spPr>
      </p:sp>
      <p:sp>
        <p:nvSpPr>
          <p:cNvPr id="3" name="Text 1"/>
          <p:cNvSpPr/>
          <p:nvPr/>
        </p:nvSpPr>
        <p:spPr>
          <a:xfrm>
            <a:off x="548640" y="6355080"/>
            <a:ext cx="7315200" cy="274320"/>
          </a:xfrm>
          <a:prstGeom prst="rect">
            <a:avLst/>
          </a:prstGeom>
          <a:noFill/>
          <a:ln/>
        </p:spPr>
        <p:txBody>
          <a:bodyPr wrap="square" rtlCol="0" anchor="ctr"/>
          <a:lstStyle/>
          <a:p>
            <a:pPr marL="0" indent="0">
              <a:buNone/>
            </a:pPr>
            <a:r>
              <a:rPr lang="en-US" sz="1000" dirty="0">
                <a:solidFill>
                  <a:schemeClr val="accent6"/>
                </a:solidFill>
              </a:rPr>
              <a:t>CSI3010 · Data Mining &amp; Warehousing · Lab Project</a:t>
            </a:r>
            <a:endParaRPr lang="en-US" sz="1000" dirty="0"/>
          </a:p>
        </p:txBody>
      </p:sp>
      <p:sp>
        <p:nvSpPr>
          <p:cNvPr id="4" name="Text 2"/>
          <p:cNvSpPr>
            <a:spLocks noGrp="1"/>
          </p:cNvSpPr>
          <p:nvPr>
            <p:ph type="title" idx="102" hasCustomPrompt="1"/>
          </p:nvPr>
        </p:nvSpPr>
        <p:spPr>
          <a:xfrm>
            <a:off x="822960" y="411480"/>
            <a:ext cx="10789920" cy="777240"/>
          </a:xfrm>
          <a:prstGeom prst="rect">
            <a:avLst/>
          </a:prstGeom>
          <a:noFill/>
          <a:ln/>
        </p:spPr>
        <p:txBody>
          <a:bodyPr wrap="square" rtlCol="0"/>
          <a:lstStyle>
            <a:lvl1pPr marL="0" indent="0">
              <a:buNone/>
              <a:defRPr lang="en-US" sz="2800" b="1" dirty="0">
                <a:solidFill>
                  <a:schemeClr val="tx2"/>
                </a:solidFill>
              </a:defRPr>
            </a:lvl1pPr>
          </a:lstStyle>
          <a:p>
            <a:pPr marL="0" indent="0">
              <a:buNone/>
            </a:pPr>
            <a:endParaRPr lang="en-US" sz="28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2">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731520" y="1828800"/>
            <a:ext cx="137160" cy="1554480"/>
          </a:xfrm>
          <a:prstGeom prst="rect">
            <a:avLst/>
          </a:prstGeom>
          <a:solidFill>
            <a:schemeClr val="bg1"/>
          </a:solidFill>
          <a:ln/>
        </p:spPr>
      </p:sp>
      <p:sp>
        <p:nvSpPr>
          <p:cNvPr id="3" name="Text 1"/>
          <p:cNvSpPr>
            <a:spLocks noGrp="1"/>
          </p:cNvSpPr>
          <p:nvPr>
            <p:ph type="title" idx="101" hasCustomPrompt="1"/>
          </p:nvPr>
        </p:nvSpPr>
        <p:spPr>
          <a:xfrm>
            <a:off x="1097280" y="1737360"/>
            <a:ext cx="9875520" cy="1097280"/>
          </a:xfrm>
          <a:prstGeom prst="rect">
            <a:avLst/>
          </a:prstGeom>
          <a:noFill/>
          <a:ln/>
        </p:spPr>
        <p:txBody>
          <a:bodyPr wrap="square" rtlCol="0"/>
          <a:lstStyle>
            <a:lvl1pPr marL="0" indent="0">
              <a:buNone/>
              <a:defRPr lang="en-US" sz="3800" b="1" dirty="0">
                <a:solidFill>
                  <a:schemeClr val="bg1"/>
                </a:solidFill>
              </a:defRPr>
            </a:lvl1pPr>
          </a:lstStyle>
          <a:p>
            <a:pPr marL="0" indent="0">
              <a:buNone/>
            </a:pPr>
            <a:endParaRPr lang="en-US" sz="3800" dirty="0"/>
          </a:p>
        </p:txBody>
      </p:sp>
      <p:sp>
        <p:nvSpPr>
          <p:cNvPr id="4" name="Text 1"/>
          <p:cNvSpPr>
            <a:spLocks noGrp="1"/>
          </p:cNvSpPr>
          <p:nvPr>
            <p:ph type="body" idx="102" hasCustomPrompt="1"/>
          </p:nvPr>
        </p:nvSpPr>
        <p:spPr>
          <a:xfrm>
            <a:off x="1097280" y="2880360"/>
            <a:ext cx="9875520" cy="54864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github.com/StutiArya2/breathing-cities-dwd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1097280" y="1325880"/>
            <a:ext cx="9875520" cy="1463040"/>
          </a:xfrm>
          <a:prstGeom prst="rect">
            <a:avLst/>
          </a:prstGeom>
          <a:noFill/>
          <a:ln/>
        </p:spPr>
        <p:txBody>
          <a:bodyPr wrap="square" rtlCol="0" anchor="t"/>
          <a:lstStyle/>
          <a:p>
            <a:pPr marL="0" indent="0">
              <a:buNone/>
            </a:pPr>
            <a:r>
              <a:rPr lang="en-US" sz="3800" b="1" dirty="0">
                <a:solidFill>
                  <a:schemeClr val="bg1"/>
                </a:solidFill>
              </a:rPr>
              <a:t>Breathing Cities:</a:t>
            </a:r>
            <a:endParaRPr lang="en-US" sz="3800" dirty="0"/>
          </a:p>
          <a:p>
            <a:pPr marL="0" indent="0">
              <a:buNone/>
            </a:pPr>
            <a:r>
              <a:rPr lang="en-US" sz="3800" b="1" dirty="0">
                <a:solidFill>
                  <a:schemeClr val="bg1"/>
                </a:solidFill>
              </a:rPr>
              <a:t>Mining India's Air Quality</a:t>
            </a:r>
            <a:endParaRPr lang="en-US" sz="3800" dirty="0"/>
          </a:p>
        </p:txBody>
      </p:sp>
      <p:sp>
        <p:nvSpPr>
          <p:cNvPr id="3" name="Text 1"/>
          <p:cNvSpPr>
            <a:spLocks noGrp="1"/>
          </p:cNvSpPr>
          <p:nvPr>
            <p:ph type="body" idx="102" hasCustomPrompt="1"/>
          </p:nvPr>
        </p:nvSpPr>
        <p:spPr>
          <a:xfrm>
            <a:off x="1097280" y="2880360"/>
            <a:ext cx="9875520" cy="548640"/>
          </a:xfrm>
          <a:prstGeom prst="rect">
            <a:avLst/>
          </a:prstGeom>
          <a:noFill/>
          <a:ln/>
        </p:spPr>
        <p:txBody>
          <a:bodyPr wrap="square" rtlCol="0"/>
          <a:lstStyle/>
          <a:p>
            <a:pPr marL="0" indent="0">
              <a:buNone/>
            </a:pPr>
            <a:r>
              <a:rPr lang="en-US" sz="1800" dirty="0">
                <a:solidFill>
                  <a:schemeClr val="bg2"/>
                </a:solidFill>
              </a:rPr>
              <a:t>Data Warehousing &amp; Data Mining (CSI3010) — Lab Project</a:t>
            </a:r>
            <a:endParaRPr lang="en-US" sz="1800" dirty="0"/>
          </a:p>
        </p:txBody>
      </p:sp>
      <p:sp>
        <p:nvSpPr>
          <p:cNvPr id="4" name="Team details"/>
          <p:cNvSpPr txBox="1"/>
          <p:nvPr/>
        </p:nvSpPr>
        <p:spPr>
          <a:xfrm>
            <a:off x="1097280" y="4937760"/>
            <a:ext cx="9875520" cy="822960"/>
          </a:xfrm>
          <a:prstGeom prst="rect">
            <a:avLst/>
          </a:prstGeom>
          <a:noFill/>
          <a:ln/>
        </p:spPr>
        <p:txBody>
          <a:bodyPr wrap="square" lIns="0" tIns="0" rIns="0" bIns="0" rtlCol="0" anchor="ctr"/>
          <a:lstStyle/>
          <a:p>
            <a:pPr>
              <a:spcAft>
                <a:spcPts val="600"/>
              </a:spcAft>
            </a:pPr>
            <a:r>
              <a:rPr lang="en-US" sz="1400" dirty="0">
                <a:solidFill>
                  <a:schemeClr val="bg2"/>
                </a:solidFill>
              </a:rPr>
              <a:t>Team: Stuti Arya – [Reg. No.], [Name 2 – Reg. No.], [Name 3 – Reg. No.]</a:t>
            </a:r>
            <a:endParaRPr lang="en-US" sz="1400" dirty="0"/>
          </a:p>
          <a:p>
            <a:pPr marL="0" indent="0">
              <a:spcAft>
                <a:spcPts val="600"/>
              </a:spcAft>
              <a:buNone/>
            </a:pPr>
            <a:r>
              <a:rPr lang="en-US" sz="1400" dirty="0">
                <a:solidFill>
                  <a:schemeClr val="bg2"/>
                </a:solidFill>
              </a:rPr>
              <a:t>Faculty: [Faculty name]   |   Slot: [Lab slot]   |   Date: 07-10-2026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822960" y="411480"/>
            <a:ext cx="10789920" cy="777240"/>
          </a:xfrm>
          <a:prstGeom prst="rect">
            <a:avLst/>
          </a:prstGeom>
          <a:noFill/>
          <a:ln/>
        </p:spPr>
        <p:txBody>
          <a:bodyPr wrap="square" rtlCol="0" anchor="ctr"/>
          <a:lstStyle/>
          <a:p>
            <a:pPr marL="0" indent="0">
              <a:buNone/>
            </a:pPr>
            <a:r>
              <a:rPr lang="en-US" sz="2800" b="1" dirty="0">
                <a:solidFill>
                  <a:schemeClr val="tx2"/>
                </a:solidFill>
              </a:rPr>
              <a:t>Dataset Description</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852160" cy="3520440"/>
        </p:xfrm>
        <a:graphic>
          <a:graphicData uri="http://schemas.openxmlformats.org/drawingml/2006/table">
            <a:tbl>
              <a:tblPr/>
              <a:tblGrid>
                <a:gridCol w="20116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502920">
                <a:tc>
                  <a:txBody>
                    <a:bodyPr/>
                    <a:lstStyle/>
                    <a:p>
                      <a:pPr marL="0" indent="0">
                        <a:buNone/>
                      </a:pPr>
                      <a:r>
                        <a:rPr lang="en-US" sz="1300" b="1" dirty="0">
                          <a:solidFill>
                            <a:srgbClr val="FFFFFF"/>
                          </a:solidFill>
                        </a:rPr>
                        <a:t>Property</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rPr>
                        <a:t>Details</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000000"/>
                          </a:solidFill>
                        </a:rPr>
                        <a:t>Dataset name</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Air Quality Data in India (2015–2020): city_day.csv</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300" b="1" dirty="0">
                          <a:solidFill>
                            <a:srgbClr val="000000"/>
                          </a:solidFill>
                        </a:rPr>
                        <a:t>Source / link</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CPCB data compiled on Kaggle (rohanrao/air-quality-data-in-india)</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300" b="1" dirty="0">
                          <a:solidFill>
                            <a:srgbClr val="000000"/>
                          </a:solidFill>
                        </a:rPr>
                        <a:t>Size</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29,531 rows × 16 columns, 26 cities</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300" b="1" dirty="0">
                          <a:solidFill>
                            <a:srgbClr val="000000"/>
                          </a:solidFill>
                        </a:rPr>
                        <a:t>Time period</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1 January 2015 to 1 July 2020</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300" b="1" dirty="0">
                          <a:solidFill>
                            <a:srgbClr val="000000"/>
                          </a:solidFill>
                        </a:rPr>
                        <a:t>Format</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CSV (city and station level, daily and hourly)</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buNone/>
                      </a:pPr>
                      <a:r>
                        <a:rPr lang="en-US" sz="1300" b="1" dirty="0">
                          <a:solidFill>
                            <a:srgbClr val="000000"/>
                          </a:solidFill>
                        </a:rPr>
                        <a:t>Domain</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Environment and public health</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Rationale card"/>
          <p:cNvSpPr/>
          <p:nvPr/>
        </p:nvSpPr>
        <p:spPr>
          <a:xfrm>
            <a:off x="6766560" y="1554480"/>
            <a:ext cx="4846320" cy="4480560"/>
          </a:xfrm>
          <a:prstGeom prst="rect">
            <a:avLst/>
          </a:prstGeom>
          <a:solidFill>
            <a:schemeClr val="bg2"/>
          </a:solidFill>
          <a:ln w="12700">
            <a:solidFill>
              <a:schemeClr val="bg2"/>
            </a:solidFill>
            <a:prstDash val="solid"/>
          </a:ln>
        </p:spPr>
      </p:sp>
      <p:sp>
        <p:nvSpPr>
          <p:cNvPr id="5" name="Rationale accent"/>
          <p:cNvSpPr/>
          <p:nvPr/>
        </p:nvSpPr>
        <p:spPr>
          <a:xfrm>
            <a:off x="6766560" y="1554480"/>
            <a:ext cx="4846320" cy="73152"/>
          </a:xfrm>
          <a:prstGeom prst="rect">
            <a:avLst/>
          </a:prstGeom>
          <a:solidFill>
            <a:schemeClr val="accent1"/>
          </a:solidFill>
          <a:ln w="12700">
            <a:solidFill>
              <a:schemeClr val="accent1"/>
            </a:solidFill>
            <a:prstDash val="solid"/>
          </a:ln>
        </p:spPr>
      </p:sp>
      <p:sp>
        <p:nvSpPr>
          <p:cNvPr id="6" name="Rationale head"/>
          <p:cNvSpPr txBox="1"/>
          <p:nvPr/>
        </p:nvSpPr>
        <p:spPr>
          <a:xfrm>
            <a:off x="6949440" y="1783080"/>
            <a:ext cx="4480560" cy="365760"/>
          </a:xfrm>
          <a:prstGeom prst="rect">
            <a:avLst/>
          </a:prstGeom>
          <a:noFill/>
          <a:ln/>
        </p:spPr>
        <p:txBody>
          <a:bodyPr wrap="square" lIns="0" tIns="0" rIns="0" bIns="0" rtlCol="0" anchor="ctr"/>
          <a:lstStyle/>
          <a:p>
            <a:pPr marL="0" indent="0">
              <a:buNone/>
            </a:pPr>
            <a:r>
              <a:rPr lang="en-US" sz="1600" b="1" dirty="0">
                <a:solidFill>
                  <a:schemeClr val="tx2"/>
                </a:solidFill>
              </a:rPr>
              <a:t>Why this dataset?</a:t>
            </a:r>
            <a:endParaRPr lang="en-US" sz="1600" dirty="0"/>
          </a:p>
        </p:txBody>
      </p:sp>
      <p:sp>
        <p:nvSpPr>
          <p:cNvPr id="7" name="Rationale body"/>
          <p:cNvSpPr txBox="1"/>
          <p:nvPr/>
        </p:nvSpPr>
        <p:spPr>
          <a:xfrm>
            <a:off x="6949440" y="2286000"/>
            <a:ext cx="4480560" cy="3566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Air pollution is one of India's biggest health risks. Which cities, seasons and events cause bad-air days?</a:t>
            </a:r>
            <a:endParaRPr lang="en-US" sz="1300" dirty="0"/>
          </a:p>
          <a:p>
            <a:pPr marL="342900" indent="-342900">
              <a:spcAft>
                <a:spcPts val="600"/>
              </a:spcAft>
              <a:buSzPct val="100000"/>
              <a:buChar char="•"/>
            </a:pPr>
            <a:r>
              <a:rPr lang="en-US" sz="1300" dirty="0">
                <a:solidFill>
                  <a:schemeClr val="tx1"/>
                </a:solidFill>
              </a:rPr>
              <a:t>Questions: how much do Diwali and stubble burning matter, and did the 2020 lockdown clean the air?</a:t>
            </a:r>
            <a:endParaRPr lang="en-US" sz="1300" dirty="0"/>
          </a:p>
          <a:p>
            <a:pPr marL="342900" indent="-342900">
              <a:spcAft>
                <a:spcPts val="600"/>
              </a:spcAft>
              <a:buSzPct val="100000"/>
              <a:buChar char="•"/>
            </a:pPr>
            <a:r>
              <a:rPr lang="en-US" sz="1300" dirty="0">
                <a:solidFill>
                  <a:schemeClr val="tx1"/>
                </a:solidFill>
              </a:rPr>
              <a:t>Quality issues: many missing readings (Xylene mostly empty), cities start in different years, some negative sensor values.</a:t>
            </a:r>
            <a:endParaRPr lang="en-US" sz="1300" dirty="0"/>
          </a:p>
          <a:p>
            <a:pPr marL="342900" indent="-342900">
              <a:spcAft>
                <a:spcPts val="600"/>
              </a:spcAft>
              <a:buSzPct val="100000"/>
              <a:buChar char="•"/>
            </a:pPr>
            <a:r>
              <a:rPr lang="en-US" sz="1300" dirty="0">
                <a:solidFill>
                  <a:schemeClr val="tx1"/>
                </a:solidFill>
              </a:rPr>
              <a:t>Mining: next-day risk classification, K-Means city clusters, FP-Growth rules and Holt-Winters forecasts.</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822960" y="411480"/>
            <a:ext cx="10789920" cy="777240"/>
          </a:xfrm>
          <a:prstGeom prst="rect">
            <a:avLst/>
          </a:prstGeom>
          <a:noFill/>
          <a:ln/>
        </p:spPr>
        <p:txBody>
          <a:bodyPr wrap="square" rtlCol="0" anchor="ctr"/>
          <a:lstStyle/>
          <a:p>
            <a:pPr marL="0" indent="0">
              <a:buNone/>
            </a:pPr>
            <a:r>
              <a:rPr lang="en-US" sz="2800" b="1" dirty="0">
                <a:solidFill>
                  <a:schemeClr val="tx2"/>
                </a:solidFill>
              </a:rPr>
              <a:t>Attribute Summary</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3803904"/>
        </p:xfrm>
        <a:graphic>
          <a:graphicData uri="http://schemas.openxmlformats.org/drawingml/2006/table">
            <a:tbl>
              <a:tblPr/>
              <a:tblGrid>
                <a:gridCol w="25603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475488">
                <a:tc>
                  <a:txBody>
                    <a:bodyPr/>
                    <a:lstStyle/>
                    <a:p>
                      <a:pPr marL="0" indent="0">
                        <a:buNone/>
                      </a:pPr>
                      <a:r>
                        <a:rPr lang="en-US" sz="1300" b="1" dirty="0">
                          <a:solidFill>
                            <a:srgbClr val="FFFFFF"/>
                          </a:solidFill>
                        </a:rPr>
                        <a:t>Attribute</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rPr>
                        <a:t>Type</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rPr>
                        <a:t>Description</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rPr>
                        <a:t>Role in DW</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475488">
                <a:tc>
                  <a:txBody>
                    <a:bodyPr/>
                    <a:lstStyle/>
                    <a:p>
                      <a:pPr marL="0" indent="0">
                        <a:buNone/>
                      </a:pPr>
                      <a:r>
                        <a:rPr lang="en-US" sz="1300" dirty="0">
                          <a:solidFill>
                            <a:srgbClr val="000000"/>
                          </a:solidFill>
                        </a:rPr>
                        <a:t>City, Date</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Text / Date</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City name and calendar day; together they identify a row</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Key</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300" dirty="0">
                          <a:solidFill>
                            <a:srgbClr val="000000"/>
                          </a:solidFill>
                        </a:rPr>
                        <a:t>PM2.5, PM10</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Decimal</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Fine and coarse particulate matter (µg/m³)</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Measure</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300" dirty="0">
                          <a:solidFill>
                            <a:srgbClr val="000000"/>
                          </a:solidFill>
                        </a:rPr>
                        <a:t>NO, NO2, NOx</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Decimal</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Nitrogen oxides, mostly from traffic (µg/m³)</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Measure</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300" dirty="0">
                          <a:solidFill>
                            <a:srgbClr val="000000"/>
                          </a:solidFill>
                        </a:rPr>
                        <a:t>NH3, SO2, O3</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Decimal</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Ammonia, sulphur dioxide and ozone (µg/m³)</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Measure</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300" dirty="0">
                          <a:solidFill>
                            <a:srgbClr val="000000"/>
                          </a:solidFill>
                        </a:rPr>
                        <a:t>CO</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Decimal</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Carbon monoxide (mg/m³)</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Measure</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buNone/>
                      </a:pPr>
                      <a:r>
                        <a:rPr lang="en-US" sz="1300" dirty="0">
                          <a:solidFill>
                            <a:srgbClr val="000000"/>
                          </a:solidFill>
                        </a:rPr>
                        <a:t>Benzene, Toluene, Xylene</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Decimal</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Volatile organic compounds (µg/m³)</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Measure</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6"/>
                  </a:ext>
                </a:extLst>
              </a:tr>
              <a:tr h="475488">
                <a:tc>
                  <a:txBody>
                    <a:bodyPr/>
                    <a:lstStyle/>
                    <a:p>
                      <a:pPr marL="0" indent="0">
                        <a:buNone/>
                      </a:pPr>
                      <a:r>
                        <a:rPr lang="en-US" sz="1300" dirty="0">
                          <a:solidFill>
                            <a:srgbClr val="000000"/>
                          </a:solidFill>
                        </a:rPr>
                        <a:t>AQI, AQI_Bucket</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Decimal / Category</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National AQI and its CPCB bucket, Good to Severe</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300" dirty="0">
                          <a:solidFill>
                            <a:srgbClr val="000000"/>
                          </a:solidFill>
                        </a:rPr>
                        <a:t>Measure / Dimension</a:t>
                      </a:r>
                      <a:endParaRPr lang="en-US" sz="1300" dirty="0"/>
                    </a:p>
                  </a:txBody>
                  <a:tcPr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3" name="Hint"/>
          <p:cNvSpPr txBox="1"/>
          <p:nvPr/>
        </p:nvSpPr>
        <p:spPr>
          <a:xfrm>
            <a:off x="548640" y="5669280"/>
            <a:ext cx="11064240" cy="365760"/>
          </a:xfrm>
          <a:prstGeom prst="rect">
            <a:avLst/>
          </a:prstGeom>
          <a:noFill/>
          <a:ln/>
        </p:spPr>
        <p:txBody>
          <a:bodyPr wrap="square" lIns="0" tIns="0" rIns="0" bIns="0" rtlCol="0" anchor="ctr"/>
          <a:lstStyle/>
          <a:p>
            <a:pPr marL="0" indent="0">
              <a:buNone/>
            </a:pPr>
            <a:r>
              <a:rPr lang="en-US" sz="1200" i="1" dirty="0">
                <a:solidFill>
                  <a:schemeClr val="accent6"/>
                </a:solidFill>
              </a:rPr>
              <a:t>Derived in ETL: state, region and coordinates (city lookup), season, and event (Diwali, stubble burning, COVID lockdown). Pollutant measures are non-additive.</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822960" y="411480"/>
            <a:ext cx="10789920" cy="777240"/>
          </a:xfrm>
          <a:prstGeom prst="rect">
            <a:avLst/>
          </a:prstGeom>
          <a:noFill/>
          <a:ln/>
        </p:spPr>
        <p:txBody>
          <a:bodyPr wrap="square" rtlCol="0" anchor="ctr"/>
          <a:lstStyle/>
          <a:p>
            <a:pPr marL="0" indent="0">
              <a:buNone/>
            </a:pPr>
            <a:r>
              <a:rPr lang="en-US" sz="2800" b="1" dirty="0">
                <a:solidFill>
                  <a:schemeClr val="tx2"/>
                </a:solidFill>
              </a:rPr>
              <a:t>Data Warehouse: Air Quality Star Schema</a:t>
            </a:r>
            <a:endParaRPr lang="en-US" sz="2800" dirty="0"/>
          </a:p>
        </p:txBody>
      </p:sp>
      <p:sp>
        <p:nvSpPr>
          <p:cNvPr id="3" name="Link 1"/>
          <p:cNvSpPr/>
          <p:nvPr/>
        </p:nvSpPr>
        <p:spPr>
          <a:xfrm>
            <a:off x="2468880" y="2148840"/>
            <a:ext cx="3630168" cy="1737360"/>
          </a:xfrm>
          <a:prstGeom prst="line">
            <a:avLst/>
          </a:prstGeom>
          <a:noFill/>
          <a:ln w="19050">
            <a:solidFill>
              <a:schemeClr val="accent6"/>
            </a:solidFill>
            <a:prstDash val="solid"/>
          </a:ln>
        </p:spPr>
      </p:sp>
      <p:sp>
        <p:nvSpPr>
          <p:cNvPr id="4" name="Link 2"/>
          <p:cNvSpPr/>
          <p:nvPr/>
        </p:nvSpPr>
        <p:spPr>
          <a:xfrm flipV="1">
            <a:off x="6099048" y="2148840"/>
            <a:ext cx="3621024" cy="1737360"/>
          </a:xfrm>
          <a:prstGeom prst="line">
            <a:avLst/>
          </a:prstGeom>
          <a:noFill/>
          <a:ln w="19050">
            <a:solidFill>
              <a:schemeClr val="accent6"/>
            </a:solidFill>
            <a:prstDash val="solid"/>
          </a:ln>
        </p:spPr>
      </p:sp>
      <p:sp>
        <p:nvSpPr>
          <p:cNvPr id="5" name="Link 3"/>
          <p:cNvSpPr/>
          <p:nvPr/>
        </p:nvSpPr>
        <p:spPr>
          <a:xfrm flipV="1">
            <a:off x="2468880" y="3886200"/>
            <a:ext cx="3630168" cy="1463040"/>
          </a:xfrm>
          <a:prstGeom prst="line">
            <a:avLst/>
          </a:prstGeom>
          <a:noFill/>
          <a:ln w="19050">
            <a:solidFill>
              <a:schemeClr val="accent6"/>
            </a:solidFill>
            <a:prstDash val="solid"/>
          </a:ln>
        </p:spPr>
      </p:sp>
      <p:sp>
        <p:nvSpPr>
          <p:cNvPr id="6" name="Link 4"/>
          <p:cNvSpPr/>
          <p:nvPr/>
        </p:nvSpPr>
        <p:spPr>
          <a:xfrm>
            <a:off x="6099048" y="3886200"/>
            <a:ext cx="3621024" cy="1463040"/>
          </a:xfrm>
          <a:prstGeom prst="line">
            <a:avLst/>
          </a:prstGeom>
          <a:noFill/>
          <a:ln w="19050">
            <a:solidFill>
              <a:schemeClr val="accent6"/>
            </a:solidFill>
            <a:prstDash val="solid"/>
          </a:ln>
        </p:spPr>
      </p:sp>
      <p:sp>
        <p:nvSpPr>
          <p:cNvPr id="7" name="Fact table"/>
          <p:cNvSpPr/>
          <p:nvPr/>
        </p:nvSpPr>
        <p:spPr>
          <a:xfrm>
            <a:off x="4727448" y="3017520"/>
            <a:ext cx="2743200" cy="1737360"/>
          </a:xfrm>
          <a:prstGeom prst="roundRect">
            <a:avLst>
              <a:gd name="adj" fmla="val 4211"/>
            </a:avLst>
          </a:prstGeom>
          <a:solidFill>
            <a:schemeClr val="tx2"/>
          </a:solidFill>
          <a:ln w="12700">
            <a:solidFill>
              <a:schemeClr val="tx2"/>
            </a:solidFill>
            <a:prstDash val="solid"/>
          </a:ln>
        </p:spPr>
      </p:sp>
      <p:sp>
        <p:nvSpPr>
          <p:cNvPr id="8" name="Fact table text"/>
          <p:cNvSpPr txBox="1"/>
          <p:nvPr/>
        </p:nvSpPr>
        <p:spPr>
          <a:xfrm>
            <a:off x="4864608" y="3017520"/>
            <a:ext cx="2468880" cy="1737360"/>
          </a:xfrm>
          <a:prstGeom prst="rect">
            <a:avLst/>
          </a:prstGeom>
          <a:noFill/>
          <a:ln/>
        </p:spPr>
        <p:txBody>
          <a:bodyPr wrap="square" lIns="0" tIns="0" rIns="0" bIns="0" rtlCol="0" anchor="ctr"/>
          <a:lstStyle/>
          <a:p>
            <a:pPr marL="0" indent="0" algn="ctr">
              <a:buNone/>
            </a:pPr>
            <a:r>
              <a:rPr lang="en-US" sz="1600" b="1" dirty="0">
                <a:solidFill>
                  <a:schemeClr val="bg1"/>
                </a:solidFill>
              </a:rPr>
              <a:t>FACT_AirQuality</a:t>
            </a:r>
            <a:endParaRPr lang="en-US" sz="1400" dirty="0"/>
          </a:p>
          <a:p>
            <a:pPr marL="0" indent="0" algn="ctr">
              <a:buNone/>
            </a:pPr>
            <a:r>
              <a:rPr lang="en-US" sz="1200" dirty="0">
                <a:solidFill>
                  <a:schemeClr val="bg1"/>
                </a:solidFill>
              </a:rPr>
              <a:t>city_key + date_key (PK)</a:t>
            </a:r>
            <a:endParaRPr lang="en-US" sz="1400" dirty="0"/>
          </a:p>
          <a:p>
            <a:pPr marL="0" indent="0" algn="ctr">
              <a:buNone/>
            </a:pPr>
            <a:r>
              <a:rPr lang="en-US" sz="1200" dirty="0">
                <a:solidFill>
                  <a:schemeClr val="bg1"/>
                </a:solidFill>
              </a:rPr>
              <a:t>event_key, category_key (FK)</a:t>
            </a:r>
            <a:endParaRPr lang="en-US" sz="1400" dirty="0"/>
          </a:p>
          <a:p>
            <a:pPr marL="0" indent="0" algn="ctr">
              <a:buNone/>
            </a:pPr>
            <a:r>
              <a:rPr lang="en-US" sz="1200" dirty="0">
                <a:solidFill>
                  <a:schemeClr val="bg1"/>
                </a:solidFill>
              </a:rPr>
              <a:t>12 pollutants + AQI</a:t>
            </a:r>
            <a:endParaRPr lang="en-US" sz="1400" dirty="0"/>
          </a:p>
        </p:txBody>
      </p:sp>
      <p:sp>
        <p:nvSpPr>
          <p:cNvPr id="9" name="Dim time"/>
          <p:cNvSpPr/>
          <p:nvPr/>
        </p:nvSpPr>
        <p:spPr>
          <a:xfrm>
            <a:off x="1097280" y="1554480"/>
            <a:ext cx="2743200" cy="1188720"/>
          </a:xfrm>
          <a:prstGeom prst="roundRect">
            <a:avLst>
              <a:gd name="adj" fmla="val 6154"/>
            </a:avLst>
          </a:prstGeom>
          <a:solidFill>
            <a:schemeClr val="accent1"/>
          </a:solidFill>
          <a:ln w="12700">
            <a:solidFill>
              <a:schemeClr val="accent1"/>
            </a:solidFill>
            <a:prstDash val="solid"/>
          </a:ln>
        </p:spPr>
      </p:sp>
      <p:sp>
        <p:nvSpPr>
          <p:cNvPr id="10" name="Dim time text"/>
          <p:cNvSpPr txBox="1"/>
          <p:nvPr/>
        </p:nvSpPr>
        <p:spPr>
          <a:xfrm>
            <a:off x="1234440" y="1554480"/>
            <a:ext cx="2468880" cy="1188720"/>
          </a:xfrm>
          <a:prstGeom prst="rect">
            <a:avLst/>
          </a:prstGeom>
          <a:noFill/>
          <a:ln/>
        </p:spPr>
        <p:txBody>
          <a:bodyPr wrap="square" lIns="0" tIns="0" rIns="0" bIns="0" rtlCol="0" anchor="ctr"/>
          <a:lstStyle/>
          <a:p>
            <a:pPr marL="0" indent="0" algn="ctr">
              <a:buNone/>
            </a:pPr>
            <a:r>
              <a:rPr lang="en-US" sz="1600" b="1" dirty="0">
                <a:solidFill>
                  <a:schemeClr val="bg1"/>
                </a:solidFill>
              </a:rPr>
              <a:t>DIM_Date</a:t>
            </a:r>
            <a:endParaRPr lang="en-US" sz="1400" dirty="0"/>
          </a:p>
          <a:p>
            <a:pPr marL="0" indent="0" algn="ctr">
              <a:buNone/>
            </a:pPr>
            <a:r>
              <a:rPr lang="en-US" sz="1200" dirty="0">
                <a:solidFill>
                  <a:schemeClr val="bg1"/>
                </a:solidFill>
              </a:rPr>
              <a:t>date_key, day, week, month</a:t>
            </a:r>
            <a:endParaRPr lang="en-US" sz="1400" dirty="0"/>
          </a:p>
          <a:p>
            <a:pPr marL="0" indent="0" algn="ctr">
              <a:buNone/>
            </a:pPr>
            <a:r>
              <a:rPr lang="en-US" sz="1200" dirty="0">
                <a:solidFill>
                  <a:schemeClr val="bg1"/>
                </a:solidFill>
              </a:rPr>
              <a:t>season, quarter, year</a:t>
            </a:r>
            <a:endParaRPr lang="en-US" sz="1400" dirty="0"/>
          </a:p>
        </p:txBody>
      </p:sp>
      <p:sp>
        <p:nvSpPr>
          <p:cNvPr id="11" name="Dim 2"/>
          <p:cNvSpPr/>
          <p:nvPr/>
        </p:nvSpPr>
        <p:spPr>
          <a:xfrm>
            <a:off x="8348472" y="1554480"/>
            <a:ext cx="2743200" cy="1188720"/>
          </a:xfrm>
          <a:prstGeom prst="roundRect">
            <a:avLst>
              <a:gd name="adj" fmla="val 6154"/>
            </a:avLst>
          </a:prstGeom>
          <a:solidFill>
            <a:schemeClr val="accent3"/>
          </a:solidFill>
          <a:ln w="12700">
            <a:solidFill>
              <a:schemeClr val="accent3"/>
            </a:solidFill>
            <a:prstDash val="solid"/>
          </a:ln>
        </p:spPr>
      </p:sp>
      <p:sp>
        <p:nvSpPr>
          <p:cNvPr id="12" name="Dim 2 text"/>
          <p:cNvSpPr txBox="1"/>
          <p:nvPr/>
        </p:nvSpPr>
        <p:spPr>
          <a:xfrm>
            <a:off x="8485632" y="1554480"/>
            <a:ext cx="2468880" cy="1188720"/>
          </a:xfrm>
          <a:prstGeom prst="rect">
            <a:avLst/>
          </a:prstGeom>
          <a:noFill/>
          <a:ln/>
        </p:spPr>
        <p:txBody>
          <a:bodyPr wrap="square" lIns="0" tIns="0" rIns="0" bIns="0" rtlCol="0" anchor="ctr"/>
          <a:lstStyle/>
          <a:p>
            <a:pPr marL="0" indent="0" algn="ctr">
              <a:buNone/>
            </a:pPr>
            <a:r>
              <a:rPr lang="en-US" sz="1600" b="1" dirty="0">
                <a:solidFill>
                  <a:schemeClr val="bg1"/>
                </a:solidFill>
              </a:rPr>
              <a:t>DIM_City</a:t>
            </a:r>
            <a:endParaRPr lang="en-US" sz="1400" dirty="0"/>
          </a:p>
          <a:p>
            <a:pPr marL="0" indent="0" algn="ctr">
              <a:buNone/>
            </a:pPr>
            <a:r>
              <a:rPr lang="en-US" sz="1200" dirty="0">
                <a:solidFill>
                  <a:schemeClr val="bg1"/>
                </a:solidFill>
              </a:rPr>
              <a:t>city_key, city, state</a:t>
            </a:r>
            <a:endParaRPr lang="en-US" sz="1400" dirty="0"/>
          </a:p>
          <a:p>
            <a:pPr marL="0" indent="0" algn="ctr">
              <a:buNone/>
            </a:pPr>
            <a:r>
              <a:rPr lang="en-US" sz="1200" dirty="0">
                <a:solidFill>
                  <a:schemeClr val="bg1"/>
                </a:solidFill>
              </a:rPr>
              <a:t>region, lat/long, coastal</a:t>
            </a:r>
            <a:endParaRPr lang="en-US" sz="1400" dirty="0"/>
          </a:p>
        </p:txBody>
      </p:sp>
      <p:sp>
        <p:nvSpPr>
          <p:cNvPr id="13" name="Dim 3"/>
          <p:cNvSpPr/>
          <p:nvPr/>
        </p:nvSpPr>
        <p:spPr>
          <a:xfrm>
            <a:off x="1097280" y="4754880"/>
            <a:ext cx="2743200" cy="1188720"/>
          </a:xfrm>
          <a:prstGeom prst="roundRect">
            <a:avLst>
              <a:gd name="adj" fmla="val 6154"/>
            </a:avLst>
          </a:prstGeom>
          <a:solidFill>
            <a:schemeClr val="accent4"/>
          </a:solidFill>
          <a:ln w="12700">
            <a:solidFill>
              <a:schemeClr val="accent4"/>
            </a:solidFill>
            <a:prstDash val="solid"/>
          </a:ln>
        </p:spPr>
      </p:sp>
      <p:sp>
        <p:nvSpPr>
          <p:cNvPr id="14" name="Dim 3 text"/>
          <p:cNvSpPr txBox="1"/>
          <p:nvPr/>
        </p:nvSpPr>
        <p:spPr>
          <a:xfrm>
            <a:off x="1234440" y="4754880"/>
            <a:ext cx="2468880" cy="1188720"/>
          </a:xfrm>
          <a:prstGeom prst="rect">
            <a:avLst/>
          </a:prstGeom>
          <a:noFill/>
          <a:ln/>
        </p:spPr>
        <p:txBody>
          <a:bodyPr wrap="square" lIns="0" tIns="0" rIns="0" bIns="0" rtlCol="0" anchor="ctr"/>
          <a:lstStyle/>
          <a:p>
            <a:pPr marL="0" indent="0" algn="ctr">
              <a:buNone/>
            </a:pPr>
            <a:r>
              <a:rPr lang="en-US" sz="1600" b="1" dirty="0">
                <a:solidFill>
                  <a:schemeClr val="bg1"/>
                </a:solidFill>
              </a:rPr>
              <a:t>DIM_AQI_Category</a:t>
            </a:r>
            <a:endParaRPr lang="en-US" sz="1400" dirty="0"/>
          </a:p>
          <a:p>
            <a:pPr marL="0" indent="0" algn="ctr">
              <a:buNone/>
            </a:pPr>
            <a:r>
              <a:rPr lang="en-US" sz="1200" dirty="0">
                <a:solidFill>
                  <a:schemeClr val="bg1"/>
                </a:solidFill>
              </a:rPr>
              <a:t>category_key, bucket</a:t>
            </a:r>
            <a:endParaRPr lang="en-US" sz="1400" dirty="0"/>
          </a:p>
          <a:p>
            <a:pPr marL="0" indent="0" algn="ctr">
              <a:buNone/>
            </a:pPr>
            <a:r>
              <a:rPr lang="en-US" sz="1200" dirty="0">
                <a:solidFill>
                  <a:schemeClr val="bg1"/>
                </a:solidFill>
              </a:rPr>
              <a:t>AQI range, health group</a:t>
            </a:r>
            <a:endParaRPr lang="en-US" sz="1400" dirty="0"/>
          </a:p>
        </p:txBody>
      </p:sp>
      <p:sp>
        <p:nvSpPr>
          <p:cNvPr id="15" name="Dim 4"/>
          <p:cNvSpPr/>
          <p:nvPr/>
        </p:nvSpPr>
        <p:spPr>
          <a:xfrm>
            <a:off x="8348472" y="4754880"/>
            <a:ext cx="2743200" cy="1188720"/>
          </a:xfrm>
          <a:prstGeom prst="roundRect">
            <a:avLst>
              <a:gd name="adj" fmla="val 6154"/>
            </a:avLst>
          </a:prstGeom>
          <a:solidFill>
            <a:schemeClr val="accent5"/>
          </a:solidFill>
          <a:ln w="12700">
            <a:solidFill>
              <a:schemeClr val="accent5"/>
            </a:solidFill>
            <a:prstDash val="solid"/>
          </a:ln>
        </p:spPr>
      </p:sp>
      <p:sp>
        <p:nvSpPr>
          <p:cNvPr id="16" name="Dim 4 text"/>
          <p:cNvSpPr txBox="1"/>
          <p:nvPr/>
        </p:nvSpPr>
        <p:spPr>
          <a:xfrm>
            <a:off x="8485632" y="4754880"/>
            <a:ext cx="2468880" cy="1188720"/>
          </a:xfrm>
          <a:prstGeom prst="rect">
            <a:avLst/>
          </a:prstGeom>
          <a:noFill/>
          <a:ln/>
        </p:spPr>
        <p:txBody>
          <a:bodyPr wrap="square" lIns="0" tIns="0" rIns="0" bIns="0" rtlCol="0" anchor="ctr"/>
          <a:lstStyle/>
          <a:p>
            <a:pPr marL="0" indent="0" algn="ctr">
              <a:buNone/>
            </a:pPr>
            <a:r>
              <a:rPr lang="en-US" sz="1600" b="1" dirty="0">
                <a:solidFill>
                  <a:schemeClr val="bg1"/>
                </a:solidFill>
              </a:rPr>
              <a:t>DIM_Event</a:t>
            </a:r>
            <a:endParaRPr lang="en-US" sz="1400" dirty="0"/>
          </a:p>
          <a:p>
            <a:pPr marL="0" indent="0" algn="ctr">
              <a:buNone/>
            </a:pPr>
            <a:r>
              <a:rPr lang="en-US" sz="1200" dirty="0">
                <a:solidFill>
                  <a:schemeClr val="bg1"/>
                </a:solidFill>
              </a:rPr>
              <a:t>event_key, name, type</a:t>
            </a:r>
            <a:endParaRPr lang="en-US" sz="1400" dirty="0"/>
          </a:p>
          <a:p>
            <a:pPr marL="0" indent="0" algn="ctr">
              <a:buNone/>
            </a:pPr>
            <a:r>
              <a:rPr lang="en-US" sz="1200" dirty="0">
                <a:solidFill>
                  <a:schemeClr val="bg1"/>
                </a:solidFill>
              </a:rPr>
              <a:t>Diwali, stubble, lockdown</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822960" y="411480"/>
            <a:ext cx="10789920" cy="777240"/>
          </a:xfrm>
          <a:prstGeom prst="rect">
            <a:avLst/>
          </a:prstGeom>
          <a:noFill/>
          <a:ln/>
        </p:spPr>
        <p:txBody>
          <a:bodyPr wrap="square" rtlCol="0" anchor="ctr"/>
          <a:lstStyle/>
          <a:p>
            <a:pPr marL="0" indent="0">
              <a:buNone/>
            </a:pPr>
            <a:r>
              <a:rPr lang="en-US" sz="2800" b="1" dirty="0">
                <a:solidFill>
                  <a:schemeClr val="tx2"/>
                </a:solidFill>
              </a:rPr>
              <a:t>Warehouse Design &amp; ETL</a:t>
            </a:r>
            <a:endParaRPr lang="en-US" sz="2800" dirty="0"/>
          </a:p>
        </p:txBody>
      </p:sp>
      <p:sp>
        <p:nvSpPr>
          <p:cNvPr id="3" name="Fact card"/>
          <p:cNvSpPr/>
          <p:nvPr/>
        </p:nvSpPr>
        <p:spPr>
          <a:xfrm>
            <a:off x="548640" y="1554480"/>
            <a:ext cx="3566160" cy="4480560"/>
          </a:xfrm>
          <a:prstGeom prst="rect">
            <a:avLst/>
          </a:prstGeom>
          <a:solidFill>
            <a:schemeClr val="bg2"/>
          </a:solidFill>
          <a:ln w="12700">
            <a:solidFill>
              <a:schemeClr val="bg2"/>
            </a:solidFill>
            <a:prstDash val="solid"/>
          </a:ln>
        </p:spPr>
      </p:sp>
      <p:sp>
        <p:nvSpPr>
          <p:cNvPr id="4" name="Fact accent"/>
          <p:cNvSpPr/>
          <p:nvPr/>
        </p:nvSpPr>
        <p:spPr>
          <a:xfrm>
            <a:off x="548640" y="1554480"/>
            <a:ext cx="3566160" cy="73152"/>
          </a:xfrm>
          <a:prstGeom prst="rect">
            <a:avLst/>
          </a:prstGeom>
          <a:solidFill>
            <a:schemeClr val="tx2"/>
          </a:solidFill>
          <a:ln w="12700">
            <a:solidFill>
              <a:schemeClr val="tx2"/>
            </a:solidFill>
            <a:prstDash val="solid"/>
          </a:ln>
        </p:spPr>
      </p:sp>
      <p:sp>
        <p:nvSpPr>
          <p:cNvPr id="5" name="Fact head"/>
          <p:cNvSpPr txBox="1"/>
          <p:nvPr/>
        </p:nvSpPr>
        <p:spPr>
          <a:xfrm>
            <a:off x="731520" y="1783080"/>
            <a:ext cx="3200400" cy="365760"/>
          </a:xfrm>
          <a:prstGeom prst="rect">
            <a:avLst/>
          </a:prstGeom>
          <a:noFill/>
          <a:ln/>
        </p:spPr>
        <p:txBody>
          <a:bodyPr wrap="square" lIns="0" tIns="0" rIns="0" bIns="0" rtlCol="0" anchor="ctr"/>
          <a:lstStyle/>
          <a:p>
            <a:pPr marL="0" indent="0">
              <a:buNone/>
            </a:pPr>
            <a:r>
              <a:rPr lang="en-US" sz="1600" b="1" dirty="0">
                <a:solidFill>
                  <a:schemeClr val="tx2"/>
                </a:solidFill>
              </a:rPr>
              <a:t>Fact Table</a:t>
            </a:r>
            <a:endParaRPr lang="en-US" sz="1600" dirty="0"/>
          </a:p>
        </p:txBody>
      </p:sp>
      <p:sp>
        <p:nvSpPr>
          <p:cNvPr id="6" name="Fact body"/>
          <p:cNvSpPr txBox="1"/>
          <p:nvPr/>
        </p:nvSpPr>
        <p:spPr>
          <a:xfrm>
            <a:off x="731520" y="2286000"/>
            <a:ext cx="3200400" cy="3566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Grain: one row per city per day.</a:t>
            </a:r>
            <a:endParaRPr lang="en-US" sz="1300" dirty="0"/>
          </a:p>
          <a:p>
            <a:pPr marL="342900" indent="-342900">
              <a:spcAft>
                <a:spcPts val="600"/>
              </a:spcAft>
              <a:buSzPct val="100000"/>
              <a:buChar char="•"/>
            </a:pPr>
            <a:r>
              <a:rPr lang="en-US" sz="1300" dirty="0">
                <a:solidFill>
                  <a:schemeClr val="tx1"/>
                </a:solidFill>
              </a:rPr>
              <a:t>Measures: 12 pollutant readings and AQI.</a:t>
            </a:r>
            <a:endParaRPr lang="en-US" sz="1300" dirty="0"/>
          </a:p>
          <a:p>
            <a:pPr marL="342900" indent="-342900">
              <a:spcAft>
                <a:spcPts val="600"/>
              </a:spcAft>
              <a:buSzPct val="100000"/>
              <a:buChar char="•"/>
            </a:pPr>
            <a:r>
              <a:rPr lang="en-US" sz="1300" dirty="0">
                <a:solidFill>
                  <a:schemeClr val="tx1"/>
                </a:solidFill>
              </a:rPr>
              <a:t>Concentrations are non-additive: roll up with AVG or MAX; count days with COUNT(*).</a:t>
            </a:r>
            <a:endParaRPr lang="en-US" sz="1300" dirty="0"/>
          </a:p>
          <a:p>
            <a:pPr marL="342900" indent="-342900">
              <a:spcAft>
                <a:spcPts val="600"/>
              </a:spcAft>
              <a:buSzPct val="100000"/>
              <a:buChar char="•"/>
            </a:pPr>
            <a:r>
              <a:rPr lang="en-US" sz="1300" dirty="0">
                <a:solidFill>
                  <a:schemeClr val="tx1"/>
                </a:solidFill>
              </a:rPr>
              <a:t>Missing readings stay NULL, never zero.</a:t>
            </a:r>
            <a:endParaRPr lang="en-US" sz="1300" dirty="0"/>
          </a:p>
          <a:p>
            <a:pPr marL="342900" indent="-342900">
              <a:spcAft>
                <a:spcPts val="600"/>
              </a:spcAft>
              <a:buSzPct val="100000"/>
              <a:buChar char="•"/>
            </a:pPr>
            <a:r>
              <a:rPr lang="en-US" sz="1300" dirty="0">
                <a:solidFill>
                  <a:schemeClr val="tx1"/>
                </a:solidFill>
              </a:rPr>
              <a:t>Foreign keys to Date, City, Event and AQI Category.</a:t>
            </a:r>
            <a:endParaRPr lang="en-US" sz="1300" dirty="0"/>
          </a:p>
        </p:txBody>
      </p:sp>
      <p:sp>
        <p:nvSpPr>
          <p:cNvPr id="7" name="Dims card"/>
          <p:cNvSpPr/>
          <p:nvPr/>
        </p:nvSpPr>
        <p:spPr>
          <a:xfrm>
            <a:off x="4315968" y="1554480"/>
            <a:ext cx="3566160" cy="4480560"/>
          </a:xfrm>
          <a:prstGeom prst="rect">
            <a:avLst/>
          </a:prstGeom>
          <a:solidFill>
            <a:schemeClr val="bg2"/>
          </a:solidFill>
          <a:ln w="12700">
            <a:solidFill>
              <a:schemeClr val="bg2"/>
            </a:solidFill>
            <a:prstDash val="solid"/>
          </a:ln>
        </p:spPr>
      </p:sp>
      <p:sp>
        <p:nvSpPr>
          <p:cNvPr id="8" name="Dims accent"/>
          <p:cNvSpPr/>
          <p:nvPr/>
        </p:nvSpPr>
        <p:spPr>
          <a:xfrm>
            <a:off x="4315968" y="1554480"/>
            <a:ext cx="3566160" cy="73152"/>
          </a:xfrm>
          <a:prstGeom prst="rect">
            <a:avLst/>
          </a:prstGeom>
          <a:solidFill>
            <a:schemeClr val="accent1"/>
          </a:solidFill>
          <a:ln w="12700">
            <a:solidFill>
              <a:schemeClr val="accent1"/>
            </a:solidFill>
            <a:prstDash val="solid"/>
          </a:ln>
        </p:spPr>
      </p:sp>
      <p:sp>
        <p:nvSpPr>
          <p:cNvPr id="9" name="Dims head"/>
          <p:cNvSpPr txBox="1"/>
          <p:nvPr/>
        </p:nvSpPr>
        <p:spPr>
          <a:xfrm>
            <a:off x="4498848" y="1783080"/>
            <a:ext cx="3200400" cy="365760"/>
          </a:xfrm>
          <a:prstGeom prst="rect">
            <a:avLst/>
          </a:prstGeom>
          <a:noFill/>
          <a:ln/>
        </p:spPr>
        <p:txBody>
          <a:bodyPr wrap="square" lIns="0" tIns="0" rIns="0" bIns="0" rtlCol="0" anchor="ctr"/>
          <a:lstStyle/>
          <a:p>
            <a:pPr marL="0" indent="0">
              <a:buNone/>
            </a:pPr>
            <a:r>
              <a:rPr lang="en-US" sz="1600" b="1" dirty="0">
                <a:solidFill>
                  <a:schemeClr val="tx2"/>
                </a:solidFill>
              </a:rPr>
              <a:t>Dimensions &amp; Hierarchies</a:t>
            </a:r>
            <a:endParaRPr lang="en-US" sz="1600" dirty="0"/>
          </a:p>
        </p:txBody>
      </p:sp>
      <p:sp>
        <p:nvSpPr>
          <p:cNvPr id="10" name="Dims body"/>
          <p:cNvSpPr txBox="1"/>
          <p:nvPr/>
        </p:nvSpPr>
        <p:spPr>
          <a:xfrm>
            <a:off x="4498848" y="2286000"/>
            <a:ext cx="3200400" cy="3566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Time: Day → Month → Season → Year</a:t>
            </a:r>
            <a:endParaRPr lang="en-US" sz="1300" dirty="0"/>
          </a:p>
          <a:p>
            <a:pPr marL="342900" indent="-342900">
              <a:spcAft>
                <a:spcPts val="600"/>
              </a:spcAft>
              <a:buSzPct val="100000"/>
              <a:buChar char="•"/>
            </a:pPr>
            <a:r>
              <a:rPr lang="en-US" sz="1300" dirty="0">
                <a:solidFill>
                  <a:schemeClr val="tx1"/>
                </a:solidFill>
              </a:rPr>
              <a:t>Location: City → State → Region → India</a:t>
            </a:r>
            <a:endParaRPr lang="en-US" sz="1300" dirty="0"/>
          </a:p>
          <a:p>
            <a:pPr marL="342900" indent="-342900">
              <a:spcAft>
                <a:spcPts val="600"/>
              </a:spcAft>
              <a:buSzPct val="100000"/>
              <a:buChar char="•"/>
            </a:pPr>
            <a:r>
              <a:rPr lang="en-US" sz="1300" dirty="0">
                <a:solidFill>
                  <a:schemeClr val="tx1"/>
                </a:solidFill>
              </a:rPr>
              <a:t>AQI: Value → Bucket → Healthy / Unhealthy</a:t>
            </a:r>
            <a:endParaRPr lang="en-US" sz="1300" dirty="0"/>
          </a:p>
          <a:p>
            <a:pPr marL="342900" indent="-342900">
              <a:spcAft>
                <a:spcPts val="600"/>
              </a:spcAft>
              <a:buSzPct val="100000"/>
              <a:buChar char="•"/>
            </a:pPr>
            <a:r>
              <a:rPr lang="en-US" sz="1300" dirty="0">
                <a:solidFill>
                  <a:schemeClr val="tx1"/>
                </a:solidFill>
              </a:rPr>
              <a:t>Event: Normal, Diwali, Stubble burning (North), COVID lockdown</a:t>
            </a:r>
            <a:endParaRPr lang="en-US" sz="1300" dirty="0"/>
          </a:p>
          <a:p>
            <a:pPr marL="342900" indent="-342900">
              <a:spcAft>
                <a:spcPts val="600"/>
              </a:spcAft>
              <a:buSzPct val="100000"/>
              <a:buChar char="•"/>
            </a:pPr>
            <a:r>
              <a:rPr lang="en-US" sz="1300" dirty="0">
                <a:solidFill>
                  <a:schemeClr val="tx1"/>
                </a:solidFill>
              </a:rPr>
              <a:t>Seasons follow IMD: Winter, Pre-monsoon, Monsoon, Post-monsoon.</a:t>
            </a:r>
            <a:endParaRPr lang="en-US" sz="1300" dirty="0"/>
          </a:p>
        </p:txBody>
      </p:sp>
      <p:sp>
        <p:nvSpPr>
          <p:cNvPr id="11" name="ETL card"/>
          <p:cNvSpPr/>
          <p:nvPr/>
        </p:nvSpPr>
        <p:spPr>
          <a:xfrm>
            <a:off x="8083296" y="1554480"/>
            <a:ext cx="3566160" cy="4480560"/>
          </a:xfrm>
          <a:prstGeom prst="rect">
            <a:avLst/>
          </a:prstGeom>
          <a:solidFill>
            <a:schemeClr val="bg2"/>
          </a:solidFill>
          <a:ln w="12700">
            <a:solidFill>
              <a:schemeClr val="bg2"/>
            </a:solidFill>
            <a:prstDash val="solid"/>
          </a:ln>
        </p:spPr>
      </p:sp>
      <p:sp>
        <p:nvSpPr>
          <p:cNvPr id="12" name="ETL accent"/>
          <p:cNvSpPr/>
          <p:nvPr/>
        </p:nvSpPr>
        <p:spPr>
          <a:xfrm>
            <a:off x="8083296" y="1554480"/>
            <a:ext cx="3566160" cy="73152"/>
          </a:xfrm>
          <a:prstGeom prst="rect">
            <a:avLst/>
          </a:prstGeom>
          <a:solidFill>
            <a:schemeClr val="accent2"/>
          </a:solidFill>
          <a:ln w="12700">
            <a:solidFill>
              <a:schemeClr val="accent2"/>
            </a:solidFill>
            <a:prstDash val="solid"/>
          </a:ln>
        </p:spPr>
      </p:sp>
      <p:sp>
        <p:nvSpPr>
          <p:cNvPr id="13" name="ETL head"/>
          <p:cNvSpPr txBox="1"/>
          <p:nvPr/>
        </p:nvSpPr>
        <p:spPr>
          <a:xfrm>
            <a:off x="8266176" y="1783080"/>
            <a:ext cx="3200400" cy="365760"/>
          </a:xfrm>
          <a:prstGeom prst="rect">
            <a:avLst/>
          </a:prstGeom>
          <a:noFill/>
          <a:ln/>
        </p:spPr>
        <p:txBody>
          <a:bodyPr wrap="square" lIns="0" tIns="0" rIns="0" bIns="0" rtlCol="0" anchor="ctr"/>
          <a:lstStyle/>
          <a:p>
            <a:pPr marL="0" indent="0">
              <a:buNone/>
            </a:pPr>
            <a:r>
              <a:rPr lang="en-US" sz="1600" b="1" dirty="0">
                <a:solidFill>
                  <a:schemeClr val="tx2"/>
                </a:solidFill>
              </a:rPr>
              <a:t>ETL &amp; Tools</a:t>
            </a:r>
            <a:endParaRPr lang="en-US" sz="1600" dirty="0"/>
          </a:p>
        </p:txBody>
      </p:sp>
      <p:sp>
        <p:nvSpPr>
          <p:cNvPr id="14" name="ETL body"/>
          <p:cNvSpPr txBox="1"/>
          <p:nvPr/>
        </p:nvSpPr>
        <p:spPr>
          <a:xfrm>
            <a:off x="8266176" y="2286000"/>
            <a:ext cx="3200400" cy="3566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Extract: city_day.csv from Kaggle; log row count and checksum.</a:t>
            </a:r>
            <a:endParaRPr lang="en-US" sz="1300" dirty="0"/>
          </a:p>
          <a:p>
            <a:pPr marL="342900" indent="-342900">
              <a:spcAft>
                <a:spcPts val="600"/>
              </a:spcAft>
              <a:buSzPct val="100000"/>
              <a:buChar char="•"/>
            </a:pPr>
            <a:r>
              <a:rPr lang="en-US" sz="1300" dirty="0">
                <a:solidFill>
                  <a:schemeClr val="tx1"/>
                </a:solidFill>
              </a:rPr>
              <a:t>Transform: parse dates, drop duplicate city-days, null negative readings, add season, event and AQI keys.</a:t>
            </a:r>
            <a:endParaRPr lang="en-US" sz="1300" dirty="0"/>
          </a:p>
          <a:p>
            <a:pPr marL="342900" indent="-342900">
              <a:spcAft>
                <a:spcPts val="600"/>
              </a:spcAft>
              <a:buSzPct val="100000"/>
              <a:buChar char="•"/>
            </a:pPr>
            <a:r>
              <a:rPr lang="en-US" sz="1300" dirty="0">
                <a:solidFill>
                  <a:schemeClr val="tx1"/>
                </a:solidFill>
              </a:rPr>
              <a:t>Load: dimensions first, then facts, into MySQL 8 (SQLite for quick runs).</a:t>
            </a:r>
            <a:endParaRPr lang="en-US" sz="1300" dirty="0"/>
          </a:p>
          <a:p>
            <a:pPr marL="342900" indent="-342900">
              <a:spcAft>
                <a:spcPts val="600"/>
              </a:spcAft>
              <a:buSzPct val="100000"/>
              <a:buChar char="•"/>
            </a:pPr>
            <a:r>
              <a:rPr lang="en-US" sz="1300" dirty="0">
                <a:solidFill>
                  <a:schemeClr val="tx1"/>
                </a:solidFill>
              </a:rPr>
              <a:t>Tools: Python, pandas, SQLAlchemy, scikit-learn, mlxtend, statsmodels, Streamlit.</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822960" y="411480"/>
            <a:ext cx="10789920" cy="777240"/>
          </a:xfrm>
          <a:prstGeom prst="rect">
            <a:avLst/>
          </a:prstGeom>
          <a:noFill/>
          <a:ln/>
        </p:spPr>
        <p:txBody>
          <a:bodyPr wrap="square" rtlCol="0" anchor="ctr"/>
          <a:lstStyle/>
          <a:p>
            <a:pPr marL="0" indent="0">
              <a:buNone/>
            </a:pPr>
            <a:r>
              <a:rPr lang="en-US" sz="2800" b="1" dirty="0">
                <a:solidFill>
                  <a:schemeClr val="tx2"/>
                </a:solidFill>
              </a:rPr>
              <a:t>Sample OLAP Operations</a:t>
            </a:r>
            <a:endParaRPr lang="en-US" sz="2800" dirty="0"/>
          </a:p>
        </p:txBody>
      </p:sp>
      <p:sp>
        <p:nvSpPr>
          <p:cNvPr id="3" name="Roll-up card"/>
          <p:cNvSpPr/>
          <p:nvPr/>
        </p:nvSpPr>
        <p:spPr>
          <a:xfrm>
            <a:off x="548640" y="1554480"/>
            <a:ext cx="2103120" cy="4480560"/>
          </a:xfrm>
          <a:prstGeom prst="rect">
            <a:avLst/>
          </a:prstGeom>
          <a:solidFill>
            <a:schemeClr val="bg2"/>
          </a:solidFill>
          <a:ln w="12700">
            <a:solidFill>
              <a:schemeClr val="bg2"/>
            </a:solidFill>
            <a:prstDash val="solid"/>
          </a:ln>
        </p:spPr>
      </p:sp>
      <p:sp>
        <p:nvSpPr>
          <p:cNvPr id="4" name="Roll-up header"/>
          <p:cNvSpPr/>
          <p:nvPr/>
        </p:nvSpPr>
        <p:spPr>
          <a:xfrm>
            <a:off x="548640" y="1554480"/>
            <a:ext cx="2103120" cy="548640"/>
          </a:xfrm>
          <a:prstGeom prst="rect">
            <a:avLst/>
          </a:prstGeom>
          <a:solidFill>
            <a:schemeClr val="accent1"/>
          </a:solidFill>
          <a:ln w="12700">
            <a:solidFill>
              <a:schemeClr val="accent1"/>
            </a:solidFill>
            <a:prstDash val="solid"/>
          </a:ln>
        </p:spPr>
      </p:sp>
      <p:sp>
        <p:nvSpPr>
          <p:cNvPr id="5" name="Roll-up title"/>
          <p:cNvSpPr txBox="1"/>
          <p:nvPr/>
        </p:nvSpPr>
        <p:spPr>
          <a:xfrm>
            <a:off x="548640" y="1554480"/>
            <a:ext cx="2103120" cy="548640"/>
          </a:xfrm>
          <a:prstGeom prst="rect">
            <a:avLst/>
          </a:prstGeom>
          <a:noFill/>
          <a:ln/>
        </p:spPr>
        <p:txBody>
          <a:bodyPr wrap="square" lIns="0" tIns="0" rIns="0" bIns="0" rtlCol="0" anchor="ctr"/>
          <a:lstStyle/>
          <a:p>
            <a:pPr marL="0" indent="0" algn="ctr">
              <a:buNone/>
            </a:pPr>
            <a:r>
              <a:rPr lang="en-US" sz="1600" b="1" dirty="0">
                <a:solidFill>
                  <a:schemeClr val="bg1"/>
                </a:solidFill>
              </a:rPr>
              <a:t>Roll-up</a:t>
            </a:r>
            <a:endParaRPr lang="en-US" sz="1600" dirty="0"/>
          </a:p>
        </p:txBody>
      </p:sp>
      <p:sp>
        <p:nvSpPr>
          <p:cNvPr id="6" name="Roll-up desc"/>
          <p:cNvSpPr txBox="1"/>
          <p:nvPr/>
        </p:nvSpPr>
        <p:spPr>
          <a:xfrm>
            <a:off x="685800" y="2240280"/>
            <a:ext cx="1828800" cy="1005840"/>
          </a:xfrm>
          <a:prstGeom prst="rect">
            <a:avLst/>
          </a:prstGeom>
          <a:noFill/>
          <a:ln/>
        </p:spPr>
        <p:txBody>
          <a:bodyPr wrap="square" lIns="0" tIns="0" rIns="0" bIns="0" rtlCol="0" anchor="t"/>
          <a:lstStyle/>
          <a:p>
            <a:pPr marL="0" indent="0">
              <a:buNone/>
            </a:pPr>
            <a:r>
              <a:rPr lang="en-US" sz="1200" dirty="0">
                <a:solidFill>
                  <a:schemeClr val="tx1"/>
                </a:solidFill>
              </a:rPr>
              <a:t>Average PM2.5 from City up to Region, per year.</a:t>
            </a:r>
            <a:endParaRPr lang="en-US" sz="1200" dirty="0"/>
          </a:p>
        </p:txBody>
      </p:sp>
      <p:sp>
        <p:nvSpPr>
          <p:cNvPr id="7" name="Roll-up placeholder"/>
          <p:cNvSpPr txBox="1"/>
          <p:nvPr/>
        </p:nvSpPr>
        <p:spPr>
          <a:xfrm>
            <a:off x="685800" y="3337560"/>
            <a:ext cx="1828800" cy="2560320"/>
          </a:xfrm>
          <a:prstGeom prst="rect">
            <a:avLst/>
          </a:prstGeom>
          <a:noFill/>
          <a:ln/>
        </p:spPr>
        <p:txBody>
          <a:bodyPr wrap="square" lIns="0" tIns="0" rIns="0" bIns="0" rtlCol="0" anchor="t"/>
          <a:lstStyle/>
          <a:p>
            <a:pPr marL="0" indent="0">
              <a:buNone/>
            </a:pPr>
            <a:r>
              <a:rPr lang="en-US" sz="1200" b="1" dirty="0">
                <a:solidFill>
                  <a:schemeClr val="tx2"/>
                </a:solidFill>
              </a:rPr>
              <a:t>Query pattern</a:t>
            </a:r>
            <a:endParaRPr lang="en-US" sz="1200" dirty="0"/>
          </a:p>
          <a:p>
            <a:pPr marL="0" indent="0">
              <a:buNone/>
            </a:pPr>
            <a:r>
              <a:rPr lang="en-US" sz="1200" dirty="0">
                <a:solidFill>
                  <a:schemeClr val="accent6"/>
                </a:solidFill>
              </a:rPr>
              <a:t>GROUP BY c.region, d.year</a:t>
            </a:r>
            <a:endParaRPr lang="en-US" sz="1200" dirty="0"/>
          </a:p>
          <a:p>
            <a:pPr marL="0" indent="0">
              <a:buNone/>
            </a:pPr>
            <a:r>
              <a:rPr lang="en-US" sz="1200" dirty="0">
                <a:solidFill>
                  <a:schemeClr val="accent6"/>
                </a:solidFill>
              </a:rPr>
              <a:t xml:space="preserve"> </a:t>
            </a:r>
            <a:endParaRPr lang="en-US" sz="1200" dirty="0"/>
          </a:p>
          <a:p>
            <a:pPr marL="0" indent="0">
              <a:buNone/>
            </a:pPr>
            <a:r>
              <a:rPr lang="en-US" sz="1200" b="1" dirty="0">
                <a:solidFill>
                  <a:schemeClr val="tx2"/>
                </a:solidFill>
              </a:rPr>
              <a:t>Expected output</a:t>
            </a:r>
            <a:endParaRPr lang="en-US" sz="1200" dirty="0"/>
          </a:p>
          <a:p>
            <a:pPr marL="0" indent="0">
              <a:buNone/>
            </a:pPr>
            <a:r>
              <a:rPr lang="en-US" sz="1200" dirty="0">
                <a:solidFill>
                  <a:schemeClr val="accent6"/>
                </a:solidFill>
              </a:rPr>
              <a:t>Region, year and average PM2.5.</a:t>
            </a:r>
            <a:endParaRPr lang="en-US" sz="1200" dirty="0"/>
          </a:p>
        </p:txBody>
      </p:sp>
      <p:sp>
        <p:nvSpPr>
          <p:cNvPr id="8" name="Drill-down card"/>
          <p:cNvSpPr/>
          <p:nvPr/>
        </p:nvSpPr>
        <p:spPr>
          <a:xfrm>
            <a:off x="2788920" y="1554480"/>
            <a:ext cx="2103120" cy="4480560"/>
          </a:xfrm>
          <a:prstGeom prst="rect">
            <a:avLst/>
          </a:prstGeom>
          <a:solidFill>
            <a:schemeClr val="bg2"/>
          </a:solidFill>
          <a:ln w="12700">
            <a:solidFill>
              <a:schemeClr val="bg2"/>
            </a:solidFill>
            <a:prstDash val="solid"/>
          </a:ln>
        </p:spPr>
      </p:sp>
      <p:sp>
        <p:nvSpPr>
          <p:cNvPr id="9" name="Drill-down header"/>
          <p:cNvSpPr/>
          <p:nvPr/>
        </p:nvSpPr>
        <p:spPr>
          <a:xfrm>
            <a:off x="2788920" y="1554480"/>
            <a:ext cx="2103120" cy="548640"/>
          </a:xfrm>
          <a:prstGeom prst="rect">
            <a:avLst/>
          </a:prstGeom>
          <a:solidFill>
            <a:schemeClr val="accent3"/>
          </a:solidFill>
          <a:ln w="12700">
            <a:solidFill>
              <a:schemeClr val="accent3"/>
            </a:solidFill>
            <a:prstDash val="solid"/>
          </a:ln>
        </p:spPr>
      </p:sp>
      <p:sp>
        <p:nvSpPr>
          <p:cNvPr id="10" name="Drill-down title"/>
          <p:cNvSpPr txBox="1"/>
          <p:nvPr/>
        </p:nvSpPr>
        <p:spPr>
          <a:xfrm>
            <a:off x="2788920" y="1554480"/>
            <a:ext cx="2103120" cy="548640"/>
          </a:xfrm>
          <a:prstGeom prst="rect">
            <a:avLst/>
          </a:prstGeom>
          <a:noFill/>
          <a:ln/>
        </p:spPr>
        <p:txBody>
          <a:bodyPr wrap="square" lIns="0" tIns="0" rIns="0" bIns="0" rtlCol="0" anchor="ctr"/>
          <a:lstStyle/>
          <a:p>
            <a:pPr marL="0" indent="0" algn="ctr">
              <a:buNone/>
            </a:pPr>
            <a:r>
              <a:rPr lang="en-US" sz="1600" b="1" dirty="0">
                <a:solidFill>
                  <a:schemeClr val="bg1"/>
                </a:solidFill>
              </a:rPr>
              <a:t>Drill-down</a:t>
            </a:r>
            <a:endParaRPr lang="en-US" sz="1600" dirty="0"/>
          </a:p>
        </p:txBody>
      </p:sp>
      <p:sp>
        <p:nvSpPr>
          <p:cNvPr id="11" name="Drill-down desc"/>
          <p:cNvSpPr txBox="1"/>
          <p:nvPr/>
        </p:nvSpPr>
        <p:spPr>
          <a:xfrm>
            <a:off x="2926080" y="2240280"/>
            <a:ext cx="1828800" cy="1005840"/>
          </a:xfrm>
          <a:prstGeom prst="rect">
            <a:avLst/>
          </a:prstGeom>
          <a:noFill/>
          <a:ln/>
        </p:spPr>
        <p:txBody>
          <a:bodyPr wrap="square" lIns="0" tIns="0" rIns="0" bIns="0" rtlCol="0" anchor="t"/>
          <a:lstStyle/>
          <a:p>
            <a:pPr marL="0" indent="0">
              <a:buNone/>
            </a:pPr>
            <a:r>
              <a:rPr lang="en-US" sz="1200" dirty="0">
                <a:solidFill>
                  <a:schemeClr val="tx1"/>
                </a:solidFill>
              </a:rPr>
              <a:t>Delhi in 2019, from year down to month.</a:t>
            </a:r>
            <a:endParaRPr lang="en-US" sz="1200" dirty="0"/>
          </a:p>
        </p:txBody>
      </p:sp>
      <p:sp>
        <p:nvSpPr>
          <p:cNvPr id="12" name="Drill-down placeholder"/>
          <p:cNvSpPr txBox="1"/>
          <p:nvPr/>
        </p:nvSpPr>
        <p:spPr>
          <a:xfrm>
            <a:off x="2926080" y="3337560"/>
            <a:ext cx="1828800" cy="2560320"/>
          </a:xfrm>
          <a:prstGeom prst="rect">
            <a:avLst/>
          </a:prstGeom>
          <a:noFill/>
          <a:ln/>
        </p:spPr>
        <p:txBody>
          <a:bodyPr wrap="square" lIns="0" tIns="0" rIns="0" bIns="0" rtlCol="0" anchor="t"/>
          <a:lstStyle/>
          <a:p>
            <a:pPr marL="0" indent="0">
              <a:buNone/>
            </a:pPr>
            <a:r>
              <a:rPr lang="en-US" sz="1200" b="1" dirty="0">
                <a:solidFill>
                  <a:schemeClr val="tx2"/>
                </a:solidFill>
              </a:rPr>
              <a:t>Query pattern</a:t>
            </a:r>
            <a:endParaRPr lang="en-US" sz="1200" dirty="0"/>
          </a:p>
          <a:p>
            <a:pPr marL="0" indent="0">
              <a:buNone/>
            </a:pPr>
            <a:r>
              <a:rPr lang="en-US" sz="1200" dirty="0">
                <a:solidFill>
                  <a:schemeClr val="accent6"/>
                </a:solidFill>
              </a:rPr>
              <a:t>WHERE city = 'Delhi'</a:t>
            </a:r>
            <a:endParaRPr lang="en-US" sz="1200" dirty="0"/>
          </a:p>
          <a:p>
            <a:pPr marL="0" indent="0">
              <a:buNone/>
            </a:pPr>
            <a:r>
              <a:rPr lang="en-US" sz="1200" dirty="0">
                <a:solidFill>
                  <a:schemeClr val="accent6"/>
                </a:solidFill>
              </a:rPr>
              <a:t>AND year = 2019</a:t>
            </a:r>
            <a:endParaRPr lang="en-US" sz="1200" dirty="0"/>
          </a:p>
          <a:p>
            <a:pPr marL="0" indent="0">
              <a:buNone/>
            </a:pPr>
            <a:r>
              <a:rPr lang="en-US" sz="1200" dirty="0">
                <a:solidFill>
                  <a:schemeClr val="accent6"/>
                </a:solidFill>
              </a:rPr>
              <a:t>GROUP BY d.month</a:t>
            </a:r>
            <a:endParaRPr lang="en-US" sz="1200" dirty="0"/>
          </a:p>
          <a:p>
            <a:pPr marL="0" indent="0">
              <a:buNone/>
            </a:pPr>
            <a:r>
              <a:rPr lang="en-US" sz="1200" dirty="0">
                <a:solidFill>
                  <a:schemeClr val="accent6"/>
                </a:solidFill>
              </a:rPr>
              <a:t xml:space="preserve"> </a:t>
            </a:r>
            <a:endParaRPr lang="en-US" sz="1200" dirty="0"/>
          </a:p>
          <a:p>
            <a:pPr marL="0" indent="0">
              <a:buNone/>
            </a:pPr>
            <a:r>
              <a:rPr lang="en-US" sz="1200" b="1" dirty="0">
                <a:solidFill>
                  <a:schemeClr val="tx2"/>
                </a:solidFill>
              </a:rPr>
              <a:t>Expected output</a:t>
            </a:r>
            <a:endParaRPr lang="en-US" sz="1200" dirty="0"/>
          </a:p>
          <a:p>
            <a:pPr marL="0" indent="0">
              <a:buNone/>
            </a:pPr>
            <a:r>
              <a:rPr lang="en-US" sz="1200" dirty="0">
                <a:solidFill>
                  <a:schemeClr val="accent6"/>
                </a:solidFill>
              </a:rPr>
              <a:t>12 monthly AQI values.</a:t>
            </a:r>
            <a:endParaRPr lang="en-US" sz="1200" dirty="0"/>
          </a:p>
        </p:txBody>
      </p:sp>
      <p:sp>
        <p:nvSpPr>
          <p:cNvPr id="13" name="Slice card"/>
          <p:cNvSpPr/>
          <p:nvPr/>
        </p:nvSpPr>
        <p:spPr>
          <a:xfrm>
            <a:off x="5029200" y="1554480"/>
            <a:ext cx="2103120" cy="4480560"/>
          </a:xfrm>
          <a:prstGeom prst="rect">
            <a:avLst/>
          </a:prstGeom>
          <a:solidFill>
            <a:schemeClr val="bg2"/>
          </a:solidFill>
          <a:ln w="12700">
            <a:solidFill>
              <a:schemeClr val="bg2"/>
            </a:solidFill>
            <a:prstDash val="solid"/>
          </a:ln>
        </p:spPr>
      </p:sp>
      <p:sp>
        <p:nvSpPr>
          <p:cNvPr id="14" name="Slice header"/>
          <p:cNvSpPr/>
          <p:nvPr/>
        </p:nvSpPr>
        <p:spPr>
          <a:xfrm>
            <a:off x="5029200" y="1554480"/>
            <a:ext cx="2103120" cy="548640"/>
          </a:xfrm>
          <a:prstGeom prst="rect">
            <a:avLst/>
          </a:prstGeom>
          <a:solidFill>
            <a:schemeClr val="accent2"/>
          </a:solidFill>
          <a:ln w="12700">
            <a:solidFill>
              <a:schemeClr val="accent2"/>
            </a:solidFill>
            <a:prstDash val="solid"/>
          </a:ln>
        </p:spPr>
      </p:sp>
      <p:sp>
        <p:nvSpPr>
          <p:cNvPr id="15" name="Slice title"/>
          <p:cNvSpPr txBox="1"/>
          <p:nvPr/>
        </p:nvSpPr>
        <p:spPr>
          <a:xfrm>
            <a:off x="5029200" y="1554480"/>
            <a:ext cx="2103120" cy="548640"/>
          </a:xfrm>
          <a:prstGeom prst="rect">
            <a:avLst/>
          </a:prstGeom>
          <a:noFill/>
          <a:ln/>
        </p:spPr>
        <p:txBody>
          <a:bodyPr wrap="square" lIns="0" tIns="0" rIns="0" bIns="0" rtlCol="0" anchor="ctr"/>
          <a:lstStyle/>
          <a:p>
            <a:pPr marL="0" indent="0" algn="ctr">
              <a:buNone/>
            </a:pPr>
            <a:r>
              <a:rPr lang="en-US" sz="1600" b="1" dirty="0">
                <a:solidFill>
                  <a:schemeClr val="bg1"/>
                </a:solidFill>
              </a:rPr>
              <a:t>Slice</a:t>
            </a:r>
            <a:endParaRPr lang="en-US" sz="1600" dirty="0"/>
          </a:p>
        </p:txBody>
      </p:sp>
      <p:sp>
        <p:nvSpPr>
          <p:cNvPr id="16" name="Slice desc"/>
          <p:cNvSpPr txBox="1"/>
          <p:nvPr/>
        </p:nvSpPr>
        <p:spPr>
          <a:xfrm>
            <a:off x="5166360" y="2240280"/>
            <a:ext cx="1828800" cy="1005840"/>
          </a:xfrm>
          <a:prstGeom prst="rect">
            <a:avLst/>
          </a:prstGeom>
          <a:noFill/>
          <a:ln/>
        </p:spPr>
        <p:txBody>
          <a:bodyPr wrap="square" lIns="0" tIns="0" rIns="0" bIns="0" rtlCol="0" anchor="t"/>
          <a:lstStyle/>
          <a:p>
            <a:pPr marL="0" indent="0">
              <a:buNone/>
            </a:pPr>
            <a:r>
              <a:rPr lang="en-US" sz="1200" dirty="0">
                <a:solidFill>
                  <a:schemeClr val="tx1"/>
                </a:solidFill>
              </a:rPr>
              <a:t>Fix Season = Winter and compare cities.</a:t>
            </a:r>
            <a:endParaRPr lang="en-US" sz="1200" dirty="0"/>
          </a:p>
        </p:txBody>
      </p:sp>
      <p:sp>
        <p:nvSpPr>
          <p:cNvPr id="17" name="Slice placeholder"/>
          <p:cNvSpPr txBox="1"/>
          <p:nvPr/>
        </p:nvSpPr>
        <p:spPr>
          <a:xfrm>
            <a:off x="5166360" y="3337560"/>
            <a:ext cx="1828800" cy="2560320"/>
          </a:xfrm>
          <a:prstGeom prst="rect">
            <a:avLst/>
          </a:prstGeom>
          <a:noFill/>
          <a:ln/>
        </p:spPr>
        <p:txBody>
          <a:bodyPr wrap="square" lIns="0" tIns="0" rIns="0" bIns="0" rtlCol="0" anchor="t"/>
          <a:lstStyle/>
          <a:p>
            <a:pPr marL="0" indent="0">
              <a:buNone/>
            </a:pPr>
            <a:r>
              <a:rPr lang="en-US" sz="1200" b="1" dirty="0">
                <a:solidFill>
                  <a:schemeClr val="tx2"/>
                </a:solidFill>
              </a:rPr>
              <a:t>Query pattern</a:t>
            </a:r>
            <a:endParaRPr lang="en-US" sz="1200" dirty="0"/>
          </a:p>
          <a:p>
            <a:pPr marL="0" indent="0">
              <a:buNone/>
            </a:pPr>
            <a:r>
              <a:rPr lang="en-US" sz="1200" dirty="0">
                <a:solidFill>
                  <a:schemeClr val="accent6"/>
                </a:solidFill>
              </a:rPr>
              <a:t>WHERE d.season = 'Winter'</a:t>
            </a:r>
            <a:endParaRPr lang="en-US" sz="1200" dirty="0"/>
          </a:p>
          <a:p>
            <a:pPr marL="0" indent="0">
              <a:buNone/>
            </a:pPr>
            <a:r>
              <a:rPr lang="en-US" sz="1200" dirty="0">
                <a:solidFill>
                  <a:schemeClr val="accent6"/>
                </a:solidFill>
              </a:rPr>
              <a:t>GROUP BY c.city</a:t>
            </a:r>
            <a:endParaRPr lang="en-US" sz="1200" dirty="0"/>
          </a:p>
          <a:p>
            <a:pPr marL="0" indent="0">
              <a:buNone/>
            </a:pPr>
            <a:r>
              <a:rPr lang="en-US" sz="1200" dirty="0">
                <a:solidFill>
                  <a:schemeClr val="accent6"/>
                </a:solidFill>
              </a:rPr>
              <a:t xml:space="preserve"> </a:t>
            </a:r>
            <a:endParaRPr lang="en-US" sz="1200" dirty="0"/>
          </a:p>
          <a:p>
            <a:pPr marL="0" indent="0">
              <a:buNone/>
            </a:pPr>
            <a:r>
              <a:rPr lang="en-US" sz="1200" b="1" dirty="0">
                <a:solidFill>
                  <a:schemeClr val="tx2"/>
                </a:solidFill>
              </a:rPr>
              <a:t>Expected output</a:t>
            </a:r>
            <a:endParaRPr lang="en-US" sz="1200" dirty="0"/>
          </a:p>
          <a:p>
            <a:pPr marL="0" indent="0">
              <a:buNone/>
            </a:pPr>
            <a:r>
              <a:rPr lang="en-US" sz="1200" dirty="0">
                <a:solidFill>
                  <a:schemeClr val="accent6"/>
                </a:solidFill>
              </a:rPr>
              <a:t>Cities ranked by winter AQI.</a:t>
            </a:r>
            <a:endParaRPr lang="en-US" sz="1200" dirty="0"/>
          </a:p>
        </p:txBody>
      </p:sp>
      <p:sp>
        <p:nvSpPr>
          <p:cNvPr id="18" name="Dice card"/>
          <p:cNvSpPr/>
          <p:nvPr/>
        </p:nvSpPr>
        <p:spPr>
          <a:xfrm>
            <a:off x="7269480" y="1554480"/>
            <a:ext cx="2103120" cy="4480560"/>
          </a:xfrm>
          <a:prstGeom prst="rect">
            <a:avLst/>
          </a:prstGeom>
          <a:solidFill>
            <a:schemeClr val="bg2"/>
          </a:solidFill>
          <a:ln w="12700">
            <a:solidFill>
              <a:schemeClr val="bg2"/>
            </a:solidFill>
            <a:prstDash val="solid"/>
          </a:ln>
        </p:spPr>
      </p:sp>
      <p:sp>
        <p:nvSpPr>
          <p:cNvPr id="19" name="Dice header"/>
          <p:cNvSpPr/>
          <p:nvPr/>
        </p:nvSpPr>
        <p:spPr>
          <a:xfrm>
            <a:off x="7269480" y="1554480"/>
            <a:ext cx="2103120" cy="548640"/>
          </a:xfrm>
          <a:prstGeom prst="rect">
            <a:avLst/>
          </a:prstGeom>
          <a:solidFill>
            <a:schemeClr val="accent4"/>
          </a:solidFill>
          <a:ln w="12700">
            <a:solidFill>
              <a:schemeClr val="accent4"/>
            </a:solidFill>
            <a:prstDash val="solid"/>
          </a:ln>
        </p:spPr>
      </p:sp>
      <p:sp>
        <p:nvSpPr>
          <p:cNvPr id="20" name="Dice title"/>
          <p:cNvSpPr txBox="1"/>
          <p:nvPr/>
        </p:nvSpPr>
        <p:spPr>
          <a:xfrm>
            <a:off x="7269480" y="1554480"/>
            <a:ext cx="2103120" cy="548640"/>
          </a:xfrm>
          <a:prstGeom prst="rect">
            <a:avLst/>
          </a:prstGeom>
          <a:noFill/>
          <a:ln/>
        </p:spPr>
        <p:txBody>
          <a:bodyPr wrap="square" lIns="0" tIns="0" rIns="0" bIns="0" rtlCol="0" anchor="ctr"/>
          <a:lstStyle/>
          <a:p>
            <a:pPr marL="0" indent="0" algn="ctr">
              <a:buNone/>
            </a:pPr>
            <a:r>
              <a:rPr lang="en-US" sz="1600" b="1" dirty="0">
                <a:solidFill>
                  <a:schemeClr val="bg1"/>
                </a:solidFill>
              </a:rPr>
              <a:t>Dice</a:t>
            </a:r>
            <a:endParaRPr lang="en-US" sz="1600" dirty="0"/>
          </a:p>
        </p:txBody>
      </p:sp>
      <p:sp>
        <p:nvSpPr>
          <p:cNvPr id="21" name="Dice desc"/>
          <p:cNvSpPr txBox="1"/>
          <p:nvPr/>
        </p:nvSpPr>
        <p:spPr>
          <a:xfrm>
            <a:off x="7406640" y="2240280"/>
            <a:ext cx="1828800" cy="1005840"/>
          </a:xfrm>
          <a:prstGeom prst="rect">
            <a:avLst/>
          </a:prstGeom>
          <a:noFill/>
          <a:ln/>
        </p:spPr>
        <p:txBody>
          <a:bodyPr wrap="square" lIns="0" tIns="0" rIns="0" bIns="0" rtlCol="0" anchor="t"/>
          <a:lstStyle/>
          <a:p>
            <a:pPr marL="0" indent="0">
              <a:buNone/>
            </a:pPr>
            <a:r>
              <a:rPr lang="en-US" sz="1200" dirty="0">
                <a:solidFill>
                  <a:schemeClr val="tx1"/>
                </a:solidFill>
              </a:rPr>
              <a:t>North region × Mar–May × 2019 vs 2020.</a:t>
            </a:r>
            <a:endParaRPr lang="en-US" sz="1200" dirty="0"/>
          </a:p>
        </p:txBody>
      </p:sp>
      <p:sp>
        <p:nvSpPr>
          <p:cNvPr id="22" name="Dice placeholder"/>
          <p:cNvSpPr txBox="1"/>
          <p:nvPr/>
        </p:nvSpPr>
        <p:spPr>
          <a:xfrm>
            <a:off x="7406640" y="3337560"/>
            <a:ext cx="1828800" cy="2560320"/>
          </a:xfrm>
          <a:prstGeom prst="rect">
            <a:avLst/>
          </a:prstGeom>
          <a:noFill/>
          <a:ln/>
        </p:spPr>
        <p:txBody>
          <a:bodyPr wrap="square" lIns="0" tIns="0" rIns="0" bIns="0" rtlCol="0" anchor="t"/>
          <a:lstStyle/>
          <a:p>
            <a:pPr marL="0" indent="0">
              <a:buNone/>
            </a:pPr>
            <a:r>
              <a:rPr lang="en-US" sz="1200" b="1" dirty="0">
                <a:solidFill>
                  <a:schemeClr val="tx2"/>
                </a:solidFill>
              </a:rPr>
              <a:t>Query pattern</a:t>
            </a:r>
            <a:endParaRPr lang="en-US" sz="1200" dirty="0"/>
          </a:p>
          <a:p>
            <a:pPr marL="0" indent="0">
              <a:buNone/>
            </a:pPr>
            <a:r>
              <a:rPr lang="en-US" sz="1200" dirty="0">
                <a:solidFill>
                  <a:schemeClr val="accent6"/>
                </a:solidFill>
              </a:rPr>
              <a:t>region = 'North'</a:t>
            </a:r>
            <a:endParaRPr lang="en-US" sz="1200" dirty="0"/>
          </a:p>
          <a:p>
            <a:pPr marL="0" indent="0">
              <a:buNone/>
            </a:pPr>
            <a:r>
              <a:rPr lang="en-US" sz="1200" dirty="0">
                <a:solidFill>
                  <a:schemeClr val="accent6"/>
                </a:solidFill>
              </a:rPr>
              <a:t>month BETWEEN 3 AND 5</a:t>
            </a:r>
            <a:endParaRPr lang="en-US" sz="1200" dirty="0"/>
          </a:p>
          <a:p>
            <a:pPr marL="0" indent="0">
              <a:buNone/>
            </a:pPr>
            <a:r>
              <a:rPr lang="en-US" sz="1200" dirty="0">
                <a:solidFill>
                  <a:schemeClr val="accent6"/>
                </a:solidFill>
              </a:rPr>
              <a:t>year IN (2019, 2020)</a:t>
            </a:r>
            <a:endParaRPr lang="en-US" sz="1200" dirty="0"/>
          </a:p>
          <a:p>
            <a:pPr marL="0" indent="0">
              <a:buNone/>
            </a:pPr>
            <a:r>
              <a:rPr lang="en-US" sz="1200" dirty="0">
                <a:solidFill>
                  <a:schemeClr val="accent6"/>
                </a:solidFill>
              </a:rPr>
              <a:t xml:space="preserve"> </a:t>
            </a:r>
            <a:endParaRPr lang="en-US" sz="1200" dirty="0"/>
          </a:p>
          <a:p>
            <a:pPr marL="0" indent="0">
              <a:buNone/>
            </a:pPr>
            <a:r>
              <a:rPr lang="en-US" sz="1200" b="1" dirty="0">
                <a:solidFill>
                  <a:schemeClr val="tx2"/>
                </a:solidFill>
              </a:rPr>
              <a:t>Expected output</a:t>
            </a:r>
            <a:endParaRPr lang="en-US" sz="1200" dirty="0"/>
          </a:p>
          <a:p>
            <a:pPr marL="0" indent="0">
              <a:buNone/>
            </a:pPr>
            <a:r>
              <a:rPr lang="en-US" sz="1200" dirty="0">
                <a:solidFill>
                  <a:schemeClr val="accent6"/>
                </a:solidFill>
              </a:rPr>
              <a:t>PM2.5 and NO2 before vs during lockdown.</a:t>
            </a:r>
            <a:endParaRPr lang="en-US" sz="1200" dirty="0"/>
          </a:p>
        </p:txBody>
      </p:sp>
      <p:sp>
        <p:nvSpPr>
          <p:cNvPr id="23" name="Pivot card"/>
          <p:cNvSpPr/>
          <p:nvPr/>
        </p:nvSpPr>
        <p:spPr>
          <a:xfrm>
            <a:off x="9509760" y="1554480"/>
            <a:ext cx="2103120" cy="4480560"/>
          </a:xfrm>
          <a:prstGeom prst="rect">
            <a:avLst/>
          </a:prstGeom>
          <a:solidFill>
            <a:schemeClr val="bg2"/>
          </a:solidFill>
          <a:ln w="12700">
            <a:solidFill>
              <a:schemeClr val="bg2"/>
            </a:solidFill>
            <a:prstDash val="solid"/>
          </a:ln>
        </p:spPr>
      </p:sp>
      <p:sp>
        <p:nvSpPr>
          <p:cNvPr id="24" name="Pivot header"/>
          <p:cNvSpPr/>
          <p:nvPr/>
        </p:nvSpPr>
        <p:spPr>
          <a:xfrm>
            <a:off x="9509760" y="1554480"/>
            <a:ext cx="2103120" cy="548640"/>
          </a:xfrm>
          <a:prstGeom prst="rect">
            <a:avLst/>
          </a:prstGeom>
          <a:solidFill>
            <a:schemeClr val="accent5"/>
          </a:solidFill>
          <a:ln w="12700">
            <a:solidFill>
              <a:schemeClr val="accent5"/>
            </a:solidFill>
            <a:prstDash val="solid"/>
          </a:ln>
        </p:spPr>
      </p:sp>
      <p:sp>
        <p:nvSpPr>
          <p:cNvPr id="25" name="Pivot title"/>
          <p:cNvSpPr txBox="1"/>
          <p:nvPr/>
        </p:nvSpPr>
        <p:spPr>
          <a:xfrm>
            <a:off x="9509760" y="1554480"/>
            <a:ext cx="2103120" cy="548640"/>
          </a:xfrm>
          <a:prstGeom prst="rect">
            <a:avLst/>
          </a:prstGeom>
          <a:noFill/>
          <a:ln/>
        </p:spPr>
        <p:txBody>
          <a:bodyPr wrap="square" lIns="0" tIns="0" rIns="0" bIns="0" rtlCol="0" anchor="ctr"/>
          <a:lstStyle/>
          <a:p>
            <a:pPr marL="0" indent="0" algn="ctr">
              <a:buNone/>
            </a:pPr>
            <a:r>
              <a:rPr lang="en-US" sz="1600" b="1" dirty="0">
                <a:solidFill>
                  <a:schemeClr val="bg1"/>
                </a:solidFill>
              </a:rPr>
              <a:t>Pivot</a:t>
            </a:r>
            <a:endParaRPr lang="en-US" sz="1600" dirty="0"/>
          </a:p>
        </p:txBody>
      </p:sp>
      <p:sp>
        <p:nvSpPr>
          <p:cNvPr id="26" name="Pivot desc"/>
          <p:cNvSpPr txBox="1"/>
          <p:nvPr/>
        </p:nvSpPr>
        <p:spPr>
          <a:xfrm>
            <a:off x="9646920" y="2240280"/>
            <a:ext cx="1828800" cy="1005840"/>
          </a:xfrm>
          <a:prstGeom prst="rect">
            <a:avLst/>
          </a:prstGeom>
          <a:noFill/>
          <a:ln/>
        </p:spPr>
        <p:txBody>
          <a:bodyPr wrap="square" lIns="0" tIns="0" rIns="0" bIns="0" rtlCol="0" anchor="t"/>
          <a:lstStyle/>
          <a:p>
            <a:pPr marL="0" indent="0">
              <a:buNone/>
            </a:pPr>
            <a:r>
              <a:rPr lang="en-US" sz="1200" dirty="0">
                <a:solidFill>
                  <a:schemeClr val="tx1"/>
                </a:solidFill>
              </a:rPr>
              <a:t>Cities as rows, AQI buckets as columns.</a:t>
            </a:r>
            <a:endParaRPr lang="en-US" sz="1200" dirty="0"/>
          </a:p>
        </p:txBody>
      </p:sp>
      <p:sp>
        <p:nvSpPr>
          <p:cNvPr id="27" name="Pivot placeholder"/>
          <p:cNvSpPr txBox="1"/>
          <p:nvPr/>
        </p:nvSpPr>
        <p:spPr>
          <a:xfrm>
            <a:off x="9646920" y="3337560"/>
            <a:ext cx="1828800" cy="2560320"/>
          </a:xfrm>
          <a:prstGeom prst="rect">
            <a:avLst/>
          </a:prstGeom>
          <a:noFill/>
          <a:ln/>
        </p:spPr>
        <p:txBody>
          <a:bodyPr wrap="square" lIns="0" tIns="0" rIns="0" bIns="0" rtlCol="0" anchor="t"/>
          <a:lstStyle/>
          <a:p>
            <a:pPr marL="0" indent="0">
              <a:buNone/>
            </a:pPr>
            <a:r>
              <a:rPr lang="en-US" sz="1200" b="1" dirty="0">
                <a:solidFill>
                  <a:schemeClr val="tx2"/>
                </a:solidFill>
              </a:rPr>
              <a:t>Query pattern</a:t>
            </a:r>
            <a:endParaRPr lang="en-US" sz="1200" dirty="0"/>
          </a:p>
          <a:p>
            <a:pPr marL="0" indent="0">
              <a:buNone/>
            </a:pPr>
            <a:r>
              <a:rPr lang="en-US" sz="1200" dirty="0">
                <a:solidFill>
                  <a:schemeClr val="accent6"/>
                </a:solidFill>
              </a:rPr>
              <a:t>SUM(CASE WHEN</a:t>
            </a:r>
            <a:endParaRPr lang="en-US" sz="1200" dirty="0"/>
          </a:p>
          <a:p>
            <a:pPr marL="0" indent="0">
              <a:buNone/>
            </a:pPr>
            <a:r>
              <a:rPr lang="en-US" sz="1200" dirty="0">
                <a:solidFill>
                  <a:schemeClr val="accent6"/>
                </a:solidFill>
              </a:rPr>
              <a:t>bucket = 'Severe' ...)</a:t>
            </a:r>
            <a:endParaRPr lang="en-US" sz="1200" dirty="0"/>
          </a:p>
          <a:p>
            <a:pPr marL="0" indent="0">
              <a:buNone/>
            </a:pPr>
            <a:r>
              <a:rPr lang="en-US" sz="1200" dirty="0">
                <a:solidFill>
                  <a:schemeClr val="accent6"/>
                </a:solidFill>
              </a:rPr>
              <a:t xml:space="preserve"> </a:t>
            </a:r>
            <a:endParaRPr lang="en-US" sz="1200" dirty="0"/>
          </a:p>
          <a:p>
            <a:pPr marL="0" indent="0">
              <a:buNone/>
            </a:pPr>
            <a:r>
              <a:rPr lang="en-US" sz="1200" b="1" dirty="0">
                <a:solidFill>
                  <a:schemeClr val="tx2"/>
                </a:solidFill>
              </a:rPr>
              <a:t>Expected output</a:t>
            </a:r>
            <a:endParaRPr lang="en-US" sz="1200" dirty="0"/>
          </a:p>
          <a:p>
            <a:pPr marL="0" indent="0">
              <a:buNone/>
            </a:pPr>
            <a:r>
              <a:rPr lang="en-US" sz="1200" dirty="0">
                <a:solidFill>
                  <a:schemeClr val="accent6"/>
                </a:solidFill>
              </a:rPr>
              <a:t>Days in each bucket per city.</a:t>
            </a:r>
            <a:endParaRPr lang="en-US" sz="1200" dirty="0"/>
          </a:p>
        </p:txBody>
      </p:sp>
      <p:sp>
        <p:nvSpPr>
          <p:cNvPr id="28"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822960" y="411480"/>
            <a:ext cx="10789920" cy="777240"/>
          </a:xfrm>
          <a:prstGeom prst="rect">
            <a:avLst/>
          </a:prstGeom>
          <a:noFill/>
          <a:ln/>
        </p:spPr>
        <p:txBody>
          <a:bodyPr wrap="square" rtlCol="0" anchor="ctr"/>
          <a:lstStyle/>
          <a:p>
            <a:pPr marL="0" indent="0">
              <a:buNone/>
            </a:pPr>
            <a:r>
              <a:rPr lang="en-US" sz="2800" b="1" dirty="0">
                <a:solidFill>
                  <a:schemeClr val="tx2"/>
                </a:solidFill>
              </a:rPr>
              <a:t>Code: Creating the Warehouse (SQL)</a:t>
            </a:r>
            <a:endParaRPr lang="en-US" sz="2800" dirty="0"/>
          </a:p>
        </p:txBody>
      </p:sp>
      <p:sp>
        <p:nvSpPr>
          <p:cNvPr id="3" name="DDL code box"/>
          <p:cNvSpPr/>
          <p:nvPr/>
        </p:nvSpPr>
        <p:spPr>
          <a:xfrm>
            <a:off x="548640" y="1508760"/>
            <a:ext cx="11064240" cy="4572000"/>
          </a:xfrm>
          <a:prstGeom prst="rect">
            <a:avLst/>
          </a:prstGeom>
          <a:solidFill>
            <a:schemeClr val="tx2"/>
          </a:solidFill>
          <a:ln w="12700">
            <a:solidFill>
              <a:schemeClr val="tx2"/>
            </a:solidFill>
            <a:prstDash val="solid"/>
          </a:ln>
        </p:spPr>
      </p:sp>
      <p:sp>
        <p:nvSpPr>
          <p:cNvPr id="4" name="DDL code"/>
          <p:cNvSpPr txBox="1"/>
          <p:nvPr/>
        </p:nvSpPr>
        <p:spPr>
          <a:xfrm>
            <a:off x="731520" y="1645920"/>
            <a:ext cx="10698480" cy="4297680"/>
          </a:xfrm>
          <a:prstGeom prst="rect">
            <a:avLst/>
          </a:prstGeom>
          <a:noFill/>
          <a:ln/>
        </p:spPr>
        <p:txBody>
          <a:bodyPr wrap="square" lIns="0" tIns="0" rIns="0" bIns="0" rtlCol="0" anchor="t"/>
          <a:lstStyle/>
          <a:p>
            <a:pPr marL="0" indent="0">
              <a:buNone/>
            </a:pPr>
            <a:r>
              <a:rPr lang="en-US" sz="1300" dirty="0">
                <a:solidFill>
                  <a:schemeClr val="bg1"/>
                </a:solidFill>
                <a:latin typeface="Consolas" pitchFamily="34" charset="0"/>
                <a:ea typeface="Consolas" pitchFamily="34" charset="-122"/>
                <a:cs typeface="Consolas" pitchFamily="34" charset="-120"/>
              </a:rPr>
              <a:t>CREATE TABLE dim_date (date_key INT PRIMARY KEY, full_date DATE UNIQUE, day SMALLINT,</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xml:space="preserve">  week SMALLINT, month SMALLINT, season VARCHAR(15), quarter SMALLINT, year SMALLINT);</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CREATE TABLE dim_city (city_key INT PRIMARY KEY, city VARCHAR(40) UNIQUE, state VARCHAR(40),</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xml:space="preserve">  region VARCHAR(15), latitude DECIMAL(7,4), longitude DECIMAL(7,4), is_coastal SMALLINT);</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CREATE TABLE dim_aqi_category (category_key INT PRIMARY KEY, bucket VARCHAR(15),</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xml:space="preserve">  aqi_min INT, aqi_max INT, health_group VARCHAR(10));</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CREATE TABLE dim_event (event_key INT PRIMARY KEY, event_name VARCHAR(30), event_type VARCHAR(20));</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CREATE TABLE fact_air_quality (</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xml:space="preserve">  city_key     INT NOT NULL REFERENCES dim_city(city_key),</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xml:space="preserve">  date_key     INT NOT NULL REFERENCES dim_date(date_key),</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xml:space="preserve">  event_key    INT NOT NULL REFERENCES dim_event(event_key),</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xml:space="preserve">  category_key INT NOT NULL REFERENCES dim_aqi_category(category_key),</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xml:space="preserve">  pm25 DECIMAL(8,2), pm10 DECIMAL(8,2), no DECIMAL(8,2), no2 DECIMAL(8,2),</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xml:space="preserve">  nox DECIMAL(8,2), nh3 DECIMAL(8,2), co DECIMAL(8,2), so2 DECIMAL(8,2), o3 DECIMAL(8,2),</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xml:space="preserve">  benzene DECIMAL(8,2), toluene DECIMAL(8,2), xylene DECIMAL(8,2), aqi DECIMAL(8,2),</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xml:space="preserve">  PRIMARY KEY (city_key, date_key)</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822960" y="411480"/>
            <a:ext cx="10789920" cy="777240"/>
          </a:xfrm>
          <a:prstGeom prst="rect">
            <a:avLst/>
          </a:prstGeom>
          <a:noFill/>
          <a:ln/>
        </p:spPr>
        <p:txBody>
          <a:bodyPr wrap="square" rtlCol="0" anchor="ctr"/>
          <a:lstStyle/>
          <a:p>
            <a:pPr marL="0" indent="0">
              <a:buNone/>
            </a:pPr>
            <a:r>
              <a:rPr lang="en-US" sz="2800" b="1" dirty="0">
                <a:solidFill>
                  <a:schemeClr val="tx2"/>
                </a:solidFill>
              </a:rPr>
              <a:t>Code: ETL with Python (pandas)</a:t>
            </a:r>
            <a:endParaRPr lang="en-US" sz="2800" dirty="0"/>
          </a:p>
        </p:txBody>
      </p:sp>
      <p:sp>
        <p:nvSpPr>
          <p:cNvPr id="3" name="ETL code box"/>
          <p:cNvSpPr/>
          <p:nvPr/>
        </p:nvSpPr>
        <p:spPr>
          <a:xfrm>
            <a:off x="548640" y="1508760"/>
            <a:ext cx="11064240" cy="4572000"/>
          </a:xfrm>
          <a:prstGeom prst="rect">
            <a:avLst/>
          </a:prstGeom>
          <a:solidFill>
            <a:schemeClr val="tx2"/>
          </a:solidFill>
          <a:ln w="12700">
            <a:solidFill>
              <a:schemeClr val="tx2"/>
            </a:solidFill>
            <a:prstDash val="solid"/>
          </a:ln>
        </p:spPr>
      </p:sp>
      <p:sp>
        <p:nvSpPr>
          <p:cNvPr id="4" name="ETL code"/>
          <p:cNvSpPr txBox="1"/>
          <p:nvPr/>
        </p:nvSpPr>
        <p:spPr>
          <a:xfrm>
            <a:off x="731520" y="1645920"/>
            <a:ext cx="10698480" cy="4297680"/>
          </a:xfrm>
          <a:prstGeom prst="rect">
            <a:avLst/>
          </a:prstGeom>
          <a:noFill/>
          <a:ln/>
        </p:spPr>
        <p:txBody>
          <a:bodyPr wrap="square" lIns="0" tIns="0" rIns="0" bIns="0" rtlCol="0" anchor="t"/>
          <a:lstStyle/>
          <a:p>
            <a:pPr marL="0" indent="0">
              <a:buNone/>
            </a:pPr>
            <a:r>
              <a:rPr lang="en-US" sz="1300" dirty="0">
                <a:solidFill>
                  <a:schemeClr val="bg1"/>
                </a:solidFill>
                <a:latin typeface="Consolas" pitchFamily="34" charset="0"/>
                <a:ea typeface="Consolas" pitchFamily="34" charset="-122"/>
                <a:cs typeface="Consolas" pitchFamily="34" charset="-120"/>
              </a:rPr>
              <a:t>import pandas as pd, numpy as np</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from db import get_engine, run_script</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Extract</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df = pd.read_csv("data/raw/city_day.csv").rename(columns=SOURCE_COLUMNS)</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Transform</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df["date"] = pd.to_datetime(df["date"], format="%Y-%m-%d")</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df = df.drop_duplicates(subset=["city", "date"])</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for col in POLLUTANTS + ["aqi"]:                     # sensor errors -&gt; NULL</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xml:space="preserve">    df.loc[(df[col] &lt; 0) | (df[col] &gt; 2000), col] = np.nan</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df = df.merge(dim_city[["city", "city_key", "region"]], on="city")</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df["date_key"] = df["date"].dt.strftime("%Y%m%d").astype(int)</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df["event_key"] = assign_event(df["date"], df["region"])   # lockdown &gt; Diwali &gt; stubble</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df["category_key"] = category_from_aqi(df["aqi"])            # CPCB AQI buckets</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Load: dimensions first, then facts</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engine = get_engine()             # SQLite default, MySQL via DATABASE_URL</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run_script(engine, "sql/01_create_warehouse.sql")</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with engine.begin() as conn:</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xml:space="preserve">    for name, table in [("dim_date", dim_date), ("dim_city", dim_city), ...]:</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xml:space="preserve">        table.to_sql(name, conn, if_exists="append", index=False)</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xml:space="preserve">    fact.to_sql("fact_air_quality", conn, if_exists="append", index=False)</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822960" y="411480"/>
            <a:ext cx="10789920" cy="777240"/>
          </a:xfrm>
          <a:prstGeom prst="rect">
            <a:avLst/>
          </a:prstGeom>
          <a:noFill/>
          <a:ln/>
        </p:spPr>
        <p:txBody>
          <a:bodyPr wrap="square" rtlCol="0" anchor="ctr"/>
          <a:lstStyle/>
          <a:p>
            <a:pPr marL="0" indent="0">
              <a:buNone/>
            </a:pPr>
            <a:r>
              <a:rPr lang="en-US" sz="2800" b="1" dirty="0">
                <a:solidFill>
                  <a:schemeClr val="tx2"/>
                </a:solidFill>
              </a:rPr>
              <a:t>Code: Sample OLAP Queries</a:t>
            </a:r>
            <a:endParaRPr lang="en-US" sz="2800" dirty="0"/>
          </a:p>
        </p:txBody>
      </p:sp>
      <p:sp>
        <p:nvSpPr>
          <p:cNvPr id="3" name="OLAP code left box"/>
          <p:cNvSpPr/>
          <p:nvPr/>
        </p:nvSpPr>
        <p:spPr>
          <a:xfrm>
            <a:off x="548640" y="1508760"/>
            <a:ext cx="5440680" cy="4572000"/>
          </a:xfrm>
          <a:prstGeom prst="rect">
            <a:avLst/>
          </a:prstGeom>
          <a:solidFill>
            <a:schemeClr val="tx2"/>
          </a:solidFill>
          <a:ln w="12700">
            <a:solidFill>
              <a:schemeClr val="tx2"/>
            </a:solidFill>
            <a:prstDash val="solid"/>
          </a:ln>
        </p:spPr>
      </p:sp>
      <p:sp>
        <p:nvSpPr>
          <p:cNvPr id="4" name="OLAP code left"/>
          <p:cNvSpPr txBox="1"/>
          <p:nvPr/>
        </p:nvSpPr>
        <p:spPr>
          <a:xfrm>
            <a:off x="731520" y="1645920"/>
            <a:ext cx="5074920" cy="4297680"/>
          </a:xfrm>
          <a:prstGeom prst="rect">
            <a:avLst/>
          </a:prstGeom>
          <a:noFill/>
          <a:ln/>
        </p:spPr>
        <p:txBody>
          <a:bodyPr wrap="square" lIns="0" tIns="0" rIns="0" bIns="0" rtlCol="0" anchor="t"/>
          <a:lstStyle/>
          <a:p>
            <a:pPr marL="0" indent="0">
              <a:buNone/>
            </a:pPr>
            <a:r>
              <a:rPr lang="en-US" sz="1000" dirty="0">
                <a:solidFill>
                  <a:schemeClr val="bg1"/>
                </a:solidFill>
                <a:latin typeface="Consolas" pitchFamily="34" charset="0"/>
                <a:ea typeface="Consolas" pitchFamily="34" charset="-122"/>
                <a:cs typeface="Consolas" pitchFamily="34" charset="-120"/>
              </a:rPr>
              <a:t>-- Roll-up: City -&gt; Region, per year</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SELECT c.region, d.year, AVG(f.pm25) AS avg_pm25</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FROM fact_air_quality f</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JOIN dim_city c ON f.city_key = c.city_key</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JOIN dim_date d ON f.date_key = d.date_key</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GROUP BY c.region, d.year;</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 Drill-down: Delhi 2019, Year -&gt; Month</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SELECT d.month, AVG(f.aqi) AS avg_aqi</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FROM fact_air_quality f</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JOIN dim_city c ON f.city_key = c.city_key</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JOIN dim_date d ON f.date_key = d.date_key</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WHERE c.city = 'Delhi' AND d.year = 2019</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GROUP BY d.month;</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 Slice: Season = Winter</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SELECT c.city, AVG(f.aqi) AS winter_aqi</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FROM fact_air_quality f</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JOIN dim_city c ON f.city_key = c.city_key</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JOIN dim_date d ON f.date_key = d.date_key</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WHERE d.season = 'Winter'</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GROUP BY c.city ORDER BY winter_aqi DESC;</a:t>
            </a:r>
            <a:endParaRPr lang="en-US" sz="1000" dirty="0"/>
          </a:p>
        </p:txBody>
      </p:sp>
      <p:sp>
        <p:nvSpPr>
          <p:cNvPr id="5" name="OLAP code right box"/>
          <p:cNvSpPr/>
          <p:nvPr/>
        </p:nvSpPr>
        <p:spPr>
          <a:xfrm>
            <a:off x="6172200" y="1508760"/>
            <a:ext cx="5440680" cy="4572000"/>
          </a:xfrm>
          <a:prstGeom prst="rect">
            <a:avLst/>
          </a:prstGeom>
          <a:solidFill>
            <a:schemeClr val="tx2"/>
          </a:solidFill>
          <a:ln w="12700">
            <a:solidFill>
              <a:schemeClr val="tx2"/>
            </a:solidFill>
            <a:prstDash val="solid"/>
          </a:ln>
        </p:spPr>
      </p:sp>
      <p:sp>
        <p:nvSpPr>
          <p:cNvPr id="6" name="OLAP code right"/>
          <p:cNvSpPr txBox="1"/>
          <p:nvPr/>
        </p:nvSpPr>
        <p:spPr>
          <a:xfrm>
            <a:off x="6355080" y="1645920"/>
            <a:ext cx="5074920" cy="4297680"/>
          </a:xfrm>
          <a:prstGeom prst="rect">
            <a:avLst/>
          </a:prstGeom>
          <a:noFill/>
          <a:ln/>
        </p:spPr>
        <p:txBody>
          <a:bodyPr wrap="square" lIns="0" tIns="0" rIns="0" bIns="0" rtlCol="0" anchor="t"/>
          <a:lstStyle/>
          <a:p>
            <a:pPr marL="0" indent="0">
              <a:buNone/>
            </a:pPr>
            <a:r>
              <a:rPr lang="en-US" sz="1000" dirty="0">
                <a:solidFill>
                  <a:schemeClr val="bg1"/>
                </a:solidFill>
                <a:latin typeface="Consolas" pitchFamily="34" charset="0"/>
                <a:ea typeface="Consolas" pitchFamily="34" charset="-122"/>
                <a:cs typeface="Consolas" pitchFamily="34" charset="-120"/>
              </a:rPr>
              <a:t>-- Dice: North x Mar-May x 2019/2020</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SELECT c.city, d.year, AVG(f.pm25) AS pm25,</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 xml:space="preserve">       AVG(f.no2) AS no2</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FROM fact_air_quality f</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JOIN dim_city c ON f.city_key = c.city_key</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JOIN dim_date d ON f.date_key = d.date_key</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WHERE c.region = 'North' AND d.year IN (2019, 2020)</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 xml:space="preserve">  AND d.month BETWEEN 3 AND 5</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GROUP BY c.city, d.year;</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 Pivot: AQI buckets as columns</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SELECT c.city,</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 xml:space="preserve"> SUM(CASE WHEN a.bucket = 'Poor'</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 xml:space="preserve">     THEN 1 ELSE 0 END) AS poor,</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 xml:space="preserve"> SUM(CASE WHEN a.bucket = 'Very Poor'</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 xml:space="preserve">     THEN 1 ELSE 0 END) AS very_poor,</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 xml:space="preserve"> SUM(CASE WHEN a.bucket = 'Severe'</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 xml:space="preserve">     THEN 1 ELSE 0 END) AS severe</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FROM fact_air_quality f</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JOIN dim_city c ON f.city_key = c.city_key</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JOIN dim_aqi_category a ON f.category_key = a.category_key</a:t>
            </a:r>
            <a:endParaRPr lang="en-US" sz="1000" dirty="0"/>
          </a:p>
          <a:p>
            <a:pPr marL="0" indent="0">
              <a:buNone/>
            </a:pPr>
            <a:r>
              <a:rPr lang="en-US" sz="1000" dirty="0">
                <a:solidFill>
                  <a:schemeClr val="bg1"/>
                </a:solidFill>
                <a:latin typeface="Consolas" pitchFamily="34" charset="0"/>
                <a:ea typeface="Consolas" pitchFamily="34" charset="-122"/>
                <a:cs typeface="Consolas" pitchFamily="34" charset="-120"/>
              </a:rPr>
              <a:t>GROUP BY c.city;</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822960" y="411480"/>
            <a:ext cx="10789920" cy="777240"/>
          </a:xfrm>
          <a:prstGeom prst="rect">
            <a:avLst/>
          </a:prstGeom>
          <a:noFill/>
          <a:ln/>
        </p:spPr>
        <p:txBody>
          <a:bodyPr wrap="square" rtlCol="0" anchor="ctr"/>
          <a:lstStyle/>
          <a:p>
            <a:pPr marL="0" indent="0">
              <a:buNone/>
            </a:pPr>
            <a:r>
              <a:rPr lang="en-US" sz="2800" b="1" dirty="0">
                <a:solidFill>
                  <a:schemeClr val="tx2"/>
                </a:solidFill>
              </a:rPr>
              <a:t>Data Mining Plan</a:t>
            </a:r>
            <a:endParaRPr lang="en-US" sz="2800" dirty="0"/>
          </a:p>
        </p:txBody>
      </p:sp>
      <p:sp>
        <p:nvSpPr>
          <p:cNvPr id="3" name="Roll-up card"/>
          <p:cNvSpPr/>
          <p:nvPr/>
        </p:nvSpPr>
        <p:spPr>
          <a:xfrm>
            <a:off x="548640" y="1554480"/>
            <a:ext cx="2103120" cy="4480560"/>
          </a:xfrm>
          <a:prstGeom prst="rect">
            <a:avLst/>
          </a:prstGeom>
          <a:solidFill>
            <a:schemeClr val="bg2"/>
          </a:solidFill>
          <a:ln w="12700">
            <a:solidFill>
              <a:schemeClr val="bg2"/>
            </a:solidFill>
            <a:prstDash val="solid"/>
          </a:ln>
        </p:spPr>
      </p:sp>
      <p:sp>
        <p:nvSpPr>
          <p:cNvPr id="4" name="Roll-up header"/>
          <p:cNvSpPr/>
          <p:nvPr/>
        </p:nvSpPr>
        <p:spPr>
          <a:xfrm>
            <a:off x="548640" y="1554480"/>
            <a:ext cx="2103120" cy="548640"/>
          </a:xfrm>
          <a:prstGeom prst="rect">
            <a:avLst/>
          </a:prstGeom>
          <a:solidFill>
            <a:schemeClr val="accent1"/>
          </a:solidFill>
          <a:ln w="12700">
            <a:solidFill>
              <a:schemeClr val="accent1"/>
            </a:solidFill>
            <a:prstDash val="solid"/>
          </a:ln>
        </p:spPr>
      </p:sp>
      <p:sp>
        <p:nvSpPr>
          <p:cNvPr id="5" name="Roll-up title"/>
          <p:cNvSpPr txBox="1"/>
          <p:nvPr/>
        </p:nvSpPr>
        <p:spPr>
          <a:xfrm>
            <a:off x="548640" y="1554480"/>
            <a:ext cx="2103120" cy="548640"/>
          </a:xfrm>
          <a:prstGeom prst="rect">
            <a:avLst/>
          </a:prstGeom>
          <a:noFill/>
          <a:ln/>
        </p:spPr>
        <p:txBody>
          <a:bodyPr wrap="square" lIns="0" tIns="0" rIns="0" bIns="0" rtlCol="0" anchor="ctr"/>
          <a:lstStyle/>
          <a:p>
            <a:pPr marL="0" indent="0" algn="ctr">
              <a:buNone/>
            </a:pPr>
            <a:r>
              <a:rPr lang="en-US" sz="1600" b="1" dirty="0">
                <a:solidFill>
                  <a:schemeClr val="bg1"/>
                </a:solidFill>
              </a:rPr>
              <a:t>Classification</a:t>
            </a:r>
            <a:endParaRPr lang="en-US" sz="1600" dirty="0"/>
          </a:p>
        </p:txBody>
      </p:sp>
      <p:sp>
        <p:nvSpPr>
          <p:cNvPr id="6" name="Roll-up desc"/>
          <p:cNvSpPr txBox="1"/>
          <p:nvPr/>
        </p:nvSpPr>
        <p:spPr>
          <a:xfrm>
            <a:off x="685800" y="2240280"/>
            <a:ext cx="1828800" cy="1005840"/>
          </a:xfrm>
          <a:prstGeom prst="rect">
            <a:avLst/>
          </a:prstGeom>
          <a:noFill/>
          <a:ln/>
        </p:spPr>
        <p:txBody>
          <a:bodyPr wrap="square" lIns="0" tIns="0" rIns="0" bIns="0" rtlCol="0" anchor="t"/>
          <a:lstStyle/>
          <a:p>
            <a:pPr marL="0" indent="0">
              <a:buNone/>
            </a:pPr>
            <a:r>
              <a:rPr lang="en-US" sz="1200" dirty="0">
                <a:solidFill>
                  <a:schemeClr val="tx1"/>
                </a:solidFill>
              </a:rPr>
              <a:t>Will tomorrow be unhealthy (AQI &gt; 200) in this city?</a:t>
            </a:r>
            <a:endParaRPr lang="en-US" sz="1200" dirty="0"/>
          </a:p>
        </p:txBody>
      </p:sp>
      <p:sp>
        <p:nvSpPr>
          <p:cNvPr id="7" name="Roll-up placeholder"/>
          <p:cNvSpPr txBox="1"/>
          <p:nvPr/>
        </p:nvSpPr>
        <p:spPr>
          <a:xfrm>
            <a:off x="685800" y="3337560"/>
            <a:ext cx="1828800" cy="2560320"/>
          </a:xfrm>
          <a:prstGeom prst="rect">
            <a:avLst/>
          </a:prstGeom>
          <a:noFill/>
          <a:ln/>
        </p:spPr>
        <p:txBody>
          <a:bodyPr wrap="square" lIns="0" tIns="0" rIns="0" bIns="0" rtlCol="0" anchor="t"/>
          <a:lstStyle/>
          <a:p>
            <a:pPr marL="0" indent="0">
              <a:buNone/>
            </a:pPr>
            <a:r>
              <a:rPr lang="en-US" sz="1200" b="1" dirty="0">
                <a:solidFill>
                  <a:schemeClr val="tx2"/>
                </a:solidFill>
              </a:rPr>
              <a:t>Method</a:t>
            </a:r>
            <a:endParaRPr lang="en-US" sz="1200" dirty="0"/>
          </a:p>
          <a:p>
            <a:pPr marL="0" indent="0">
              <a:buNone/>
            </a:pPr>
            <a:r>
              <a:rPr lang="en-US" sz="1200" dirty="0">
                <a:solidFill>
                  <a:schemeClr val="accent6"/>
                </a:solidFill>
              </a:rPr>
              <a:t>Decision Tree vs Random Forest on today's pollutants, 3-day AQI, month, region, event</a:t>
            </a:r>
            <a:endParaRPr lang="en-US" sz="1200" dirty="0"/>
          </a:p>
          <a:p>
            <a:pPr marL="0" indent="0">
              <a:buNone/>
            </a:pPr>
            <a:r>
              <a:rPr lang="en-US" sz="1200" dirty="0">
                <a:solidFill>
                  <a:schemeClr val="accent6"/>
                </a:solidFill>
              </a:rPr>
              <a:t xml:space="preserve"> </a:t>
            </a:r>
            <a:endParaRPr lang="en-US" sz="1200" dirty="0"/>
          </a:p>
          <a:p>
            <a:pPr marL="0" indent="0">
              <a:buNone/>
            </a:pPr>
            <a:r>
              <a:rPr lang="en-US" sz="1200" b="1" dirty="0">
                <a:solidFill>
                  <a:schemeClr val="tx2"/>
                </a:solidFill>
              </a:rPr>
              <a:t>Evaluation</a:t>
            </a:r>
            <a:endParaRPr lang="en-US" sz="1200" dirty="0"/>
          </a:p>
          <a:p>
            <a:pPr marL="0" indent="0">
              <a:buNone/>
            </a:pPr>
            <a:r>
              <a:rPr lang="en-US" sz="1200" dirty="0">
                <a:solidFill>
                  <a:schemeClr val="accent6"/>
                </a:solidFill>
              </a:rPr>
              <a:t>Train 2015–18, test 2019–20: recall, F1, ROC-AUC</a:t>
            </a:r>
            <a:endParaRPr lang="en-US" sz="1200" dirty="0"/>
          </a:p>
        </p:txBody>
      </p:sp>
      <p:sp>
        <p:nvSpPr>
          <p:cNvPr id="8" name="Drill-down card"/>
          <p:cNvSpPr/>
          <p:nvPr/>
        </p:nvSpPr>
        <p:spPr>
          <a:xfrm>
            <a:off x="2788920" y="1554480"/>
            <a:ext cx="2103120" cy="4480560"/>
          </a:xfrm>
          <a:prstGeom prst="rect">
            <a:avLst/>
          </a:prstGeom>
          <a:solidFill>
            <a:schemeClr val="bg2"/>
          </a:solidFill>
          <a:ln w="12700">
            <a:solidFill>
              <a:schemeClr val="bg2"/>
            </a:solidFill>
            <a:prstDash val="solid"/>
          </a:ln>
        </p:spPr>
      </p:sp>
      <p:sp>
        <p:nvSpPr>
          <p:cNvPr id="9" name="Drill-down header"/>
          <p:cNvSpPr/>
          <p:nvPr/>
        </p:nvSpPr>
        <p:spPr>
          <a:xfrm>
            <a:off x="2788920" y="1554480"/>
            <a:ext cx="2103120" cy="548640"/>
          </a:xfrm>
          <a:prstGeom prst="rect">
            <a:avLst/>
          </a:prstGeom>
          <a:solidFill>
            <a:schemeClr val="accent3"/>
          </a:solidFill>
          <a:ln w="12700">
            <a:solidFill>
              <a:schemeClr val="accent3"/>
            </a:solidFill>
            <a:prstDash val="solid"/>
          </a:ln>
        </p:spPr>
      </p:sp>
      <p:sp>
        <p:nvSpPr>
          <p:cNvPr id="10" name="Drill-down title"/>
          <p:cNvSpPr txBox="1"/>
          <p:nvPr/>
        </p:nvSpPr>
        <p:spPr>
          <a:xfrm>
            <a:off x="2788920" y="1554480"/>
            <a:ext cx="2103120" cy="548640"/>
          </a:xfrm>
          <a:prstGeom prst="rect">
            <a:avLst/>
          </a:prstGeom>
          <a:noFill/>
          <a:ln/>
        </p:spPr>
        <p:txBody>
          <a:bodyPr wrap="square" lIns="0" tIns="0" rIns="0" bIns="0" rtlCol="0" anchor="ctr"/>
          <a:lstStyle/>
          <a:p>
            <a:pPr marL="0" indent="0" algn="ctr">
              <a:buNone/>
            </a:pPr>
            <a:r>
              <a:rPr lang="en-US" sz="1600" b="1" dirty="0">
                <a:solidFill>
                  <a:schemeClr val="bg1"/>
                </a:solidFill>
              </a:rPr>
              <a:t>Clustering</a:t>
            </a:r>
            <a:endParaRPr lang="en-US" sz="1600" dirty="0"/>
          </a:p>
        </p:txBody>
      </p:sp>
      <p:sp>
        <p:nvSpPr>
          <p:cNvPr id="11" name="Drill-down desc"/>
          <p:cNvSpPr txBox="1"/>
          <p:nvPr/>
        </p:nvSpPr>
        <p:spPr>
          <a:xfrm>
            <a:off x="2926080" y="2240280"/>
            <a:ext cx="1828800" cy="1005840"/>
          </a:xfrm>
          <a:prstGeom prst="rect">
            <a:avLst/>
          </a:prstGeom>
          <a:noFill/>
          <a:ln/>
        </p:spPr>
        <p:txBody>
          <a:bodyPr wrap="square" lIns="0" tIns="0" rIns="0" bIns="0" rtlCol="0" anchor="t"/>
          <a:lstStyle/>
          <a:p>
            <a:pPr marL="0" indent="0">
              <a:buNone/>
            </a:pPr>
            <a:r>
              <a:rPr lang="en-US" sz="1200" dirty="0">
                <a:solidFill>
                  <a:schemeClr val="tx1"/>
                </a:solidFill>
              </a:rPr>
              <a:t>Group the 26 cities into pollution personalities.</a:t>
            </a:r>
            <a:endParaRPr lang="en-US" sz="1200" dirty="0"/>
          </a:p>
        </p:txBody>
      </p:sp>
      <p:sp>
        <p:nvSpPr>
          <p:cNvPr id="12" name="Drill-down placeholder"/>
          <p:cNvSpPr txBox="1"/>
          <p:nvPr/>
        </p:nvSpPr>
        <p:spPr>
          <a:xfrm>
            <a:off x="2926080" y="3337560"/>
            <a:ext cx="1828800" cy="2560320"/>
          </a:xfrm>
          <a:prstGeom prst="rect">
            <a:avLst/>
          </a:prstGeom>
          <a:noFill/>
          <a:ln/>
        </p:spPr>
        <p:txBody>
          <a:bodyPr wrap="square" lIns="0" tIns="0" rIns="0" bIns="0" rtlCol="0" anchor="t"/>
          <a:lstStyle/>
          <a:p>
            <a:pPr marL="0" indent="0">
              <a:buNone/>
            </a:pPr>
            <a:r>
              <a:rPr lang="en-US" sz="1200" b="1" dirty="0">
                <a:solidFill>
                  <a:schemeClr val="tx2"/>
                </a:solidFill>
              </a:rPr>
              <a:t>Method</a:t>
            </a:r>
            <a:endParaRPr lang="en-US" sz="1200" dirty="0"/>
          </a:p>
          <a:p>
            <a:pPr marL="0" indent="0">
              <a:buNone/>
            </a:pPr>
            <a:r>
              <a:rPr lang="en-US" sz="1200" dirty="0">
                <a:solidFill>
                  <a:schemeClr val="accent6"/>
                </a:solidFill>
              </a:rPr>
              <a:t>K-Means on median pollutant mix and winter / monsoon PM2.5 ratio</a:t>
            </a:r>
            <a:endParaRPr lang="en-US" sz="1200" dirty="0"/>
          </a:p>
          <a:p>
            <a:pPr marL="0" indent="0">
              <a:buNone/>
            </a:pPr>
            <a:r>
              <a:rPr lang="en-US" sz="1200" dirty="0">
                <a:solidFill>
                  <a:schemeClr val="accent6"/>
                </a:solidFill>
              </a:rPr>
              <a:t xml:space="preserve"> </a:t>
            </a:r>
            <a:endParaRPr lang="en-US" sz="1200" dirty="0"/>
          </a:p>
          <a:p>
            <a:pPr marL="0" indent="0">
              <a:buNone/>
            </a:pPr>
            <a:r>
              <a:rPr lang="en-US" sz="1200" b="1" dirty="0">
                <a:solidFill>
                  <a:schemeClr val="tx2"/>
                </a:solidFill>
              </a:rPr>
              <a:t>Output</a:t>
            </a:r>
            <a:endParaRPr lang="en-US" sz="1200" dirty="0"/>
          </a:p>
          <a:p>
            <a:pPr marL="0" indent="0">
              <a:buNone/>
            </a:pPr>
            <a:r>
              <a:rPr lang="en-US" sz="1200" dirty="0">
                <a:solidFill>
                  <a:schemeClr val="accent6"/>
                </a:solidFill>
              </a:rPr>
              <a:t>k chosen by silhouette; clusters on a PCA map</a:t>
            </a:r>
            <a:endParaRPr lang="en-US" sz="1200" dirty="0"/>
          </a:p>
        </p:txBody>
      </p:sp>
      <p:sp>
        <p:nvSpPr>
          <p:cNvPr id="13" name="Slice card"/>
          <p:cNvSpPr/>
          <p:nvPr/>
        </p:nvSpPr>
        <p:spPr>
          <a:xfrm>
            <a:off x="5029200" y="1554480"/>
            <a:ext cx="2103120" cy="4480560"/>
          </a:xfrm>
          <a:prstGeom prst="rect">
            <a:avLst/>
          </a:prstGeom>
          <a:solidFill>
            <a:schemeClr val="bg2"/>
          </a:solidFill>
          <a:ln w="12700">
            <a:solidFill>
              <a:schemeClr val="bg2"/>
            </a:solidFill>
            <a:prstDash val="solid"/>
          </a:ln>
        </p:spPr>
      </p:sp>
      <p:sp>
        <p:nvSpPr>
          <p:cNvPr id="14" name="Slice header"/>
          <p:cNvSpPr/>
          <p:nvPr/>
        </p:nvSpPr>
        <p:spPr>
          <a:xfrm>
            <a:off x="5029200" y="1554480"/>
            <a:ext cx="2103120" cy="548640"/>
          </a:xfrm>
          <a:prstGeom prst="rect">
            <a:avLst/>
          </a:prstGeom>
          <a:solidFill>
            <a:schemeClr val="accent2"/>
          </a:solidFill>
          <a:ln w="12700">
            <a:solidFill>
              <a:schemeClr val="accent2"/>
            </a:solidFill>
            <a:prstDash val="solid"/>
          </a:ln>
        </p:spPr>
      </p:sp>
      <p:sp>
        <p:nvSpPr>
          <p:cNvPr id="15" name="Slice title"/>
          <p:cNvSpPr txBox="1"/>
          <p:nvPr/>
        </p:nvSpPr>
        <p:spPr>
          <a:xfrm>
            <a:off x="5029200" y="1554480"/>
            <a:ext cx="2103120" cy="548640"/>
          </a:xfrm>
          <a:prstGeom prst="rect">
            <a:avLst/>
          </a:prstGeom>
          <a:noFill/>
          <a:ln/>
        </p:spPr>
        <p:txBody>
          <a:bodyPr wrap="square" lIns="0" tIns="0" rIns="0" bIns="0" rtlCol="0" anchor="ctr"/>
          <a:lstStyle/>
          <a:p>
            <a:pPr marL="0" indent="0" algn="ctr">
              <a:buNone/>
            </a:pPr>
            <a:r>
              <a:rPr lang="en-US" sz="1600" b="1" dirty="0">
                <a:solidFill>
                  <a:schemeClr val="bg1"/>
                </a:solidFill>
              </a:rPr>
              <a:t>Association Rules</a:t>
            </a:r>
            <a:endParaRPr lang="en-US" sz="1600" dirty="0"/>
          </a:p>
        </p:txBody>
      </p:sp>
      <p:sp>
        <p:nvSpPr>
          <p:cNvPr id="16" name="Slice desc"/>
          <p:cNvSpPr txBox="1"/>
          <p:nvPr/>
        </p:nvSpPr>
        <p:spPr>
          <a:xfrm>
            <a:off x="5166360" y="2240280"/>
            <a:ext cx="1828800" cy="1005840"/>
          </a:xfrm>
          <a:prstGeom prst="rect">
            <a:avLst/>
          </a:prstGeom>
          <a:noFill/>
          <a:ln/>
        </p:spPr>
        <p:txBody>
          <a:bodyPr wrap="square" lIns="0" tIns="0" rIns="0" bIns="0" rtlCol="0" anchor="t"/>
          <a:lstStyle/>
          <a:p>
            <a:pPr marL="0" indent="0">
              <a:buNone/>
            </a:pPr>
            <a:r>
              <a:rPr lang="en-US" sz="1200" dirty="0">
                <a:solidFill>
                  <a:schemeClr val="tx1"/>
                </a:solidFill>
              </a:rPr>
              <a:t>Which conditions co-occur with bad-air days, by region?</a:t>
            </a:r>
            <a:endParaRPr lang="en-US" sz="1200" dirty="0"/>
          </a:p>
        </p:txBody>
      </p:sp>
      <p:sp>
        <p:nvSpPr>
          <p:cNvPr id="17" name="Slice placeholder"/>
          <p:cNvSpPr txBox="1"/>
          <p:nvPr/>
        </p:nvSpPr>
        <p:spPr>
          <a:xfrm>
            <a:off x="5166360" y="3337560"/>
            <a:ext cx="1828800" cy="2560320"/>
          </a:xfrm>
          <a:prstGeom prst="rect">
            <a:avLst/>
          </a:prstGeom>
          <a:noFill/>
          <a:ln/>
        </p:spPr>
        <p:txBody>
          <a:bodyPr wrap="square" lIns="0" tIns="0" rIns="0" bIns="0" rtlCol="0" anchor="t"/>
          <a:lstStyle/>
          <a:p>
            <a:pPr marL="0" indent="0">
              <a:buNone/>
            </a:pPr>
            <a:r>
              <a:rPr lang="en-US" sz="1200" b="1" dirty="0">
                <a:solidFill>
                  <a:schemeClr val="tx2"/>
                </a:solidFill>
              </a:rPr>
              <a:t>Method</a:t>
            </a:r>
            <a:endParaRPr lang="en-US" sz="1200" dirty="0"/>
          </a:p>
          <a:p>
            <a:pPr marL="0" indent="0">
              <a:buNone/>
            </a:pPr>
            <a:r>
              <a:rPr lang="en-US" sz="1200" dirty="0">
                <a:solidFill>
                  <a:schemeClr val="accent6"/>
                </a:solidFill>
              </a:rPr>
              <a:t>FP-Growth on daily baskets: pollutant levels, season, event, AQI bucket</a:t>
            </a:r>
            <a:endParaRPr lang="en-US" sz="1200" dirty="0"/>
          </a:p>
          <a:p>
            <a:pPr marL="0" indent="0">
              <a:buNone/>
            </a:pPr>
            <a:r>
              <a:rPr lang="en-US" sz="1200" dirty="0">
                <a:solidFill>
                  <a:schemeClr val="accent6"/>
                </a:solidFill>
              </a:rPr>
              <a:t xml:space="preserve"> </a:t>
            </a:r>
            <a:endParaRPr lang="en-US" sz="1200" dirty="0"/>
          </a:p>
          <a:p>
            <a:pPr marL="0" indent="0">
              <a:buNone/>
            </a:pPr>
            <a:r>
              <a:rPr lang="en-US" sz="1200" b="1" dirty="0">
                <a:solidFill>
                  <a:schemeClr val="tx2"/>
                </a:solidFill>
              </a:rPr>
              <a:t>Output</a:t>
            </a:r>
            <a:endParaRPr lang="en-US" sz="1200" dirty="0"/>
          </a:p>
          <a:p>
            <a:pPr marL="0" indent="0">
              <a:buNone/>
            </a:pPr>
            <a:r>
              <a:rPr lang="en-US" sz="1200" dirty="0">
                <a:solidFill>
                  <a:schemeClr val="accent6"/>
                </a:solidFill>
              </a:rPr>
              <a:t>Rules ranked by lift, e.g. {PM2.5 high, Winter} → Very Poor</a:t>
            </a:r>
            <a:endParaRPr lang="en-US" sz="1200" dirty="0"/>
          </a:p>
        </p:txBody>
      </p:sp>
      <p:sp>
        <p:nvSpPr>
          <p:cNvPr id="18" name="Dice card"/>
          <p:cNvSpPr/>
          <p:nvPr/>
        </p:nvSpPr>
        <p:spPr>
          <a:xfrm>
            <a:off x="7269480" y="1554480"/>
            <a:ext cx="2103120" cy="4480560"/>
          </a:xfrm>
          <a:prstGeom prst="rect">
            <a:avLst/>
          </a:prstGeom>
          <a:solidFill>
            <a:schemeClr val="bg2"/>
          </a:solidFill>
          <a:ln w="12700">
            <a:solidFill>
              <a:schemeClr val="bg2"/>
            </a:solidFill>
            <a:prstDash val="solid"/>
          </a:ln>
        </p:spPr>
      </p:sp>
      <p:sp>
        <p:nvSpPr>
          <p:cNvPr id="19" name="Dice header"/>
          <p:cNvSpPr/>
          <p:nvPr/>
        </p:nvSpPr>
        <p:spPr>
          <a:xfrm>
            <a:off x="7269480" y="1554480"/>
            <a:ext cx="2103120" cy="548640"/>
          </a:xfrm>
          <a:prstGeom prst="rect">
            <a:avLst/>
          </a:prstGeom>
          <a:solidFill>
            <a:schemeClr val="accent4"/>
          </a:solidFill>
          <a:ln w="12700">
            <a:solidFill>
              <a:schemeClr val="accent4"/>
            </a:solidFill>
            <a:prstDash val="solid"/>
          </a:ln>
        </p:spPr>
      </p:sp>
      <p:sp>
        <p:nvSpPr>
          <p:cNvPr id="20" name="Dice title"/>
          <p:cNvSpPr txBox="1"/>
          <p:nvPr/>
        </p:nvSpPr>
        <p:spPr>
          <a:xfrm>
            <a:off x="7269480" y="1554480"/>
            <a:ext cx="2103120" cy="548640"/>
          </a:xfrm>
          <a:prstGeom prst="rect">
            <a:avLst/>
          </a:prstGeom>
          <a:noFill/>
          <a:ln/>
        </p:spPr>
        <p:txBody>
          <a:bodyPr wrap="square" lIns="0" tIns="0" rIns="0" bIns="0" rtlCol="0" anchor="ctr"/>
          <a:lstStyle/>
          <a:p>
            <a:pPr marL="0" indent="0" algn="ctr">
              <a:buNone/>
            </a:pPr>
            <a:r>
              <a:rPr lang="en-US" sz="1600" b="1" dirty="0">
                <a:solidFill>
                  <a:schemeClr val="bg1"/>
                </a:solidFill>
              </a:rPr>
              <a:t>Prediction</a:t>
            </a:r>
            <a:endParaRPr lang="en-US" sz="1600" dirty="0"/>
          </a:p>
        </p:txBody>
      </p:sp>
      <p:sp>
        <p:nvSpPr>
          <p:cNvPr id="21" name="Dice desc"/>
          <p:cNvSpPr txBox="1"/>
          <p:nvPr/>
        </p:nvSpPr>
        <p:spPr>
          <a:xfrm>
            <a:off x="7406640" y="2240280"/>
            <a:ext cx="1828800" cy="1005840"/>
          </a:xfrm>
          <a:prstGeom prst="rect">
            <a:avLst/>
          </a:prstGeom>
          <a:noFill/>
          <a:ln/>
        </p:spPr>
        <p:txBody>
          <a:bodyPr wrap="square" lIns="0" tIns="0" rIns="0" bIns="0" rtlCol="0" anchor="t"/>
          <a:lstStyle/>
          <a:p>
            <a:pPr marL="0" indent="0">
              <a:buNone/>
            </a:pPr>
            <a:r>
              <a:rPr lang="en-US" sz="1200" dirty="0">
                <a:solidFill>
                  <a:schemeClr val="tx1"/>
                </a:solidFill>
              </a:rPr>
              <a:t>Forecast monthly AQI for each city.</a:t>
            </a:r>
            <a:endParaRPr lang="en-US" sz="1200" dirty="0"/>
          </a:p>
        </p:txBody>
      </p:sp>
      <p:sp>
        <p:nvSpPr>
          <p:cNvPr id="22" name="Dice placeholder"/>
          <p:cNvSpPr txBox="1"/>
          <p:nvPr/>
        </p:nvSpPr>
        <p:spPr>
          <a:xfrm>
            <a:off x="7406640" y="3337560"/>
            <a:ext cx="1828800" cy="2560320"/>
          </a:xfrm>
          <a:prstGeom prst="rect">
            <a:avLst/>
          </a:prstGeom>
          <a:noFill/>
          <a:ln/>
        </p:spPr>
        <p:txBody>
          <a:bodyPr wrap="square" lIns="0" tIns="0" rIns="0" bIns="0" rtlCol="0" anchor="t"/>
          <a:lstStyle/>
          <a:p>
            <a:pPr marL="0" indent="0">
              <a:buNone/>
            </a:pPr>
            <a:r>
              <a:rPr lang="en-US" sz="1200" b="1" dirty="0">
                <a:solidFill>
                  <a:schemeClr val="tx2"/>
                </a:solidFill>
              </a:rPr>
              <a:t>Method</a:t>
            </a:r>
            <a:endParaRPr lang="en-US" sz="1200" dirty="0"/>
          </a:p>
          <a:p>
            <a:pPr marL="0" indent="0">
              <a:buNone/>
            </a:pPr>
            <a:r>
              <a:rPr lang="en-US" sz="1200" dirty="0">
                <a:solidFill>
                  <a:schemeClr val="accent6"/>
                </a:solidFill>
              </a:rPr>
              <a:t>Holt-Winters (trend + 12-month season) vs seasonal-naive baseline</a:t>
            </a:r>
            <a:endParaRPr lang="en-US" sz="1200" dirty="0"/>
          </a:p>
          <a:p>
            <a:pPr marL="0" indent="0">
              <a:buNone/>
            </a:pPr>
            <a:r>
              <a:rPr lang="en-US" sz="1200" dirty="0">
                <a:solidFill>
                  <a:schemeClr val="accent6"/>
                </a:solidFill>
              </a:rPr>
              <a:t xml:space="preserve"> </a:t>
            </a:r>
            <a:endParaRPr lang="en-US" sz="1200" dirty="0"/>
          </a:p>
          <a:p>
            <a:pPr marL="0" indent="0">
              <a:buNone/>
            </a:pPr>
            <a:r>
              <a:rPr lang="en-US" sz="1200" b="1" dirty="0">
                <a:solidFill>
                  <a:schemeClr val="tx2"/>
                </a:solidFill>
              </a:rPr>
              <a:t>Evaluation</a:t>
            </a:r>
            <a:endParaRPr lang="en-US" sz="1200" dirty="0"/>
          </a:p>
          <a:p>
            <a:pPr marL="0" indent="0">
              <a:buNone/>
            </a:pPr>
            <a:r>
              <a:rPr lang="en-US" sz="1200" dirty="0">
                <a:solidFill>
                  <a:schemeClr val="accent6"/>
                </a:solidFill>
              </a:rPr>
              <a:t>Fit to 2018, forecast 2019, compare MAPE</a:t>
            </a:r>
            <a:endParaRPr lang="en-US" sz="1200" dirty="0"/>
          </a:p>
        </p:txBody>
      </p:sp>
      <p:sp>
        <p:nvSpPr>
          <p:cNvPr id="23" name="Pivot card"/>
          <p:cNvSpPr/>
          <p:nvPr/>
        </p:nvSpPr>
        <p:spPr>
          <a:xfrm>
            <a:off x="9509760" y="1554480"/>
            <a:ext cx="2103120" cy="4480560"/>
          </a:xfrm>
          <a:prstGeom prst="rect">
            <a:avLst/>
          </a:prstGeom>
          <a:solidFill>
            <a:schemeClr val="bg2"/>
          </a:solidFill>
          <a:ln w="12700">
            <a:solidFill>
              <a:schemeClr val="bg2"/>
            </a:solidFill>
            <a:prstDash val="solid"/>
          </a:ln>
        </p:spPr>
      </p:sp>
      <p:sp>
        <p:nvSpPr>
          <p:cNvPr id="24" name="Pivot header"/>
          <p:cNvSpPr/>
          <p:nvPr/>
        </p:nvSpPr>
        <p:spPr>
          <a:xfrm>
            <a:off x="9509760" y="1554480"/>
            <a:ext cx="2103120" cy="548640"/>
          </a:xfrm>
          <a:prstGeom prst="rect">
            <a:avLst/>
          </a:prstGeom>
          <a:solidFill>
            <a:schemeClr val="accent5"/>
          </a:solidFill>
          <a:ln w="12700">
            <a:solidFill>
              <a:schemeClr val="accent5"/>
            </a:solidFill>
            <a:prstDash val="solid"/>
          </a:ln>
        </p:spPr>
      </p:sp>
      <p:sp>
        <p:nvSpPr>
          <p:cNvPr id="25" name="Pivot title"/>
          <p:cNvSpPr txBox="1"/>
          <p:nvPr/>
        </p:nvSpPr>
        <p:spPr>
          <a:xfrm>
            <a:off x="9509760" y="1554480"/>
            <a:ext cx="2103120" cy="548640"/>
          </a:xfrm>
          <a:prstGeom prst="rect">
            <a:avLst/>
          </a:prstGeom>
          <a:noFill/>
          <a:ln/>
        </p:spPr>
        <p:txBody>
          <a:bodyPr wrap="square" lIns="0" tIns="0" rIns="0" bIns="0" rtlCol="0" anchor="ctr"/>
          <a:lstStyle/>
          <a:p>
            <a:pPr marL="0" indent="0" algn="ctr">
              <a:buNone/>
            </a:pPr>
            <a:r>
              <a:rPr lang="en-US" sz="1600" b="1" dirty="0">
                <a:solidFill>
                  <a:schemeClr val="bg1"/>
                </a:solidFill>
              </a:rPr>
              <a:t>Lockdown What-if</a:t>
            </a:r>
            <a:endParaRPr lang="en-US" sz="1600" dirty="0"/>
          </a:p>
        </p:txBody>
      </p:sp>
      <p:sp>
        <p:nvSpPr>
          <p:cNvPr id="26" name="Pivot desc"/>
          <p:cNvSpPr txBox="1"/>
          <p:nvPr/>
        </p:nvSpPr>
        <p:spPr>
          <a:xfrm>
            <a:off x="9646920" y="2240280"/>
            <a:ext cx="1828800" cy="1005840"/>
          </a:xfrm>
          <a:prstGeom prst="rect">
            <a:avLst/>
          </a:prstGeom>
          <a:noFill/>
          <a:ln/>
        </p:spPr>
        <p:txBody>
          <a:bodyPr wrap="square" lIns="0" tIns="0" rIns="0" bIns="0" rtlCol="0" anchor="t"/>
          <a:lstStyle/>
          <a:p>
            <a:pPr marL="0" indent="0">
              <a:buNone/>
            </a:pPr>
            <a:r>
              <a:rPr lang="en-US" sz="1200" dirty="0">
                <a:solidFill>
                  <a:schemeClr val="tx1"/>
                </a:solidFill>
              </a:rPr>
              <a:t>How much cleaner was the air during lockdown?</a:t>
            </a:r>
            <a:endParaRPr lang="en-US" sz="1200" dirty="0"/>
          </a:p>
        </p:txBody>
      </p:sp>
      <p:sp>
        <p:nvSpPr>
          <p:cNvPr id="27" name="Pivot placeholder"/>
          <p:cNvSpPr txBox="1"/>
          <p:nvPr/>
        </p:nvSpPr>
        <p:spPr>
          <a:xfrm>
            <a:off x="9646920" y="3337560"/>
            <a:ext cx="1828800" cy="2560320"/>
          </a:xfrm>
          <a:prstGeom prst="rect">
            <a:avLst/>
          </a:prstGeom>
          <a:noFill/>
          <a:ln/>
        </p:spPr>
        <p:txBody>
          <a:bodyPr wrap="square" lIns="0" tIns="0" rIns="0" bIns="0" rtlCol="0" anchor="t"/>
          <a:lstStyle/>
          <a:p>
            <a:pPr marL="0" indent="0">
              <a:buNone/>
            </a:pPr>
            <a:r>
              <a:rPr lang="en-US" sz="1200" b="1" dirty="0">
                <a:solidFill>
                  <a:schemeClr val="tx2"/>
                </a:solidFill>
              </a:rPr>
              <a:t>Method</a:t>
            </a:r>
            <a:endParaRPr lang="en-US" sz="1200" dirty="0"/>
          </a:p>
          <a:p>
            <a:pPr marL="0" indent="0">
              <a:buNone/>
            </a:pPr>
            <a:r>
              <a:rPr lang="en-US" sz="1200" dirty="0">
                <a:solidFill>
                  <a:schemeClr val="accent6"/>
                </a:solidFill>
              </a:rPr>
              <a:t>Fit to Feb 2020; forecast Mar–Jun 2020 as if there were no lockdown</a:t>
            </a:r>
            <a:endParaRPr lang="en-US" sz="1200" dirty="0"/>
          </a:p>
          <a:p>
            <a:pPr marL="0" indent="0">
              <a:buNone/>
            </a:pPr>
            <a:r>
              <a:rPr lang="en-US" sz="1200" dirty="0">
                <a:solidFill>
                  <a:schemeClr val="accent6"/>
                </a:solidFill>
              </a:rPr>
              <a:t xml:space="preserve"> </a:t>
            </a:r>
            <a:endParaRPr lang="en-US" sz="1200" dirty="0"/>
          </a:p>
          <a:p>
            <a:pPr marL="0" indent="0">
              <a:buNone/>
            </a:pPr>
            <a:r>
              <a:rPr lang="en-US" sz="1200" b="1" dirty="0">
                <a:solidFill>
                  <a:schemeClr val="tx2"/>
                </a:solidFill>
              </a:rPr>
              <a:t>Output</a:t>
            </a:r>
            <a:endParaRPr lang="en-US" sz="1200" dirty="0"/>
          </a:p>
          <a:p>
            <a:pPr marL="0" indent="0">
              <a:buNone/>
            </a:pPr>
            <a:r>
              <a:rPr lang="en-US" sz="1200" dirty="0">
                <a:solidFill>
                  <a:schemeClr val="accent6"/>
                </a:solidFill>
              </a:rPr>
              <a:t>% gap between actual and expected AQI per city</a:t>
            </a:r>
            <a:endParaRPr lang="en-US" sz="1200" dirty="0"/>
          </a:p>
        </p:txBody>
      </p:sp>
      <p:sp>
        <p:nvSpPr>
          <p:cNvPr id="28"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6</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822960" y="411480"/>
            <a:ext cx="10789920" cy="777240"/>
          </a:xfrm>
          <a:prstGeom prst="rect">
            <a:avLst/>
          </a:prstGeom>
          <a:noFill/>
          <a:ln/>
        </p:spPr>
        <p:txBody>
          <a:bodyPr wrap="square" rtlCol="0" anchor="ctr"/>
          <a:lstStyle/>
          <a:p>
            <a:pPr marL="0" indent="0">
              <a:buNone/>
            </a:pPr>
            <a:r>
              <a:rPr lang="en-US" sz="2800" b="1" dirty="0">
                <a:solidFill>
                  <a:schemeClr val="tx2"/>
                </a:solidFill>
              </a:rPr>
              <a:t>Dashboard, Demo &amp; Repository</a:t>
            </a:r>
            <a:endParaRPr lang="en-US" sz="2800" dirty="0"/>
          </a:p>
        </p:txBody>
      </p:sp>
      <p:sp>
        <p:nvSpPr>
          <p:cNvPr id="3" name="Fact card"/>
          <p:cNvSpPr/>
          <p:nvPr/>
        </p:nvSpPr>
        <p:spPr>
          <a:xfrm>
            <a:off x="548640" y="1554480"/>
            <a:ext cx="3566160" cy="4480560"/>
          </a:xfrm>
          <a:prstGeom prst="rect">
            <a:avLst/>
          </a:prstGeom>
          <a:solidFill>
            <a:schemeClr val="bg2"/>
          </a:solidFill>
          <a:ln w="12700">
            <a:solidFill>
              <a:schemeClr val="bg2"/>
            </a:solidFill>
            <a:prstDash val="solid"/>
          </a:ln>
        </p:spPr>
      </p:sp>
      <p:sp>
        <p:nvSpPr>
          <p:cNvPr id="4" name="Fact accent"/>
          <p:cNvSpPr/>
          <p:nvPr/>
        </p:nvSpPr>
        <p:spPr>
          <a:xfrm>
            <a:off x="548640" y="1554480"/>
            <a:ext cx="3566160" cy="73152"/>
          </a:xfrm>
          <a:prstGeom prst="rect">
            <a:avLst/>
          </a:prstGeom>
          <a:solidFill>
            <a:schemeClr val="tx2"/>
          </a:solidFill>
          <a:ln w="12700">
            <a:solidFill>
              <a:schemeClr val="tx2"/>
            </a:solidFill>
            <a:prstDash val="solid"/>
          </a:ln>
        </p:spPr>
      </p:sp>
      <p:sp>
        <p:nvSpPr>
          <p:cNvPr id="5" name="Fact head"/>
          <p:cNvSpPr txBox="1"/>
          <p:nvPr/>
        </p:nvSpPr>
        <p:spPr>
          <a:xfrm>
            <a:off x="731520" y="1783080"/>
            <a:ext cx="3200400" cy="365760"/>
          </a:xfrm>
          <a:prstGeom prst="rect">
            <a:avLst/>
          </a:prstGeom>
          <a:noFill/>
          <a:ln/>
        </p:spPr>
        <p:txBody>
          <a:bodyPr wrap="square" lIns="0" tIns="0" rIns="0" bIns="0" rtlCol="0" anchor="ctr"/>
          <a:lstStyle/>
          <a:p>
            <a:pPr marL="0" indent="0">
              <a:buNone/>
            </a:pPr>
            <a:r>
              <a:rPr lang="en-US" sz="1600" b="1" dirty="0">
                <a:solidFill>
                  <a:schemeClr val="tx2"/>
                </a:solidFill>
              </a:rPr>
              <a:t>Streamlit Dashboard</a:t>
            </a:r>
            <a:endParaRPr lang="en-US" sz="1600" dirty="0"/>
          </a:p>
        </p:txBody>
      </p:sp>
      <p:sp>
        <p:nvSpPr>
          <p:cNvPr id="6" name="Fact body"/>
          <p:cNvSpPr txBox="1"/>
          <p:nvPr/>
        </p:nvSpPr>
        <p:spPr>
          <a:xfrm>
            <a:off x="731520" y="2286000"/>
            <a:ext cx="3200400" cy="3566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Overview: KPIs and India map of average AQI</a:t>
            </a:r>
            <a:endParaRPr lang="en-US" sz="1300" dirty="0"/>
          </a:p>
          <a:p>
            <a:pPr marL="342900" indent="-342900">
              <a:spcAft>
                <a:spcPts val="600"/>
              </a:spcAft>
              <a:buSzPct val="100000"/>
              <a:buChar char="•"/>
            </a:pPr>
            <a:r>
              <a:rPr lang="en-US" sz="1300" dirty="0">
                <a:solidFill>
                  <a:schemeClr val="tx1"/>
                </a:solidFill>
              </a:rPr>
              <a:t>OLAP explorer: run each query, AQI-bucket bars</a:t>
            </a:r>
            <a:endParaRPr lang="en-US" sz="1300" dirty="0"/>
          </a:p>
          <a:p>
            <a:pPr marL="342900" indent="-342900">
              <a:spcAft>
                <a:spcPts val="600"/>
              </a:spcAft>
              <a:buSzPct val="100000"/>
              <a:buChar char="•"/>
            </a:pPr>
            <a:r>
              <a:rPr lang="en-US" sz="1300" dirty="0">
                <a:solidFill>
                  <a:schemeClr val="tx1"/>
                </a:solidFill>
              </a:rPr>
              <a:t>City clusters on a PCA scatter</a:t>
            </a:r>
            <a:endParaRPr lang="en-US" sz="1300" dirty="0"/>
          </a:p>
          <a:p>
            <a:pPr marL="342900" indent="-342900">
              <a:spcAft>
                <a:spcPts val="600"/>
              </a:spcAft>
              <a:buSzPct val="100000"/>
              <a:buChar char="•"/>
            </a:pPr>
            <a:r>
              <a:rPr lang="en-US" sz="1300" dirty="0">
                <a:solidFill>
                  <a:schemeClr val="tx1"/>
                </a:solidFill>
              </a:rPr>
              <a:t>Rule explorer by region and AQI bucket</a:t>
            </a:r>
            <a:endParaRPr lang="en-US" sz="1300" dirty="0"/>
          </a:p>
          <a:p>
            <a:pPr marL="342900" indent="-342900">
              <a:spcAft>
                <a:spcPts val="600"/>
              </a:spcAft>
              <a:buSzPct val="100000"/>
              <a:buChar char="•"/>
            </a:pPr>
            <a:r>
              <a:rPr lang="en-US" sz="1300" dirty="0">
                <a:solidFill>
                  <a:schemeClr val="tx1"/>
                </a:solidFill>
              </a:rPr>
              <a:t>Lockdown what-if and forecast accuracy</a:t>
            </a:r>
            <a:endParaRPr lang="en-US" sz="1300" dirty="0"/>
          </a:p>
          <a:p>
            <a:pPr marL="342900" indent="-342900">
              <a:spcAft>
                <a:spcPts val="600"/>
              </a:spcAft>
              <a:buSzPct val="100000"/>
              <a:buChar char="•"/>
            </a:pPr>
            <a:r>
              <a:rPr lang="en-US" sz="1300" dirty="0">
                <a:solidFill>
                  <a:schemeClr val="tx1"/>
                </a:solidFill>
              </a:rPr>
              <a:t>Tomorrow's risk: feature importance and metrics</a:t>
            </a:r>
            <a:endParaRPr lang="en-US" sz="1300" dirty="0"/>
          </a:p>
        </p:txBody>
      </p:sp>
      <p:sp>
        <p:nvSpPr>
          <p:cNvPr id="7" name="Dims card"/>
          <p:cNvSpPr/>
          <p:nvPr/>
        </p:nvSpPr>
        <p:spPr>
          <a:xfrm>
            <a:off x="4315968" y="1554480"/>
            <a:ext cx="3566160" cy="4480560"/>
          </a:xfrm>
          <a:prstGeom prst="rect">
            <a:avLst/>
          </a:prstGeom>
          <a:solidFill>
            <a:schemeClr val="bg2"/>
          </a:solidFill>
          <a:ln w="12700">
            <a:solidFill>
              <a:schemeClr val="bg2"/>
            </a:solidFill>
            <a:prstDash val="solid"/>
          </a:ln>
        </p:spPr>
      </p:sp>
      <p:sp>
        <p:nvSpPr>
          <p:cNvPr id="8" name="Dims accent"/>
          <p:cNvSpPr/>
          <p:nvPr/>
        </p:nvSpPr>
        <p:spPr>
          <a:xfrm>
            <a:off x="4315968" y="1554480"/>
            <a:ext cx="3566160" cy="73152"/>
          </a:xfrm>
          <a:prstGeom prst="rect">
            <a:avLst/>
          </a:prstGeom>
          <a:solidFill>
            <a:schemeClr val="accent1"/>
          </a:solidFill>
          <a:ln w="12700">
            <a:solidFill>
              <a:schemeClr val="accent1"/>
            </a:solidFill>
            <a:prstDash val="solid"/>
          </a:ln>
        </p:spPr>
      </p:sp>
      <p:sp>
        <p:nvSpPr>
          <p:cNvPr id="9" name="Dims head"/>
          <p:cNvSpPr txBox="1"/>
          <p:nvPr/>
        </p:nvSpPr>
        <p:spPr>
          <a:xfrm>
            <a:off x="4498848" y="1783080"/>
            <a:ext cx="3200400" cy="365760"/>
          </a:xfrm>
          <a:prstGeom prst="rect">
            <a:avLst/>
          </a:prstGeom>
          <a:noFill/>
          <a:ln/>
        </p:spPr>
        <p:txBody>
          <a:bodyPr wrap="square" lIns="0" tIns="0" rIns="0" bIns="0" rtlCol="0" anchor="ctr"/>
          <a:lstStyle/>
          <a:p>
            <a:pPr marL="0" indent="0">
              <a:buNone/>
            </a:pPr>
            <a:r>
              <a:rPr lang="en-US" sz="1600" b="1" dirty="0">
                <a:solidFill>
                  <a:schemeClr val="tx2"/>
                </a:solidFill>
              </a:rPr>
              <a:t>Demo Flow</a:t>
            </a:r>
            <a:endParaRPr lang="en-US" sz="1600" dirty="0"/>
          </a:p>
        </p:txBody>
      </p:sp>
      <p:sp>
        <p:nvSpPr>
          <p:cNvPr id="10" name="Dims body"/>
          <p:cNvSpPr txBox="1"/>
          <p:nvPr/>
        </p:nvSpPr>
        <p:spPr>
          <a:xfrm>
            <a:off x="4498848" y="2286000"/>
            <a:ext cx="3200400" cy="3566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Load city_day.csv with etl.py and show the row counts.</a:t>
            </a:r>
            <a:endParaRPr lang="en-US" sz="1300" dirty="0"/>
          </a:p>
          <a:p>
            <a:pPr marL="342900" indent="-342900">
              <a:spcAft>
                <a:spcPts val="600"/>
              </a:spcAft>
              <a:buSzPct val="100000"/>
              <a:buChar char="•"/>
            </a:pPr>
            <a:r>
              <a:rPr lang="en-US" sz="1300" dirty="0">
                <a:solidFill>
                  <a:schemeClr val="tx1"/>
                </a:solidFill>
              </a:rPr>
              <a:t>Run the five OLAP queries live.</a:t>
            </a:r>
            <a:endParaRPr lang="en-US" sz="1300" dirty="0"/>
          </a:p>
          <a:p>
            <a:pPr marL="342900" indent="-342900">
              <a:spcAft>
                <a:spcPts val="600"/>
              </a:spcAft>
              <a:buSzPct val="100000"/>
              <a:buChar char="•"/>
            </a:pPr>
            <a:r>
              <a:rPr lang="en-US" sz="1300" dirty="0">
                <a:solidFill>
                  <a:schemeClr val="tx1"/>
                </a:solidFill>
              </a:rPr>
              <a:t>Filter the dashboard to Delhi vs Bengaluru.</a:t>
            </a:r>
            <a:endParaRPr lang="en-US" sz="1300" dirty="0"/>
          </a:p>
          <a:p>
            <a:pPr marL="342900" indent="-342900">
              <a:spcAft>
                <a:spcPts val="600"/>
              </a:spcAft>
              <a:buSzPct val="100000"/>
              <a:buChar char="•"/>
            </a:pPr>
            <a:r>
              <a:rPr lang="en-US" sz="1300" dirty="0">
                <a:solidFill>
                  <a:schemeClr val="tx1"/>
                </a:solidFill>
              </a:rPr>
              <a:t>Walk through the clusters and top rules.</a:t>
            </a:r>
            <a:endParaRPr lang="en-US" sz="1300" dirty="0"/>
          </a:p>
          <a:p>
            <a:pPr marL="342900" indent="-342900">
              <a:spcAft>
                <a:spcPts val="600"/>
              </a:spcAft>
              <a:buSzPct val="100000"/>
              <a:buChar char="•"/>
            </a:pPr>
            <a:r>
              <a:rPr lang="en-US" sz="1300" dirty="0">
                <a:solidFill>
                  <a:schemeClr val="tx1"/>
                </a:solidFill>
              </a:rPr>
              <a:t>End on the lockdown what-if chart.</a:t>
            </a:r>
            <a:endParaRPr lang="en-US" sz="1300" dirty="0"/>
          </a:p>
        </p:txBody>
      </p:sp>
      <p:sp>
        <p:nvSpPr>
          <p:cNvPr id="11" name="ETL card"/>
          <p:cNvSpPr/>
          <p:nvPr/>
        </p:nvSpPr>
        <p:spPr>
          <a:xfrm>
            <a:off x="8083296" y="1554480"/>
            <a:ext cx="3566160" cy="4480560"/>
          </a:xfrm>
          <a:prstGeom prst="rect">
            <a:avLst/>
          </a:prstGeom>
          <a:solidFill>
            <a:schemeClr val="bg2"/>
          </a:solidFill>
          <a:ln w="12700">
            <a:solidFill>
              <a:schemeClr val="bg2"/>
            </a:solidFill>
            <a:prstDash val="solid"/>
          </a:ln>
        </p:spPr>
      </p:sp>
      <p:sp>
        <p:nvSpPr>
          <p:cNvPr id="12" name="ETL accent"/>
          <p:cNvSpPr/>
          <p:nvPr/>
        </p:nvSpPr>
        <p:spPr>
          <a:xfrm>
            <a:off x="8083296" y="1554480"/>
            <a:ext cx="3566160" cy="73152"/>
          </a:xfrm>
          <a:prstGeom prst="rect">
            <a:avLst/>
          </a:prstGeom>
          <a:solidFill>
            <a:schemeClr val="accent2"/>
          </a:solidFill>
          <a:ln w="12700">
            <a:solidFill>
              <a:schemeClr val="accent2"/>
            </a:solidFill>
            <a:prstDash val="solid"/>
          </a:ln>
        </p:spPr>
      </p:sp>
      <p:sp>
        <p:nvSpPr>
          <p:cNvPr id="13" name="ETL head"/>
          <p:cNvSpPr txBox="1"/>
          <p:nvPr/>
        </p:nvSpPr>
        <p:spPr>
          <a:xfrm>
            <a:off x="8266176" y="1783080"/>
            <a:ext cx="3200400" cy="365760"/>
          </a:xfrm>
          <a:prstGeom prst="rect">
            <a:avLst/>
          </a:prstGeom>
          <a:noFill/>
          <a:ln/>
        </p:spPr>
        <p:txBody>
          <a:bodyPr wrap="square" lIns="0" tIns="0" rIns="0" bIns="0" rtlCol="0" anchor="ctr"/>
          <a:lstStyle/>
          <a:p>
            <a:pPr marL="0" indent="0">
              <a:buNone/>
            </a:pPr>
            <a:r>
              <a:rPr lang="en-US" sz="1600" b="1" dirty="0">
                <a:solidFill>
                  <a:schemeClr val="tx2"/>
                </a:solidFill>
              </a:rPr>
              <a:t>GitHub Repository</a:t>
            </a:r>
            <a:endParaRPr lang="en-US" sz="1600" dirty="0"/>
          </a:p>
        </p:txBody>
      </p:sp>
      <p:sp>
        <p:nvSpPr>
          <p:cNvPr id="14" name="ETL body"/>
          <p:cNvSpPr txBox="1"/>
          <p:nvPr/>
        </p:nvSpPr>
        <p:spPr>
          <a:xfrm>
            <a:off x="8266176" y="2286000"/>
            <a:ext cx="3200400" cy="3566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hlinkClick r:id="rId3"/>
              </a:rPr>
              <a:t>StutiArya2/breathing-cities-dwdm</a:t>
            </a:r>
            <a:endParaRPr lang="en-US" sz="1300" dirty="0"/>
          </a:p>
          <a:p>
            <a:pPr marL="342900" indent="-342900">
              <a:spcAft>
                <a:spcPts val="600"/>
              </a:spcAft>
              <a:buSzPct val="100000"/>
              <a:buChar char="•"/>
            </a:pPr>
            <a:r>
              <a:rPr lang="en-US" sz="1300" dirty="0">
                <a:solidFill>
                  <a:schemeClr val="tx1"/>
                </a:solidFill>
              </a:rPr>
              <a:t>sql/: warehouse DDL and OLAP queries</a:t>
            </a:r>
            <a:endParaRPr lang="en-US" sz="1300" dirty="0"/>
          </a:p>
          <a:p>
            <a:pPr marL="342900" indent="-342900">
              <a:spcAft>
                <a:spcPts val="600"/>
              </a:spcAft>
              <a:buSzPct val="100000"/>
              <a:buChar char="•"/>
            </a:pPr>
            <a:r>
              <a:rPr lang="en-US" sz="1300" dirty="0">
                <a:solidFill>
                  <a:schemeClr val="tx1"/>
                </a:solidFill>
              </a:rPr>
              <a:t>src/: ETL plus the four mining scripts</a:t>
            </a:r>
            <a:endParaRPr lang="en-US" sz="1300" dirty="0"/>
          </a:p>
          <a:p>
            <a:pPr marL="342900" indent="-342900">
              <a:spcAft>
                <a:spcPts val="600"/>
              </a:spcAft>
              <a:buSzPct val="100000"/>
              <a:buChar char="•"/>
            </a:pPr>
            <a:r>
              <a:rPr lang="en-US" sz="1300" dirty="0">
                <a:solidFill>
                  <a:schemeClr val="tx1"/>
                </a:solidFill>
              </a:rPr>
              <a:t>dashboard/: Streamlit app</a:t>
            </a:r>
            <a:endParaRPr lang="en-US" sz="1300" dirty="0"/>
          </a:p>
          <a:p>
            <a:pPr marL="342900" indent="-342900">
              <a:spcAft>
                <a:spcPts val="600"/>
              </a:spcAft>
              <a:buSzPct val="100000"/>
              <a:buChar char="•"/>
            </a:pPr>
            <a:r>
              <a:rPr lang="en-US" sz="1300" dirty="0">
                <a:solidFill>
                  <a:schemeClr val="tx1"/>
                </a:solidFill>
              </a:rPr>
              <a:t>README: one command per step</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5</a:t>
            </a:fld>
            <a:endParaRPr lang="en-US"/>
          </a:p>
        </p:txBody>
      </p:sp>
    </p:spTree>
  </p:cSld>
  <p:clrMapOvr>
    <a:masterClrMapping/>
  </p:clrMapOvr>
</p:sld>
</file>

<file path=ppt/theme/theme1.xml><?xml version="1.0" encoding="utf-8"?>
<a:theme xmlns:a="http://schemas.openxmlformats.org/drawingml/2006/main" name="DWDM Lab BW">
  <a:themeElements>
    <a:clrScheme name="DWDM Lab BW">
      <a:dk1>
        <a:srgbClr val="000000"/>
      </a:dk1>
      <a:lt1>
        <a:srgbClr val="FFFFFF"/>
      </a:lt1>
      <a:dk2>
        <a:srgbClr val="111111"/>
      </a:dk2>
      <a:lt2>
        <a:srgbClr val="F2F2F2"/>
      </a:lt2>
      <a:accent1>
        <a:srgbClr val="1A1A1A"/>
      </a:accent1>
      <a:accent2>
        <a:srgbClr val="4D4D4D"/>
      </a:accent2>
      <a:accent3>
        <a:srgbClr val="333333"/>
      </a:accent3>
      <a:accent4>
        <a:srgbClr val="666666"/>
      </a:accent4>
      <a:accent5>
        <a:srgbClr val="737373"/>
      </a:accent5>
      <a:accent6>
        <a:srgbClr val="595959"/>
      </a:accent6>
      <a:hlink>
        <a:srgbClr val="000000"/>
      </a:hlink>
      <a:folHlink>
        <a:srgbClr val="595959"/>
      </a:folHlink>
    </a:clrScheme>
    <a:fontScheme name="DWDM Lab BW">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1413</Words>
  <Application>Microsoft Office PowerPoint</Application>
  <PresentationFormat>Widescreen</PresentationFormat>
  <Paragraphs>218</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Consolas</vt:lpstr>
      <vt:lpstr>DWDM Lab BW</vt:lpstr>
      <vt:lpstr>[Lab Project Title]</vt:lpstr>
      <vt:lpstr>Dataset Description</vt:lpstr>
      <vt:lpstr>Attribute Summary</vt:lpstr>
      <vt:lpstr>Data Warehouse to be Built — Star Schema</vt:lpstr>
      <vt:lpstr>Warehouse Design &amp; ETL</vt:lpstr>
      <vt:lpstr>Sample OLAP Operations</vt:lpstr>
      <vt:lpstr>Code: Creating the Warehouse (SQL)</vt:lpstr>
      <vt:lpstr>Code: ETL with Python (pandas)</vt:lpstr>
      <vt:lpstr>Code: Sample OLAP Queries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DWDM Lab Project Template</dc:title>
  <dc:subject>PptxGenJS Presentation</dc:subject>
  <dc:creator>PptxGenJS</dc:creator>
  <cp:lastModifiedBy>adrija bhattacharya</cp:lastModifiedBy>
  <cp:revision>2</cp:revision>
  <dcterms:created xsi:type="dcterms:W3CDTF">2026-10-05T17:32:32Z</dcterms:created>
  <dcterms:modified xsi:type="dcterms:W3CDTF">2026-10-05T17:33:34Z</dcterms:modified>
</cp:coreProperties>
</file>