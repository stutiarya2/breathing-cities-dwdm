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F48784BA-7B9E-06E5-4CCF-344A2382D4BF}">
          <p14:sldIdLst>
            <p14:sldId id="256"/>
          </p14:sldIdLst>
        </p14:section>
        <p14:section name="Dataset" id="{D79C840E-7269-8AC5-760E-9549C956F552}">
          <p14:sldIdLst>
            <p14:sldId id="257"/>
            <p14:sldId id="258"/>
          </p14:sldIdLst>
        </p14:section>
        <p14:section name="Warehouse" id="{75777074-7AA5-E516-5AE2-16BB8DF60707}">
          <p14:sldIdLst>
            <p14:sldId id="259"/>
            <p14:sldId id="260"/>
          </p14:sldIdLst>
        </p14:section>
        <p14:section name="OLAP" id="{667E24A1-C8BB-2EE4-BD18-DA14152A87F5}">
          <p14:sldIdLst>
            <p14:sldId id="261"/>
          </p14:sldIdLst>
        </p14:section>
        <p14:section name="Code" id="{01E6FDEA-CB28-48CA-68DF-EDB7E400CD34}">
          <p14:sldIdLst>
            <p14:sldId id="262"/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3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54572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data warehouse over six years of CPCB air-quality readings for 26 Indian cities, joined with daily weather from a second source, then mined for next-day risk, city profiles, condition rules and forecasts. The creative hook: the 2020 COVID lockdown and Diwali firecracker rules are natural experiments, and a weather-normalised model measures their real effect. Code: https://github.com/StutiArya2/breathing-cities-dwdm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CPCB readings compiled by Vopani (Rohan Rao) on Kaggle. Weather comes from the free Open-Meteo historical API (ERA5 reanalysis), fetched per city by src/fetch_weather.py with no API key. Mixing height is the daily mean boundary-layer height: when it is low, pollution is trapped near the 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16 city_day columns are covered, grouped by pollutant family, plus the station key and the weather source. AQI_Bucket becomes dim_aqi_category, recomputed from AQI with CPCB breakpoints.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fact tables share the conformed dimensions DIM_Date and DIM_City, so they can be combined (drill-across). FACT_AirQuality is the main star: city x day with Event, AQI Category and Weather Condition dimensions. FACT_Weather holds raw weather measures from the second source at the same grain. FACT_StationAQ is finer (station x day); DIM_Station rolls up to DIM_City, giving the hierarchy Station -&gt; City -&gt; State -&gt; Region.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Weather bands: wind calm &lt; 6, light 6-12, breezy &gt;= 12 km/h; rain &gt;= 1 mm; temperature cold &lt; 18, mild 18-28, hot &gt;= 28 C; mixing height low &lt; 400, medium 400-800, high &gt;= 800 m. Event priority: lockdown, then Diwali window (day -2 to +3), then stubble burning (15 Oct - 30 Nov, North only). One command rebuilds everything: python src/run_all.py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Results are from python src/olap.py on the real warehouse (saved in outputs/olap_*.csv). Full SQL is on slide 9 and in sql/02_olap_queries.sql. AQI queries skip rows flagged for the Ahmedabad CO fault.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Condensed from sql/01_create_warehouse.sql (9 tables). Runs unchanged on MySQL 8 and SQLite.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Condensed from src/etl.py. It prints row counts, a checksum, missing percentages and the number of flagged rows on every run, so the numbers in this deck can be reproduced.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Shortened from sql/02_olap_queries.sql, which has 9 queries in full. Averages, not sums, because concentrations are non-additive. Run them with python src/olap.py; the dashboard's OLAP tab runs them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828800"/>
            <a:ext cx="137160" cy="1463040"/>
          </a:xfrm>
          <a:prstGeom prst="rect">
            <a:avLst/>
          </a:prstGeom>
          <a:solidFill>
            <a:schemeClr val="bg1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" cy="68580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6"/>
                </a:solidFill>
              </a:rPr>
              <a:t>CSI3010 · Data Mining &amp; Warehousing · Lab Project</a:t>
            </a:r>
            <a:endParaRPr lang="en-US" sz="1000" dirty="0"/>
          </a:p>
        </p:txBody>
      </p:sp>
      <p:sp>
        <p:nvSpPr>
          <p:cNvPr id="4" name="Text 2"/>
          <p:cNvSpPr>
            <a:spLocks noGrp="1"/>
          </p:cNvSpPr>
          <p:nvPr>
            <p:ph type="title" idx="102" hasCustomPrompt="1"/>
          </p:nvPr>
        </p:nvSpPr>
        <p:spPr>
          <a:xfrm>
            <a:off x="822960" y="411480"/>
            <a:ext cx="107899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marL="0" indent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828800"/>
            <a:ext cx="137160" cy="155448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1097280" y="1737360"/>
            <a:ext cx="9875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endParaRPr lang="en-US" sz="3800" dirty="0"/>
          </a:p>
        </p:txBody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1097280" y="2880360"/>
            <a:ext cx="98755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1097280" y="1325880"/>
            <a:ext cx="98755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chemeClr val="bg1"/>
                </a:solidFill>
              </a:rPr>
              <a:t>Breathing Cities: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chemeClr val="bg1"/>
                </a:solidFill>
              </a:rPr>
              <a:t>Mining India's Air Quality</a:t>
            </a:r>
            <a:endParaRPr lang="en-US" sz="3800" dirty="0"/>
          </a:p>
        </p:txBody>
      </p:sp>
      <p:sp>
        <p:nvSpPr>
          <p:cNvPr id="3" name="Text 1"/>
          <p:cNvSpPr>
            <a:spLocks noGrp="1"/>
          </p:cNvSpPr>
          <p:nvPr>
            <p:ph type="body" idx="102" hasCustomPrompt="1"/>
          </p:nvPr>
        </p:nvSpPr>
        <p:spPr>
          <a:xfrm>
            <a:off x="1097280" y="2880360"/>
            <a:ext cx="9875520" cy="5486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sz="1800" dirty="0">
                <a:solidFill>
                  <a:schemeClr val="bg2"/>
                </a:solidFill>
              </a:rPr>
              <a:t>Data Warehousing &amp; Data Mining (CSI3010) — Lab Project</a:t>
            </a:r>
            <a:endParaRPr lang="en-US" sz="1800" dirty="0"/>
          </a:p>
        </p:txBody>
      </p:sp>
      <p:sp>
        <p:nvSpPr>
          <p:cNvPr id="4" name="Team details"/>
          <p:cNvSpPr txBox="1"/>
          <p:nvPr/>
        </p:nvSpPr>
        <p:spPr>
          <a:xfrm>
            <a:off x="1097280" y="493776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chemeClr val="bg2"/>
                </a:solidFill>
              </a:rPr>
              <a:t>Team: Stuti Arya – [Reg. No.], [Name 2 – Reg. No.], [Name 3 – Reg. No.]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Faculty: [Faculty name]   |   Slot: [Lab slot]   |   Date: 07-10-2026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title" idx="102" hasCustomPrompt="1"/>
          </p:nvPr>
        </p:nvSpPr>
        <p:spPr>
          <a:xfrm>
            <a:off x="822960" y="41148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Dataset Description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852160" cy="352044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Property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Details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Dataset name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Air Quality Data in India (CPCB) + Open-Meteo weather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Source / link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kaggle.com/datasets/rohanrao/air-quality-data-in-india; open-meteo.com (ERA5)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Size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29,531 city-days × 16 cols; 108,035 station-days; 52,234 weather days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Time period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 January 2015 to 1 July 2020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Format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CSV (Kaggle) + JSON API (weather)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Domain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Environment and public health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Rationale card"/>
          <p:cNvSpPr/>
          <p:nvPr/>
        </p:nvSpPr>
        <p:spPr>
          <a:xfrm>
            <a:off x="6766560" y="1554480"/>
            <a:ext cx="4846320" cy="44805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Rationale accent"/>
          <p:cNvSpPr/>
          <p:nvPr/>
        </p:nvSpPr>
        <p:spPr>
          <a:xfrm>
            <a:off x="6766560" y="1554480"/>
            <a:ext cx="4846320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Rationale head"/>
          <p:cNvSpPr txBox="1"/>
          <p:nvPr/>
        </p:nvSpPr>
        <p:spPr>
          <a:xfrm>
            <a:off x="6949440" y="1783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Why this dataset?</a:t>
            </a:r>
            <a:endParaRPr lang="en-US" sz="1600" dirty="0"/>
          </a:p>
        </p:txBody>
      </p:sp>
      <p:sp>
        <p:nvSpPr>
          <p:cNvPr id="7" name="Rationale body"/>
          <p:cNvSpPr txBox="1"/>
          <p:nvPr/>
        </p:nvSpPr>
        <p:spPr>
          <a:xfrm>
            <a:off x="6949440" y="2286000"/>
            <a:ext cx="44805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Air pollution is one of India's biggest health risks. Which cities, seasons, weather and events cause bad-air days?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Second source: daily weather for every city, including mixing height (how high smog can spread).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Station-level file (110 stations) gives a drill-down below city level.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Natural experiments: the 2020 COVID lockdown and Diwali firecracker rules.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title" idx="102" hasCustomPrompt="1"/>
          </p:nvPr>
        </p:nvSpPr>
        <p:spPr>
          <a:xfrm>
            <a:off x="822960" y="41148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Attribute Summary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3803904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Attribute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Description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Role in DW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City, Date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Text / Date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City name and day; together they identify a row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Key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StationId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Text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Monitoring station (110 used), for drill-down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Dimension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PM2.5, PM10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Decimal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Fine and coarse particulate matter (µg/m³)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Measure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NO, NO2, NOx, NH3, SO2, O3, CO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Decimal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Gases (µg/m³; CO in mg/m³)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Measure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Benzene, Toluene, Xylene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Decimal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Volatile organic compounds (µg/m³)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Measure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AQI, AQI_Bucket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Decimal / Category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National AQI and CPCB bucket, Good to Severe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Measure / Dimension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Weather (Open-Meteo)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Decimal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Temperature, humidity, rain, wind, mixing height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Measure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Hint"/>
          <p:cNvSpPr txBox="1"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Derived in ETL: state, region and coordinates (city lookup), season, event (Diwali, stubble burning, lockdown), weather condition bands and a quality flag.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title" idx="102" hasCustomPrompt="1"/>
          </p:nvPr>
        </p:nvSpPr>
        <p:spPr>
          <a:xfrm>
            <a:off x="822960" y="41148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Data Warehouse: Fact Constellation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  <p:cxnSp>
        <p:nvCxnSpPr>
          <p:cNvPr id="26" name="Connector 25"/>
          <p:cNvCxnSpPr/>
          <p:nvPr/>
        </p:nvCxnSpPr>
        <p:spPr>
          <a:xfrm flipH="1">
            <a:off x="1783080" y="2377439"/>
            <a:ext cx="4315968" cy="777241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2377439"/>
            <a:ext cx="0" cy="777241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99048" y="2377439"/>
            <a:ext cx="4279392" cy="777241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611880" y="2377439"/>
            <a:ext cx="2487168" cy="777241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6099048" y="2377439"/>
            <a:ext cx="2496312" cy="777241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 flipV="1">
            <a:off x="1783080" y="4297680"/>
            <a:ext cx="1874520" cy="82296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3657600" y="4297680"/>
            <a:ext cx="2441448" cy="82296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 flipV="1">
            <a:off x="6099048" y="4297680"/>
            <a:ext cx="1216152" cy="82296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7315200" y="4297680"/>
            <a:ext cx="3063240" cy="82296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0378440" y="4297680"/>
            <a:ext cx="0" cy="82296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act weather"/>
          <p:cNvSpPr/>
          <p:nvPr/>
        </p:nvSpPr>
        <p:spPr>
          <a:xfrm>
            <a:off x="548639" y="3154680"/>
            <a:ext cx="2468880" cy="114300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Fact weather text"/>
          <p:cNvSpPr txBox="1"/>
          <p:nvPr/>
        </p:nvSpPr>
        <p:spPr>
          <a:xfrm>
            <a:off x="621791" y="3154680"/>
            <a:ext cx="23225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FACT_Weather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city + date (PK)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temp, rain, wind, mixing ht</a:t>
            </a:r>
            <a:endParaRPr lang="en-US" sz="1400" dirty="0"/>
          </a:p>
        </p:txBody>
      </p:sp>
      <p:sp>
        <p:nvSpPr>
          <p:cNvPr id="7" name="Fact aq"/>
          <p:cNvSpPr/>
          <p:nvPr/>
        </p:nvSpPr>
        <p:spPr>
          <a:xfrm>
            <a:off x="4864608" y="3154680"/>
            <a:ext cx="2468880" cy="114300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Fact aq text"/>
          <p:cNvSpPr txBox="1"/>
          <p:nvPr/>
        </p:nvSpPr>
        <p:spPr>
          <a:xfrm>
            <a:off x="4937760" y="3154680"/>
            <a:ext cx="23225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FACT_AirQuality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city + date (PK), 4 FKs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12 pollutants, AQI, flag</a:t>
            </a:r>
            <a:endParaRPr lang="en-US" sz="1400" dirty="0"/>
          </a:p>
        </p:txBody>
      </p:sp>
      <p:sp>
        <p:nvSpPr>
          <p:cNvPr id="7" name="Fact station"/>
          <p:cNvSpPr/>
          <p:nvPr/>
        </p:nvSpPr>
        <p:spPr>
          <a:xfrm>
            <a:off x="9144000" y="3154680"/>
            <a:ext cx="2468880" cy="114300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Fact station text"/>
          <p:cNvSpPr txBox="1"/>
          <p:nvPr/>
        </p:nvSpPr>
        <p:spPr>
          <a:xfrm>
            <a:off x="9217152" y="3154680"/>
            <a:ext cx="23225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FACT_StationAQ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station + date (PK)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PM2.5, PM10, NO2, AQI</a:t>
            </a:r>
            <a:endParaRPr lang="en-US" sz="1400" dirty="0"/>
          </a:p>
        </p:txBody>
      </p:sp>
      <p:sp>
        <p:nvSpPr>
          <p:cNvPr id="9" name="Dim date"/>
          <p:cNvSpPr/>
          <p:nvPr/>
        </p:nvSpPr>
        <p:spPr>
          <a:xfrm>
            <a:off x="5001768" y="1508760"/>
            <a:ext cx="2194560" cy="86868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Dim date text"/>
          <p:cNvSpPr txBox="1"/>
          <p:nvPr/>
        </p:nvSpPr>
        <p:spPr>
          <a:xfrm>
            <a:off x="5074920" y="1508760"/>
            <a:ext cx="2048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DIM_Date (conformed)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day, month, season, year</a:t>
            </a:r>
            <a:endParaRPr lang="en-US" sz="1400" dirty="0"/>
          </a:p>
        </p:txBody>
      </p:sp>
      <p:sp>
        <p:nvSpPr>
          <p:cNvPr id="9" name="Dim city"/>
          <p:cNvSpPr/>
          <p:nvPr/>
        </p:nvSpPr>
        <p:spPr>
          <a:xfrm>
            <a:off x="2560320" y="5120640"/>
            <a:ext cx="2194560" cy="86868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Dim city text"/>
          <p:cNvSpPr txBox="1"/>
          <p:nvPr/>
        </p:nvSpPr>
        <p:spPr>
          <a:xfrm>
            <a:off x="2633472" y="5120640"/>
            <a:ext cx="2048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DIM_City (conformed)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city, state, region, lat/long</a:t>
            </a:r>
            <a:endParaRPr lang="en-US" sz="1400" dirty="0"/>
          </a:p>
        </p:txBody>
      </p:sp>
      <p:sp>
        <p:nvSpPr>
          <p:cNvPr id="13" name="Dim event"/>
          <p:cNvSpPr/>
          <p:nvPr/>
        </p:nvSpPr>
        <p:spPr>
          <a:xfrm>
            <a:off x="2514600" y="1508760"/>
            <a:ext cx="2194560" cy="868680"/>
          </a:xfrm>
          <a:prstGeom prst="roundRect">
            <a:avLst>
              <a:gd name="adj" fmla="val 6154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Dim event text"/>
          <p:cNvSpPr txBox="1"/>
          <p:nvPr/>
        </p:nvSpPr>
        <p:spPr>
          <a:xfrm>
            <a:off x="2587752" y="1508760"/>
            <a:ext cx="2048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DIM_Event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Diwali, stubble, lockdown</a:t>
            </a:r>
            <a:endParaRPr lang="en-US" sz="1400" dirty="0"/>
          </a:p>
        </p:txBody>
      </p:sp>
      <p:sp>
        <p:nvSpPr>
          <p:cNvPr id="13" name="Dim wcond"/>
          <p:cNvSpPr/>
          <p:nvPr/>
        </p:nvSpPr>
        <p:spPr>
          <a:xfrm>
            <a:off x="7498080" y="1508760"/>
            <a:ext cx="2194560" cy="868680"/>
          </a:xfrm>
          <a:prstGeom prst="roundRect">
            <a:avLst>
              <a:gd name="adj" fmla="val 6154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Dim wcond text"/>
          <p:cNvSpPr txBox="1"/>
          <p:nvPr/>
        </p:nvSpPr>
        <p:spPr>
          <a:xfrm>
            <a:off x="7571232" y="1508760"/>
            <a:ext cx="2048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DIM_WeatherCondition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wind, rain, temp, mixing</a:t>
            </a:r>
            <a:endParaRPr lang="en-US" sz="1400" dirty="0"/>
          </a:p>
        </p:txBody>
      </p:sp>
      <p:sp>
        <p:nvSpPr>
          <p:cNvPr id="13" name="Dim aqi"/>
          <p:cNvSpPr/>
          <p:nvPr/>
        </p:nvSpPr>
        <p:spPr>
          <a:xfrm>
            <a:off x="6217920" y="5120640"/>
            <a:ext cx="2194560" cy="868680"/>
          </a:xfrm>
          <a:prstGeom prst="roundRect">
            <a:avLst>
              <a:gd name="adj" fmla="val 6154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Dim aqi text"/>
          <p:cNvSpPr txBox="1"/>
          <p:nvPr/>
        </p:nvSpPr>
        <p:spPr>
          <a:xfrm>
            <a:off x="6291072" y="5120640"/>
            <a:ext cx="2048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DIM_AQI_Category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bucket, health group</a:t>
            </a:r>
            <a:endParaRPr lang="en-US" sz="1400" dirty="0"/>
          </a:p>
        </p:txBody>
      </p:sp>
      <p:sp>
        <p:nvSpPr>
          <p:cNvPr id="13" name="Dim station"/>
          <p:cNvSpPr/>
          <p:nvPr/>
        </p:nvSpPr>
        <p:spPr>
          <a:xfrm>
            <a:off x="9281160" y="5120640"/>
            <a:ext cx="2194560" cy="868680"/>
          </a:xfrm>
          <a:prstGeom prst="roundRect">
            <a:avLst>
              <a:gd name="adj" fmla="val 6154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Dim station text"/>
          <p:cNvSpPr txBox="1"/>
          <p:nvPr/>
        </p:nvSpPr>
        <p:spPr>
          <a:xfrm>
            <a:off x="9354312" y="5120640"/>
            <a:ext cx="2048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DIM_Station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name, city_key (FK)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title" idx="102" hasCustomPrompt="1"/>
          </p:nvPr>
        </p:nvSpPr>
        <p:spPr>
          <a:xfrm>
            <a:off x="822960" y="41148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Warehouse Design &amp; ETL</a:t>
            </a:r>
            <a:endParaRPr lang="en-US" sz="2800" dirty="0"/>
          </a:p>
        </p:txBody>
      </p:sp>
      <p:sp>
        <p:nvSpPr>
          <p:cNvPr id="3" name="Fact card"/>
          <p:cNvSpPr/>
          <p:nvPr/>
        </p:nvSpPr>
        <p:spPr>
          <a:xfrm>
            <a:off x="548640" y="1554480"/>
            <a:ext cx="3566160" cy="44805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Fact accent"/>
          <p:cNvSpPr/>
          <p:nvPr/>
        </p:nvSpPr>
        <p:spPr>
          <a:xfrm>
            <a:off x="548640" y="1554480"/>
            <a:ext cx="3566160" cy="73152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Fact head"/>
          <p:cNvSpPr txBox="1"/>
          <p:nvPr/>
        </p:nvSpPr>
        <p:spPr>
          <a:xfrm>
            <a:off x="731520" y="1783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Fact Tables</a:t>
            </a:r>
            <a:endParaRPr lang="en-US" sz="1600" dirty="0"/>
          </a:p>
        </p:txBody>
      </p:sp>
      <p:sp>
        <p:nvSpPr>
          <p:cNvPr id="6" name="Fact body"/>
          <p:cNvSpPr txBox="1"/>
          <p:nvPr/>
        </p:nvSpPr>
        <p:spPr>
          <a:xfrm>
            <a:off x="731520" y="2286000"/>
            <a:ext cx="3200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fact_air_quality: city × day; 12 pollutants, AQI, quality flag.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fact_station_air_quality: station × day.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fact_weather: city × day; temperature, humidity, rain, wind, mixing height.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Concentrations are non-additive: AVG or MAX, never SUM.</a:t>
            </a:r>
            <a:endParaRPr lang="en-US" sz="1300" dirty="0"/>
          </a:p>
        </p:txBody>
      </p:sp>
      <p:sp>
        <p:nvSpPr>
          <p:cNvPr id="7" name="Dims card"/>
          <p:cNvSpPr/>
          <p:nvPr/>
        </p:nvSpPr>
        <p:spPr>
          <a:xfrm>
            <a:off x="4315968" y="1554480"/>
            <a:ext cx="3566160" cy="44805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Dims accent"/>
          <p:cNvSpPr/>
          <p:nvPr/>
        </p:nvSpPr>
        <p:spPr>
          <a:xfrm>
            <a:off x="4315968" y="1554480"/>
            <a:ext cx="3566160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Dims head"/>
          <p:cNvSpPr txBox="1"/>
          <p:nvPr/>
        </p:nvSpPr>
        <p:spPr>
          <a:xfrm>
            <a:off x="4498848" y="1783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Dimensions &amp; Hierarchies</a:t>
            </a:r>
            <a:endParaRPr lang="en-US" sz="1600" dirty="0"/>
          </a:p>
        </p:txBody>
      </p:sp>
      <p:sp>
        <p:nvSpPr>
          <p:cNvPr id="10" name="Dims body"/>
          <p:cNvSpPr txBox="1"/>
          <p:nvPr/>
        </p:nvSpPr>
        <p:spPr>
          <a:xfrm>
            <a:off x="4498848" y="2286000"/>
            <a:ext cx="3200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Time: Day → Month → Season → Year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Location: Station → City → State → Region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AQI: Value → Bucket → Healthy / Unhealthy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Weather condition: wind × rain × temperature × mixing band (54 combinations)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Event: Diwali, Stubble burning (North), COVID lockdown</a:t>
            </a:r>
            <a:endParaRPr lang="en-US" sz="1300" dirty="0"/>
          </a:p>
        </p:txBody>
      </p:sp>
      <p:sp>
        <p:nvSpPr>
          <p:cNvPr id="11" name="ETL card"/>
          <p:cNvSpPr/>
          <p:nvPr/>
        </p:nvSpPr>
        <p:spPr>
          <a:xfrm>
            <a:off x="8083296" y="1554480"/>
            <a:ext cx="3566160" cy="44805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ETL accent"/>
          <p:cNvSpPr/>
          <p:nvPr/>
        </p:nvSpPr>
        <p:spPr>
          <a:xfrm>
            <a:off x="8083296" y="1554480"/>
            <a:ext cx="3566160" cy="73152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ETL head"/>
          <p:cNvSpPr txBox="1"/>
          <p:nvPr/>
        </p:nvSpPr>
        <p:spPr>
          <a:xfrm>
            <a:off x="8266176" y="1783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ETL &amp; Tools</a:t>
            </a:r>
            <a:endParaRPr lang="en-US" sz="1600" dirty="0"/>
          </a:p>
        </p:txBody>
      </p:sp>
      <p:sp>
        <p:nvSpPr>
          <p:cNvPr id="14" name="ETL body"/>
          <p:cNvSpPr txBox="1"/>
          <p:nvPr/>
        </p:nvSpPr>
        <p:spPr>
          <a:xfrm>
            <a:off x="8266176" y="2286000"/>
            <a:ext cx="3200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Extract: 3 Kaggle CSVs + Open-Meteo API (26 calls, cached as CSV).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Transform: pandas; weather bands, event and AQI keys, quality flag.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Load: dimensions first, then 3 facts, into MySQL 8 or SQLite.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Tools: Python, SQLAlchemy, scikit-learn, mlxtend, statsmodels, SHAP, Streamlit.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title" idx="102" hasCustomPrompt="1"/>
          </p:nvPr>
        </p:nvSpPr>
        <p:spPr>
          <a:xfrm>
            <a:off x="822960" y="41148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Sample OLAP Operations</a:t>
            </a:r>
            <a:endParaRPr lang="en-US" sz="2800" dirty="0"/>
          </a:p>
        </p:txBody>
      </p:sp>
      <p:sp>
        <p:nvSpPr>
          <p:cNvPr id="3" name="Roll-up card"/>
          <p:cNvSpPr/>
          <p:nvPr/>
        </p:nvSpPr>
        <p:spPr>
          <a:xfrm>
            <a:off x="548640" y="1554480"/>
            <a:ext cx="2103120" cy="44805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Roll-up header"/>
          <p:cNvSpPr/>
          <p:nvPr/>
        </p:nvSpPr>
        <p:spPr>
          <a:xfrm>
            <a:off x="548640" y="1554480"/>
            <a:ext cx="2103120" cy="5486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Roll-up title"/>
          <p:cNvSpPr txBox="1"/>
          <p:nvPr/>
        </p:nvSpPr>
        <p:spPr>
          <a:xfrm>
            <a:off x="548640" y="1554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Roll-up</a:t>
            </a:r>
            <a:endParaRPr lang="en-US" sz="1600" dirty="0"/>
          </a:p>
        </p:txBody>
      </p:sp>
      <p:sp>
        <p:nvSpPr>
          <p:cNvPr id="6" name="Roll-up desc"/>
          <p:cNvSpPr txBox="1"/>
          <p:nvPr/>
        </p:nvSpPr>
        <p:spPr>
          <a:xfrm>
            <a:off x="685800" y="224028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City → Region, yearly average PM2.5.</a:t>
            </a:r>
            <a:endParaRPr lang="en-US" sz="1200" dirty="0"/>
          </a:p>
        </p:txBody>
      </p:sp>
      <p:sp>
        <p:nvSpPr>
          <p:cNvPr id="7" name="Roll-up placeholder"/>
          <p:cNvSpPr txBox="1"/>
          <p:nvPr/>
        </p:nvSpPr>
        <p:spPr>
          <a:xfrm>
            <a:off x="685800" y="3337560"/>
            <a:ext cx="1828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2"/>
                </a:solidFill>
              </a:rPr>
              <a:t>Query pattern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GROUP BY c.region, d.year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 xml:space="preserve"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chemeClr val="tx2"/>
                </a:solidFill>
              </a:rPr>
              <a:t>Result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North: 130 (2016) → 79 (2019) → 55 (2020)</a:t>
            </a:r>
            <a:endParaRPr lang="en-US" sz="1200" dirty="0"/>
          </a:p>
        </p:txBody>
      </p:sp>
      <p:sp>
        <p:nvSpPr>
          <p:cNvPr id="8" name="Drill-down card"/>
          <p:cNvSpPr/>
          <p:nvPr/>
        </p:nvSpPr>
        <p:spPr>
          <a:xfrm>
            <a:off x="2788920" y="1554480"/>
            <a:ext cx="2103120" cy="44805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Drill-down header"/>
          <p:cNvSpPr/>
          <p:nvPr/>
        </p:nvSpPr>
        <p:spPr>
          <a:xfrm>
            <a:off x="2788920" y="1554480"/>
            <a:ext cx="2103120" cy="54864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Drill-down title"/>
          <p:cNvSpPr txBox="1"/>
          <p:nvPr/>
        </p:nvSpPr>
        <p:spPr>
          <a:xfrm>
            <a:off x="2788920" y="1554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Drill-down</a:t>
            </a:r>
            <a:endParaRPr lang="en-US" sz="1600" dirty="0"/>
          </a:p>
        </p:txBody>
      </p:sp>
      <p:sp>
        <p:nvSpPr>
          <p:cNvPr id="11" name="Drill-down desc"/>
          <p:cNvSpPr txBox="1"/>
          <p:nvPr/>
        </p:nvSpPr>
        <p:spPr>
          <a:xfrm>
            <a:off x="2926080" y="224028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Delhi 2019, Year → Month.</a:t>
            </a:r>
            <a:endParaRPr lang="en-US" sz="1200" dirty="0"/>
          </a:p>
        </p:txBody>
      </p:sp>
      <p:sp>
        <p:nvSpPr>
          <p:cNvPr id="12" name="Drill-down placeholder"/>
          <p:cNvSpPr txBox="1"/>
          <p:nvPr/>
        </p:nvSpPr>
        <p:spPr>
          <a:xfrm>
            <a:off x="2926080" y="3337560"/>
            <a:ext cx="1828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2"/>
                </a:solidFill>
              </a:rPr>
              <a:t>Query pattern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WHERE city = 'Delhi'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AND year = 2019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GROUP BY d.month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 xml:space="preserve"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chemeClr val="tx2"/>
                </a:solidFill>
              </a:rPr>
              <a:t>Result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AQI 364 in Jan, 99 in Aug, 341 in Nov</a:t>
            </a:r>
            <a:endParaRPr lang="en-US" sz="1200" dirty="0"/>
          </a:p>
        </p:txBody>
      </p:sp>
      <p:sp>
        <p:nvSpPr>
          <p:cNvPr id="13" name="Slice card"/>
          <p:cNvSpPr/>
          <p:nvPr/>
        </p:nvSpPr>
        <p:spPr>
          <a:xfrm>
            <a:off x="5029200" y="1554480"/>
            <a:ext cx="2103120" cy="44805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lice header"/>
          <p:cNvSpPr/>
          <p:nvPr/>
        </p:nvSpPr>
        <p:spPr>
          <a:xfrm>
            <a:off x="5029200" y="1554480"/>
            <a:ext cx="2103120" cy="54864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Slice title"/>
          <p:cNvSpPr txBox="1"/>
          <p:nvPr/>
        </p:nvSpPr>
        <p:spPr>
          <a:xfrm>
            <a:off x="5029200" y="1554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Slice</a:t>
            </a:r>
            <a:endParaRPr lang="en-US" sz="1600" dirty="0"/>
          </a:p>
        </p:txBody>
      </p:sp>
      <p:sp>
        <p:nvSpPr>
          <p:cNvPr id="16" name="Slice desc"/>
          <p:cNvSpPr txBox="1"/>
          <p:nvPr/>
        </p:nvSpPr>
        <p:spPr>
          <a:xfrm>
            <a:off x="5166360" y="224028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Fix Season = Winter; AQI by city.</a:t>
            </a:r>
            <a:endParaRPr lang="en-US" sz="1200" dirty="0"/>
          </a:p>
        </p:txBody>
      </p:sp>
      <p:sp>
        <p:nvSpPr>
          <p:cNvPr id="17" name="Slice placeholder"/>
          <p:cNvSpPr txBox="1"/>
          <p:nvPr/>
        </p:nvSpPr>
        <p:spPr>
          <a:xfrm>
            <a:off x="5166360" y="3337560"/>
            <a:ext cx="1828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2"/>
                </a:solidFill>
              </a:rPr>
              <a:t>Query pattern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WHERE d.season = 'Winter'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GROUP BY c.city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 xml:space="preserve"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chemeClr val="tx2"/>
                </a:solidFill>
              </a:rPr>
              <a:t>Result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Delhi 330, Patna 328, Lucknow 307</a:t>
            </a:r>
            <a:endParaRPr lang="en-US" sz="1200" dirty="0"/>
          </a:p>
        </p:txBody>
      </p:sp>
      <p:sp>
        <p:nvSpPr>
          <p:cNvPr id="18" name="Dice card"/>
          <p:cNvSpPr/>
          <p:nvPr/>
        </p:nvSpPr>
        <p:spPr>
          <a:xfrm>
            <a:off x="7269480" y="1554480"/>
            <a:ext cx="2103120" cy="44805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Dice header"/>
          <p:cNvSpPr/>
          <p:nvPr/>
        </p:nvSpPr>
        <p:spPr>
          <a:xfrm>
            <a:off x="7269480" y="1554480"/>
            <a:ext cx="2103120" cy="54864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0" name="Dice title"/>
          <p:cNvSpPr txBox="1"/>
          <p:nvPr/>
        </p:nvSpPr>
        <p:spPr>
          <a:xfrm>
            <a:off x="7269480" y="1554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Dice</a:t>
            </a:r>
            <a:endParaRPr lang="en-US" sz="1600" dirty="0"/>
          </a:p>
        </p:txBody>
      </p:sp>
      <p:sp>
        <p:nvSpPr>
          <p:cNvPr id="21" name="Dice desc"/>
          <p:cNvSpPr txBox="1"/>
          <p:nvPr/>
        </p:nvSpPr>
        <p:spPr>
          <a:xfrm>
            <a:off x="7406640" y="224028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North × Mar–May × 2019 vs 2020.</a:t>
            </a:r>
            <a:endParaRPr lang="en-US" sz="1200" dirty="0"/>
          </a:p>
        </p:txBody>
      </p:sp>
      <p:sp>
        <p:nvSpPr>
          <p:cNvPr id="22" name="Dice placeholder"/>
          <p:cNvSpPr txBox="1"/>
          <p:nvPr/>
        </p:nvSpPr>
        <p:spPr>
          <a:xfrm>
            <a:off x="7406640" y="3337560"/>
            <a:ext cx="1828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2"/>
                </a:solidFill>
              </a:rPr>
              <a:t>Query pattern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region = 'North'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month BETWEEN 3 AND 5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year IN (2019, 2020)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 xml:space="preserve"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chemeClr val="tx2"/>
                </a:solidFill>
              </a:rPr>
              <a:t>Result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Delhi PM2.5 85 → 53, NO2 49 → 27</a:t>
            </a:r>
            <a:endParaRPr lang="en-US" sz="1200" dirty="0"/>
          </a:p>
        </p:txBody>
      </p:sp>
      <p:sp>
        <p:nvSpPr>
          <p:cNvPr id="23" name="Pivot card"/>
          <p:cNvSpPr/>
          <p:nvPr/>
        </p:nvSpPr>
        <p:spPr>
          <a:xfrm>
            <a:off x="9509760" y="1554480"/>
            <a:ext cx="2103120" cy="44805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Pivot header"/>
          <p:cNvSpPr/>
          <p:nvPr/>
        </p:nvSpPr>
        <p:spPr>
          <a:xfrm>
            <a:off x="9509760" y="1554480"/>
            <a:ext cx="2103120" cy="54864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5" name="Pivot title"/>
          <p:cNvSpPr txBox="1"/>
          <p:nvPr/>
        </p:nvSpPr>
        <p:spPr>
          <a:xfrm>
            <a:off x="9509760" y="1554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Pivot</a:t>
            </a:r>
            <a:endParaRPr lang="en-US" sz="1600" dirty="0"/>
          </a:p>
        </p:txBody>
      </p:sp>
      <p:sp>
        <p:nvSpPr>
          <p:cNvPr id="26" name="Pivot desc"/>
          <p:cNvSpPr txBox="1"/>
          <p:nvPr/>
        </p:nvSpPr>
        <p:spPr>
          <a:xfrm>
            <a:off x="9646920" y="224028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Cities × AQI buckets (days).</a:t>
            </a:r>
            <a:endParaRPr lang="en-US" sz="1200" dirty="0"/>
          </a:p>
        </p:txBody>
      </p:sp>
      <p:sp>
        <p:nvSpPr>
          <p:cNvPr id="27" name="Pivot placeholder"/>
          <p:cNvSpPr txBox="1"/>
          <p:nvPr/>
        </p:nvSpPr>
        <p:spPr>
          <a:xfrm>
            <a:off x="9646920" y="3337560"/>
            <a:ext cx="1828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2"/>
                </a:solidFill>
              </a:rPr>
              <a:t>Query pattern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SUM(CASE WHEN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bucket = 'Severe' ...)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 xml:space="preserve"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chemeClr val="tx2"/>
                </a:solidFill>
              </a:rPr>
              <a:t>Result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Delhi: 239 Severe and 520 Very Poor days</a:t>
            </a:r>
            <a:endParaRPr lang="en-US" sz="12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title" idx="102" hasCustomPrompt="1"/>
          </p:nvPr>
        </p:nvSpPr>
        <p:spPr>
          <a:xfrm>
            <a:off x="822960" y="41148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Code: Creating the Warehouse (SQL)</a:t>
            </a:r>
            <a:endParaRPr lang="en-US" sz="2800" dirty="0"/>
          </a:p>
        </p:txBody>
      </p:sp>
      <p:sp>
        <p:nvSpPr>
          <p:cNvPr id="3" name="DDL code box"/>
          <p:cNvSpPr/>
          <p:nvPr/>
        </p:nvSpPr>
        <p:spPr>
          <a:xfrm>
            <a:off x="548640" y="1508760"/>
            <a:ext cx="11064240" cy="457200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DDL code"/>
          <p:cNvSpPr txBox="1"/>
          <p:nvPr/>
        </p:nvSpPr>
        <p:spPr>
          <a:xfrm>
            <a:off x="731520" y="1645920"/>
            <a:ext cx="106984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dim_date (date_key INT PRIMARY KEY, full_date DATE UNIQUE, month SMALLINT,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season VARCHAR(15), quarter SMALLINT, year SMALLINT, ...);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dim_city (city_key INT PRIMARY KEY, city VARCHAR(40), state VARCHAR(40), region VARCHAR(15), ...);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dim_station (station_key INT PRIMARY KEY, station_id VARCHAR(10), station_name VARCHAR(120),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city_key INT NOT NULL REFERENCES dim_city(city_key));            -- Station -&gt; City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dim_aqi_category, dim_event, dim_weather_condition: same pattern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/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fact_air_quality (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city_key INT NOT NULL REFERENCES dim_city(city_key),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date_key INT NOT NULL REFERENCES dim_date(date_key),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event_key INT, category_key INT, weather_key INT,                 -- FKs to 3 more dims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pm25 DECIMAL(8,2), pm10 DECIMAL(8,2), no2 DECIMAL(8,2), ..., aqi DECIMAL(8,2),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quality_flag SMALLINT NOT NULL,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PRIMARY KEY (city_key, date_key));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/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fact_weather (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city_key INT NOT NULL REFERENCES dim_city(city_key),              -- conformed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date_key INT NOT NULL REFERENCES dim_date(date_key),              -- conformed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temp_mean DECIMAL(5,2), precipitation DECIMAL(6,2), wind_mean DECIMAL(5,2), mixing_height DECIMAL(7,1),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PRIMARY KEY (city_key, date_key));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fact_station_air_quality (station_key, date_key, ...) follows the same pattern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title" idx="102" hasCustomPrompt="1"/>
          </p:nvPr>
        </p:nvSpPr>
        <p:spPr>
          <a:xfrm>
            <a:off x="822960" y="41148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Code: ETL with Python (pandas)</a:t>
            </a:r>
            <a:endParaRPr lang="en-US" sz="2800" dirty="0"/>
          </a:p>
        </p:txBody>
      </p:sp>
      <p:sp>
        <p:nvSpPr>
          <p:cNvPr id="3" name="ETL code box"/>
          <p:cNvSpPr/>
          <p:nvPr/>
        </p:nvSpPr>
        <p:spPr>
          <a:xfrm>
            <a:off x="548640" y="1508760"/>
            <a:ext cx="11064240" cy="457200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ETL code"/>
          <p:cNvSpPr txBox="1"/>
          <p:nvPr/>
        </p:nvSpPr>
        <p:spPr>
          <a:xfrm>
            <a:off x="731520" y="1645920"/>
            <a:ext cx="106984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Extract: two sources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aq = pd.read_csv("data/raw/city_day.csv").rename(columns=SOURCE_COLUMNS)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weather = pd.read_csv("data/raw/weather_daily.csv")      # from src/fetch_weather.py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Transform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aq = clean_pollutants(aq, POLLUTANTS + ["aqi"])          # negative / absurd -&gt; NULL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weather["weather_key"] = assign_weather_key(weather, dim_weather)   # wind x rain x temp x mixing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aq["event_key"] = assign_event(aq["date"], aq["region"])        # lockdown &gt; Diwali &gt; stubble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aq["category_key"] = category_from_aqi(aq["aqi"])                 # CPCB buckets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aq = aq.merge(weather[["city_key", "date_key", "weather_key"]], on=["city_key", "date_key"])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city_co = aq.groupby("city")["co"].median()                      # sensor-fault rule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faulty = city_co[city_co &gt; 3 * city_co.median()].index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aq["quality_flag"] = (aq["city"].isin(faulty) &amp; (aq["co"] &gt; 10)).astype(int)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aq["aqi"] = aq["aqi"].clip(upper=500)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Load: dimensions first, then the three facts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run_script(engine, "sql/01_create_warehouse.sql")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engine.begin() as conn: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for name, table in tables.items():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  table.to_sql(name, conn, if_exists="append", index=False, chunksize=5000)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title" idx="102" hasCustomPrompt="1"/>
          </p:nvPr>
        </p:nvSpPr>
        <p:spPr>
          <a:xfrm>
            <a:off x="822960" y="41148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Code: Sample OLAP Queries</a:t>
            </a:r>
            <a:endParaRPr lang="en-US" sz="2800" dirty="0"/>
          </a:p>
        </p:txBody>
      </p:sp>
      <p:sp>
        <p:nvSpPr>
          <p:cNvPr id="3" name="OLAP code left box"/>
          <p:cNvSpPr/>
          <p:nvPr/>
        </p:nvSpPr>
        <p:spPr>
          <a:xfrm>
            <a:off x="548640" y="1508760"/>
            <a:ext cx="5440680" cy="457200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OLAP code left"/>
          <p:cNvSpPr txBox="1"/>
          <p:nvPr/>
        </p:nvSpPr>
        <p:spPr>
          <a:xfrm>
            <a:off x="731520" y="1645920"/>
            <a:ext cx="50749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Roll-up: City -&gt; Region, per year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c.region, d.year, AVG(f.pm25) AS avg_pm25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fact_air_quality f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dim_city c ON f.city_key = c.city_key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dim_date d ON f.date_key = d.date_key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 c.region, d.year;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/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Drill-down: City -&gt; Station (Delhi, Nov 2019)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s.station_name, AVG(f.pm25) AS avg_pm25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fact_station_air_quality f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dim_station s ON f.station_key = s.station_key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dim_city c ON s.city_key = c.city_key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dim_date d ON f.date_key = d.date_key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c.city = 'Delhi' AND d.year = 2019 AND d.month = 11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 s.station_name;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/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Slice: Season = Winter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c.city, AVG(f.aqi) AS winter_aqi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fact_air_quality f JOIN dim_city c USING (city_key)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dim_date d USING (date_key)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d.season = 'Winter' AND f.quality_flag = 0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 c.city ORDER BY winter_aqi DESC;</a:t>
            </a:r>
            <a:endParaRPr lang="en-US" sz="1000" dirty="0"/>
          </a:p>
        </p:txBody>
      </p:sp>
      <p:sp>
        <p:nvSpPr>
          <p:cNvPr id="5" name="OLAP code right box"/>
          <p:cNvSpPr/>
          <p:nvPr/>
        </p:nvSpPr>
        <p:spPr>
          <a:xfrm>
            <a:off x="6172200" y="1508760"/>
            <a:ext cx="5440680" cy="457200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OLAP code right"/>
          <p:cNvSpPr txBox="1"/>
          <p:nvPr/>
        </p:nvSpPr>
        <p:spPr>
          <a:xfrm>
            <a:off x="6355080" y="1645920"/>
            <a:ext cx="50749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Dice: weather dimension (winter)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w.wind_band, w.mixing_band, AVG(f.pm25)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fact_air_quality f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dim_weather_condition w USING (weather_key)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dim_date d USING (date_key)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d.season = 'Winter' AND f.quality_flag = 0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 w.wind_band, w.mixing_band;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/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Pivot: AQI buckets as columns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c.city,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SUM(CASE WHEN a.bucket = 'Very Poor' THEN 1 ELSE 0 END),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SUM(CASE WHEN a.bucket = 'Severe' THEN 1 ELSE 0 END)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fact_air_quality f JOIN dim_city c USING (city_key)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dim_aqi_category a USING (category_key)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f.quality_flag = 0 GROUP BY c.city;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/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Drill-across: two facts, conformed dims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aq.month, aq.pm25, wx.mixing_height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(SELECT month, AVG(pm25) pm25 FROM ... ) aq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(SELECT month, AVG(mixing_height) mixing_height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FROM fact_weather ... ) wx ON aq.month = wx.month;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WDM Lab BW">
  <a:themeElements>
    <a:clrScheme name="DWDM Lab BW">
      <a:dk1>
        <a:srgbClr val="000000"/>
      </a:dk1>
      <a:lt1>
        <a:srgbClr val="FFFFFF"/>
      </a:lt1>
      <a:dk2>
        <a:srgbClr val="111111"/>
      </a:dk2>
      <a:lt2>
        <a:srgbClr val="F2F2F2"/>
      </a:lt2>
      <a:accent1>
        <a:srgbClr val="1A1A1A"/>
      </a:accent1>
      <a:accent2>
        <a:srgbClr val="4D4D4D"/>
      </a:accent2>
      <a:accent3>
        <a:srgbClr val="333333"/>
      </a:accent3>
      <a:accent4>
        <a:srgbClr val="666666"/>
      </a:accent4>
      <a:accent5>
        <a:srgbClr val="737373"/>
      </a:accent5>
      <a:accent6>
        <a:srgbClr val="595959"/>
      </a:accent6>
      <a:hlink>
        <a:srgbClr val="000000"/>
      </a:hlink>
      <a:folHlink>
        <a:srgbClr val="595959"/>
      </a:folHlink>
    </a:clrScheme>
    <a:fontScheme name="DWDM Lab BW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1413</Words>
  <Application>Microsoft Office PowerPoint</Application>
  <PresentationFormat>Widescreen</PresentationFormat>
  <Paragraphs>218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Consolas</vt:lpstr>
      <vt:lpstr>DWDM Lab BW</vt:lpstr>
      <vt:lpstr>[Lab Project Title]</vt:lpstr>
      <vt:lpstr>Dataset Description</vt:lpstr>
      <vt:lpstr>Attribute Summary</vt:lpstr>
      <vt:lpstr>Data Warehouse to be Built — Star Schema</vt:lpstr>
      <vt:lpstr>Warehouse Design &amp; ETL</vt:lpstr>
      <vt:lpstr>Sample OLAP Operations</vt:lpstr>
      <vt:lpstr>Code: Creating the Warehouse (SQL)</vt:lpstr>
      <vt:lpstr>Code: ETL with Python (pandas)</vt:lpstr>
      <vt:lpstr>Code: Sample OLAP Queries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DWDM Lab Project Template</dc:title>
  <dc:subject>PptxGenJS Presentation</dc:subject>
  <dc:creator>PptxGenJS</dc:creator>
  <cp:lastModifiedBy>adrija bhattacharya</cp:lastModifiedBy>
  <cp:revision>2</cp:revision>
  <dcterms:created xsi:type="dcterms:W3CDTF">2026-10-05T17:32:32Z</dcterms:created>
  <dcterms:modified xsi:type="dcterms:W3CDTF">2026-10-05T17:33:34Z</dcterms:modified>
</cp:coreProperties>
</file>